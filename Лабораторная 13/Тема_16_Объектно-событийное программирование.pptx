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61"/>
  </p:notesMasterIdLst>
  <p:sldIdLst>
    <p:sldId id="256" r:id="rId4"/>
    <p:sldId id="257" r:id="rId5"/>
    <p:sldId id="258" r:id="rId6"/>
    <p:sldId id="259" r:id="rId7"/>
    <p:sldId id="322" r:id="rId8"/>
    <p:sldId id="260" r:id="rId9"/>
    <p:sldId id="261" r:id="rId10"/>
    <p:sldId id="262" r:id="rId11"/>
    <p:sldId id="266" r:id="rId12"/>
    <p:sldId id="267" r:id="rId13"/>
    <p:sldId id="263" r:id="rId14"/>
    <p:sldId id="264" r:id="rId15"/>
    <p:sldId id="265" r:id="rId16"/>
    <p:sldId id="317" r:id="rId17"/>
    <p:sldId id="272" r:id="rId18"/>
    <p:sldId id="271" r:id="rId19"/>
    <p:sldId id="273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318" r:id="rId32"/>
    <p:sldId id="288" r:id="rId33"/>
    <p:sldId id="287" r:id="rId34"/>
    <p:sldId id="289" r:id="rId35"/>
    <p:sldId id="290" r:id="rId36"/>
    <p:sldId id="291" r:id="rId37"/>
    <p:sldId id="292" r:id="rId38"/>
    <p:sldId id="294" r:id="rId39"/>
    <p:sldId id="295" r:id="rId40"/>
    <p:sldId id="296" r:id="rId41"/>
    <p:sldId id="299" r:id="rId42"/>
    <p:sldId id="300" r:id="rId43"/>
    <p:sldId id="301" r:id="rId44"/>
    <p:sldId id="302" r:id="rId45"/>
    <p:sldId id="323" r:id="rId46"/>
    <p:sldId id="303" r:id="rId47"/>
    <p:sldId id="304" r:id="rId48"/>
    <p:sldId id="305" r:id="rId49"/>
    <p:sldId id="306" r:id="rId50"/>
    <p:sldId id="308" r:id="rId51"/>
    <p:sldId id="309" r:id="rId52"/>
    <p:sldId id="311" r:id="rId53"/>
    <p:sldId id="312" r:id="rId54"/>
    <p:sldId id="310" r:id="rId55"/>
    <p:sldId id="324" r:id="rId56"/>
    <p:sldId id="313" r:id="rId57"/>
    <p:sldId id="314" r:id="rId58"/>
    <p:sldId id="315" r:id="rId59"/>
    <p:sldId id="316" r:id="rId6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7843" autoAdjust="0"/>
  </p:normalViewPr>
  <p:slideViewPr>
    <p:cSldViewPr snapToGrid="0">
      <p:cViewPr varScale="1">
        <p:scale>
          <a:sx n="108" d="100"/>
          <a:sy n="108" d="100"/>
        </p:scale>
        <p:origin x="332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microsoft.com/office/2016/11/relationships/changesInfo" Target="changesInfos/changesInfo1.xml"/><Relationship Id="rId5" Type="http://schemas.openxmlformats.org/officeDocument/2006/relationships/slide" Target="slides/slide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ga Vikenteva" userId="8d6471a35df9b40c" providerId="LiveId" clId="{BF6C77CC-089F-4916-A5A9-F420E29938FB}"/>
    <pc:docChg chg="modSld">
      <pc:chgData name="Olga Vikenteva" userId="8d6471a35df9b40c" providerId="LiveId" clId="{BF6C77CC-089F-4916-A5A9-F420E29938FB}" dt="2025-02-21T12:34:57.790" v="48" actId="20577"/>
      <pc:docMkLst>
        <pc:docMk/>
      </pc:docMkLst>
      <pc:sldChg chg="modSp mod">
        <pc:chgData name="Olga Vikenteva" userId="8d6471a35df9b40c" providerId="LiveId" clId="{BF6C77CC-089F-4916-A5A9-F420E29938FB}" dt="2025-02-21T12:34:57.790" v="48" actId="20577"/>
        <pc:sldMkLst>
          <pc:docMk/>
          <pc:sldMk cId="0" sldId="300"/>
        </pc:sldMkLst>
        <pc:spChg chg="mod">
          <ac:chgData name="Olga Vikenteva" userId="8d6471a35df9b40c" providerId="LiveId" clId="{BF6C77CC-089F-4916-A5A9-F420E29938FB}" dt="2025-02-21T12:34:57.790" v="48" actId="20577"/>
          <ac:spMkLst>
            <pc:docMk/>
            <pc:sldMk cId="0" sldId="300"/>
            <ac:spMk id="26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перемещения страницы щёлкните мышью</a:t>
            </a: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2000" b="0" strike="noStrike" spc="-1">
                <a:latin typeface="Arial"/>
              </a:rPr>
              <a:t>Для правки формата примечаний щёлкните мышью</a:t>
            </a:r>
          </a:p>
        </p:txBody>
      </p:sp>
      <p:sp>
        <p:nvSpPr>
          <p:cNvPr id="11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&lt;верхний колонтитул&gt;</a:t>
            </a:r>
          </a:p>
        </p:txBody>
      </p:sp>
      <p:sp>
        <p:nvSpPr>
          <p:cNvPr id="118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ru-RU" sz="1400" b="0" strike="noStrike" spc="-1">
                <a:latin typeface="Times New Roman"/>
              </a:rPr>
              <a:t>&lt;дата/время&gt;</a:t>
            </a:r>
          </a:p>
        </p:txBody>
      </p:sp>
      <p:sp>
        <p:nvSpPr>
          <p:cNvPr id="119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ru-RU" sz="1400" b="0" strike="noStrike" spc="-1">
                <a:latin typeface="Times New Roman"/>
              </a:rPr>
              <a:t>&lt;нижний колонтитул&gt;</a:t>
            </a:r>
          </a:p>
        </p:txBody>
      </p:sp>
      <p:sp>
        <p:nvSpPr>
          <p:cNvPr id="120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95DE8117-253B-4880-8DFF-B491E95496E4}" type="slidenum">
              <a:rPr lang="ru-RU" sz="1400" b="0" strike="noStrike" spc="-1">
                <a:latin typeface="Times New Roman"/>
              </a:rPr>
              <a:t>‹#›</a:t>
            </a:fld>
            <a:endParaRPr lang="ru-RU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62845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Абстракция.</a:t>
            </a:r>
          </a:p>
          <a:p>
            <a:r>
              <a:rPr lang="ru-RU" dirty="0"/>
              <a:t>Чем выше уровень абстракции, тем проще что-то менять в программе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5320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ru-RU" sz="2000" b="0" strike="noStrike" spc="-1">
                <a:latin typeface="Arial"/>
              </a:rPr>
              <a:t>Можно сделать статические методы</a:t>
            </a:r>
          </a:p>
        </p:txBody>
      </p:sp>
      <p:sp>
        <p:nvSpPr>
          <p:cNvPr id="305" name="Номер слайда 3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1AF297F9-27F1-4636-B6F1-065C54C4E839}" type="slidenum">
              <a:rPr lang="ru-RU" sz="1200" b="0" strike="noStrike" spc="-1">
                <a:solidFill>
                  <a:srgbClr val="000000"/>
                </a:solidFill>
                <a:latin typeface="+mn-lt"/>
                <a:ea typeface="+mn-ea"/>
              </a:rPr>
              <a:t>12</a:t>
            </a:fld>
            <a:endParaRPr lang="ru-RU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6600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Определения говорят о том, как использовать событие: чтобы сообщить о том, что что –то произошло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15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83064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Определения говорят о том, как использовать событие: чтобы сообщить о том, что что –то произошло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16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74885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ru-RU" sz="2000" b="0" strike="noStrike" spc="-1" dirty="0">
                <a:latin typeface="Arial"/>
              </a:rPr>
              <a:t>Есть делегат для именованных методов (</a:t>
            </a:r>
            <a:r>
              <a:rPr lang="en-US" sz="2000" b="0" strike="noStrike" spc="-1" dirty="0" err="1">
                <a:latin typeface="Arial"/>
              </a:rPr>
              <a:t>msdn</a:t>
            </a:r>
            <a:r>
              <a:rPr lang="en-US" sz="2000" b="0" strike="noStrike" spc="-1" dirty="0">
                <a:latin typeface="Arial"/>
              </a:rPr>
              <a:t>)</a:t>
            </a:r>
            <a:endParaRPr lang="ru-RU" sz="2000" b="0" strike="noStrike" spc="-1" dirty="0">
              <a:latin typeface="Arial"/>
            </a:endParaRPr>
          </a:p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endParaRPr lang="ru-RU" sz="2000" b="0" strike="noStrike" spc="-1" dirty="0">
              <a:latin typeface="Arial"/>
            </a:endParaRPr>
          </a:p>
        </p:txBody>
      </p:sp>
      <p:sp>
        <p:nvSpPr>
          <p:cNvPr id="308" name="Номер слайда 3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23B464CF-F78F-4779-848C-77EED764AD7C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17</a:t>
            </a:fld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20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1494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29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1036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Конвертик для упаковки информации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32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32953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35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053549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подписка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36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05319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ru-RU" sz="2000" b="0" strike="noStrike" spc="-1" dirty="0">
                <a:latin typeface="Arial"/>
              </a:rPr>
              <a:t>Сложный способ</a:t>
            </a:r>
          </a:p>
        </p:txBody>
      </p:sp>
      <p:sp>
        <p:nvSpPr>
          <p:cNvPr id="313" name="Номер слайда 3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C1E1FB6E-DE0F-48A0-BFB1-EB2F7A0A3CE3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44</a:t>
            </a:fld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280">
              <a:lnSpc>
                <a:spcPct val="100000"/>
              </a:lnSpc>
              <a:tabLst>
                <a:tab pos="0" algn="l"/>
              </a:tabLst>
            </a:pPr>
            <a:r>
              <a:rPr lang="ru-RU" sz="2000" b="0" strike="noStrike" spc="-1">
                <a:latin typeface="Arial"/>
              </a:rPr>
              <a:t>упрощаем</a:t>
            </a:r>
          </a:p>
        </p:txBody>
      </p:sp>
      <p:sp>
        <p:nvSpPr>
          <p:cNvPr id="316" name="Номер слайда 3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E78E9FF4-49C9-45E7-9AC2-55CC15149053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45</a:t>
            </a:fld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0413" cy="3427413"/>
          </a:xfrm>
          <a:prstGeom prst="rect">
            <a:avLst/>
          </a:prstGeom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5640">
              <a:lnSpc>
                <a:spcPct val="100000"/>
              </a:lnSpc>
              <a:tabLst>
                <a:tab pos="0" algn="l"/>
              </a:tabLst>
            </a:pPr>
            <a:r>
              <a:rPr lang="ru-RU" sz="2000" b="0" strike="noStrike" spc="-1">
                <a:latin typeface="Arial"/>
              </a:rPr>
              <a:t>Еще упрощаем</a:t>
            </a:r>
          </a:p>
          <a:p>
            <a:pPr marL="216000" indent="-215640">
              <a:lnSpc>
                <a:spcPct val="100000"/>
              </a:lnSpc>
              <a:tabLst>
                <a:tab pos="0" algn="l"/>
              </a:tabLst>
            </a:pPr>
            <a:r>
              <a:rPr lang="ru-RU" sz="2000" b="0" strike="noStrike" spc="-1">
                <a:latin typeface="Arial"/>
              </a:rPr>
              <a:t>Использование анонимного метода с возвращаемым типом и параметрами, соответствующими возвращаемому типу и параметрам делегата, который требуется для подписываемого события.</a:t>
            </a:r>
          </a:p>
          <a:p>
            <a:pPr marL="216000" indent="-215640">
              <a:lnSpc>
                <a:spcPct val="100000"/>
              </a:lnSpc>
              <a:tabLst>
                <a:tab pos="0" algn="l"/>
              </a:tabLst>
            </a:pPr>
            <a:r>
              <a:rPr lang="ru-RU" sz="2000" b="0" strike="noStrike" spc="-1">
                <a:latin typeface="Arial"/>
              </a:rPr>
              <a:t>Лямбда-выражения можно использовать для упрощения синтаксиса анонимных методов.</a:t>
            </a:r>
          </a:p>
          <a:p>
            <a:pPr marL="216000" indent="-215640">
              <a:lnSpc>
                <a:spcPct val="100000"/>
              </a:lnSpc>
              <a:tabLst>
                <a:tab pos="0" algn="l"/>
              </a:tabLst>
            </a:pPr>
            <a:endParaRPr lang="ru-RU" sz="20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  <a:tabLst>
                <a:tab pos="0" algn="l"/>
              </a:tabLst>
            </a:pPr>
            <a:endParaRPr lang="ru-RU" sz="2000" b="0" strike="noStrike" spc="-1">
              <a:latin typeface="Arial"/>
            </a:endParaRPr>
          </a:p>
        </p:txBody>
      </p:sp>
      <p:sp>
        <p:nvSpPr>
          <p:cNvPr id="319" name="Номер слайда 3"/>
          <p:cNvSpPr/>
          <p:nvPr/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3223A970-E1CB-4FBC-8BD6-30F87189EF9D}" type="slidenum">
              <a:rPr lang="ru-RU" sz="1200" b="0" strike="noStrike" spc="-1">
                <a:solidFill>
                  <a:srgbClr val="000000"/>
                </a:solidFill>
                <a:latin typeface="Times New Roman"/>
              </a:rPr>
              <a:t>46</a:t>
            </a:fld>
            <a:endParaRPr lang="ru-RU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95DE8117-253B-4880-8DFF-B491E95496E4}" type="slidenum">
              <a:rPr lang="ru-RU" sz="1400" b="0" strike="noStrike" spc="-1" smtClean="0">
                <a:latin typeface="Times New Roman"/>
              </a:rPr>
              <a:t>57</a:t>
            </a:fld>
            <a:endParaRPr lang="ru-RU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3123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355760"/>
            <a:ext cx="960840" cy="5013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960840" cy="4524840"/>
          </a:xfrm>
          <a:prstGeom prst="rect">
            <a:avLst/>
          </a:prstGeom>
        </p:spPr>
        <p:txBody>
          <a:bodyPr lIns="0" tIns="0" rIns="0" bIns="0">
            <a:normAutofit fontScale="37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20680"/>
            <a:ext cx="8228520" cy="579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94968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96396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94968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78228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110736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5720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78228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110736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457200" y="1355760"/>
            <a:ext cx="960840" cy="5013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960840" cy="4524840"/>
          </a:xfrm>
          <a:prstGeom prst="rect">
            <a:avLst/>
          </a:prstGeom>
        </p:spPr>
        <p:txBody>
          <a:bodyPr lIns="0" tIns="0" rIns="0" bIns="0">
            <a:normAutofit fontScale="37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457200" y="220680"/>
            <a:ext cx="8228520" cy="579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94968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57200" y="396396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94968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78228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110736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45720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78228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110736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457200" y="1355760"/>
            <a:ext cx="960840" cy="5013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960840" cy="4524840"/>
          </a:xfrm>
          <a:prstGeom prst="rect">
            <a:avLst/>
          </a:prstGeom>
        </p:spPr>
        <p:txBody>
          <a:bodyPr lIns="0" tIns="0" rIns="0" bIns="0">
            <a:normAutofit fontScale="37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ubTitle"/>
          </p:nvPr>
        </p:nvSpPr>
        <p:spPr>
          <a:xfrm>
            <a:off x="457200" y="220680"/>
            <a:ext cx="8228520" cy="579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4524840"/>
          </a:xfrm>
          <a:prstGeom prst="rect">
            <a:avLst/>
          </a:prstGeom>
        </p:spPr>
        <p:txBody>
          <a:bodyPr lIns="0" tIns="0" rIns="0" bIns="0">
            <a:normAutofit fontScale="1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5" name="PlaceHolder 4"/>
          <p:cNvSpPr>
            <a:spLocks noGrp="1"/>
          </p:cNvSpPr>
          <p:nvPr>
            <p:ph type="body"/>
          </p:nvPr>
        </p:nvSpPr>
        <p:spPr>
          <a:xfrm>
            <a:off x="94968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57200" y="3963960"/>
            <a:ext cx="960840" cy="2158200"/>
          </a:xfrm>
          <a:prstGeom prst="rect">
            <a:avLst/>
          </a:prstGeom>
        </p:spPr>
        <p:txBody>
          <a:bodyPr lIns="0" tIns="0" rIns="0" bIns="0">
            <a:normAutofit fontScale="12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949680" y="160020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45720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949680" y="3963960"/>
            <a:ext cx="46872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50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78228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1107360" y="160020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body"/>
          </p:nvPr>
        </p:nvSpPr>
        <p:spPr>
          <a:xfrm>
            <a:off x="45720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3" name="PlaceHolder 6"/>
          <p:cNvSpPr>
            <a:spLocks noGrp="1"/>
          </p:cNvSpPr>
          <p:nvPr>
            <p:ph type="body"/>
          </p:nvPr>
        </p:nvSpPr>
        <p:spPr>
          <a:xfrm>
            <a:off x="78228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  <p:sp>
        <p:nvSpPr>
          <p:cNvPr id="114" name="PlaceHolder 7"/>
          <p:cNvSpPr>
            <a:spLocks noGrp="1"/>
          </p:cNvSpPr>
          <p:nvPr>
            <p:ph type="body"/>
          </p:nvPr>
        </p:nvSpPr>
        <p:spPr>
          <a:xfrm>
            <a:off x="1107360" y="3963960"/>
            <a:ext cx="309240" cy="2158200"/>
          </a:xfrm>
          <a:prstGeom prst="rect">
            <a:avLst/>
          </a:prstGeom>
        </p:spPr>
        <p:txBody>
          <a:bodyPr lIns="0" tIns="0" rIns="0" bIns="0">
            <a:normAutofit fontScale="4000"/>
          </a:bodyPr>
          <a:lstStyle/>
          <a:p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49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18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1969560" cy="4524840"/>
          </a:xfrm>
          <a:prstGeom prst="rect">
            <a:avLst/>
          </a:prstGeom>
        </p:spPr>
        <p:txBody>
          <a:bodyPr lIns="0" tIns="0" rIns="0" bIns="0">
            <a:normAutofit fontScale="5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ru-RU" sz="44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12499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ru-RU" sz="1800" b="0" strike="noStrike" spc="-1">
                <a:latin typeface="Arial"/>
              </a:rPr>
              <a:t>Для правки текста заглавия щёлкните мышью</a:t>
            </a: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960840" cy="4524840"/>
          </a:xfrm>
          <a:prstGeom prst="rect">
            <a:avLst/>
          </a:prstGeom>
        </p:spPr>
        <p:txBody>
          <a:bodyPr lIns="0" tIns="0" rIns="0" bIns="0">
            <a:normAutofit fontScale="3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Седьмой уровень структуры</a:t>
            </a: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1467000" y="1600200"/>
            <a:ext cx="960840" cy="4524840"/>
          </a:xfrm>
          <a:prstGeom prst="rect">
            <a:avLst/>
          </a:prstGeom>
        </p:spPr>
        <p:txBody>
          <a:bodyPr lIns="0" tIns="0" rIns="0" bIns="0">
            <a:normAutofit fontScale="3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Для правки структуры щёлкните мышью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latin typeface="Arial"/>
              </a:rPr>
              <a:t>Второй уровень структуры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Третий уровень структуры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strike="noStrike" spc="-1">
                <a:latin typeface="Arial"/>
              </a:rPr>
              <a:t>Четвёртый уровень структуры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Пятый уровень структуры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Шестой уровень структуры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strike="noStrike" spc="-1">
                <a:latin typeface="Arial"/>
              </a:rPr>
              <a:t>Седьмой уровень структуры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&#1057;&#1086;&#1073;&#1099;&#1090;&#1080;&#1077;_(&#1086;&#1073;&#1098;&#1077;&#1082;&#1090;&#1085;&#1086;-&#1086;&#1088;&#1080;&#1077;&#1085;&#1090;&#1080;&#1088;&#1086;&#1074;&#1072;&#1085;&#1085;&#1086;&#1077;_&#1087;&#1088;&#1086;&#1075;&#1088;&#1072;&#1084;&#1084;&#1080;&#1088;&#1086;&#1074;&#1072;&#1085;&#1080;&#1077;)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tutorial/3.14.php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docs.microsoft.com/ru-ru/dotnet/standard/events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post/213809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Заголовок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Объектно-событийное программирование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22" name="Подзаголовок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8B8B8B"/>
                </a:solidFill>
                <a:latin typeface="Calibri"/>
                <a:ea typeface="DejaVu Sans"/>
              </a:rPr>
              <a:t>Тема 16</a:t>
            </a: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Делегаты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24" name="Объект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Делегат (</a:t>
            </a:r>
            <a:r>
              <a:rPr lang="ru-RU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delegate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— это класс, который позволяет хранить ссылки на функции. 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tabLst>
                <a:tab pos="0" algn="l"/>
              </a:tabLst>
            </a:pPr>
            <a:r>
              <a:rPr lang="ru-RU" sz="3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[спецификаторы ] </a:t>
            </a:r>
            <a:r>
              <a:rPr lang="ru-RU" sz="30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delegate</a:t>
            </a:r>
            <a:r>
              <a:rPr lang="ru-RU" sz="3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тип </a:t>
            </a:r>
            <a:r>
              <a:rPr lang="ru-RU" sz="30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имя_делегата</a:t>
            </a:r>
            <a:r>
              <a:rPr lang="ru-RU" sz="3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( [ параметры ] )</a:t>
            </a:r>
            <a:endParaRPr lang="ru-RU" sz="30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0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Спецификаторы:</a:t>
            </a:r>
            <a:endParaRPr lang="ru-RU" sz="30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new</a:t>
            </a:r>
            <a:r>
              <a:rPr lang="ru-RU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endParaRPr lang="ru-RU" sz="26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public</a:t>
            </a:r>
            <a:r>
              <a:rPr lang="ru-RU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endParaRPr lang="ru-RU" sz="26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protected</a:t>
            </a:r>
            <a:r>
              <a:rPr lang="ru-RU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endParaRPr lang="ru-RU" sz="26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ru-RU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nternal</a:t>
            </a:r>
            <a:r>
              <a:rPr lang="ru-RU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endParaRPr lang="ru-RU" sz="26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519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ru-RU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private</a:t>
            </a:r>
            <a:r>
              <a:rPr lang="ru-RU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60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600" b="0" strike="noStrike" spc="-1" dirty="0">
              <a:latin typeface="Arial"/>
            </a:endParaRPr>
          </a:p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ru-RU" sz="2600" b="0" strike="noStrike" spc="-1" dirty="0">
              <a:latin typeface="Arial"/>
            </a:endParaRPr>
          </a:p>
        </p:txBody>
      </p:sp>
      <p:sp>
        <p:nvSpPr>
          <p:cNvPr id="125" name="Прямоугольник 3"/>
          <p:cNvSpPr/>
          <p:nvPr/>
        </p:nvSpPr>
        <p:spPr>
          <a:xfrm>
            <a:off x="837200" y="6000840"/>
            <a:ext cx="7724520" cy="582480"/>
          </a:xfrm>
          <a:prstGeom prst="rect">
            <a:avLst/>
          </a:prstGeom>
          <a:solidFill>
            <a:srgbClr val="FFFFFF"/>
          </a:solidFill>
          <a:ln>
            <a:solidFill>
              <a:srgbClr val="F79646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ru-RU" sz="3200" b="1" strike="noStrike" spc="-1" dirty="0">
              <a:solidFill>
                <a:srgbClr val="E46C0A"/>
              </a:solidFill>
              <a:latin typeface="Calibri"/>
              <a:ea typeface="DejaVu Sans"/>
            </a:endParaRPr>
          </a:p>
          <a:p>
            <a:pPr algn="ctr"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E46C0A"/>
                </a:solidFill>
                <a:latin typeface="Calibri"/>
                <a:ea typeface="DejaVu Sans"/>
              </a:rPr>
              <a:t>public delegate int Handler ( int </a:t>
            </a:r>
            <a:r>
              <a:rPr lang="en-US" sz="3200" b="1" strike="noStrike" spc="-1" dirty="0" err="1">
                <a:solidFill>
                  <a:srgbClr val="E46C0A"/>
                </a:solidFill>
                <a:latin typeface="Calibri"/>
                <a:ea typeface="DejaVu Sans"/>
              </a:rPr>
              <a:t>i</a:t>
            </a:r>
            <a:r>
              <a:rPr lang="en-US" sz="3200" b="1" strike="noStrike" spc="-1" dirty="0">
                <a:solidFill>
                  <a:srgbClr val="E46C0A"/>
                </a:solidFill>
                <a:latin typeface="Calibri"/>
                <a:ea typeface="DejaVu Sans"/>
              </a:rPr>
              <a:t> );</a:t>
            </a:r>
            <a:endParaRPr lang="ru-RU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ru-RU" sz="3200" b="0" strike="noStrike" spc="-1" dirty="0">
              <a:latin typeface="Arial"/>
            </a:endParaRPr>
          </a:p>
        </p:txBody>
      </p:sp>
      <p:sp>
        <p:nvSpPr>
          <p:cNvPr id="126" name="Облачко с текстом: прямоугольное 4"/>
          <p:cNvSpPr/>
          <p:nvPr/>
        </p:nvSpPr>
        <p:spPr>
          <a:xfrm>
            <a:off x="4973040" y="5057280"/>
            <a:ext cx="1389240" cy="484200"/>
          </a:xfrm>
          <a:prstGeom prst="wedgeRectCallout">
            <a:avLst>
              <a:gd name="adj1" fmla="val -64457"/>
              <a:gd name="adj2" fmla="val 141346"/>
            </a:avLst>
          </a:prstGeom>
          <a:solidFill>
            <a:srgbClr val="FFFFFF"/>
          </a:solidFill>
          <a:ln>
            <a:solidFill>
              <a:srgbClr val="F79646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Тип функции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27" name="Облачко с текстом: прямоугольное 5"/>
          <p:cNvSpPr/>
          <p:nvPr/>
        </p:nvSpPr>
        <p:spPr>
          <a:xfrm>
            <a:off x="7296480" y="5076000"/>
            <a:ext cx="1389240" cy="484200"/>
          </a:xfrm>
          <a:prstGeom prst="wedgeRectCallout">
            <a:avLst>
              <a:gd name="adj1" fmla="val -64457"/>
              <a:gd name="adj2" fmla="val 141346"/>
            </a:avLst>
          </a:prstGeom>
          <a:solidFill>
            <a:srgbClr val="FFFFFF"/>
          </a:solidFill>
          <a:ln>
            <a:solidFill>
              <a:srgbClr val="F79646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Параметрыфункции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Делегаты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29" name="Объект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75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После определения делегата можно объявлять переменную с типом этого делегата:</a:t>
            </a:r>
            <a:endParaRPr lang="ru-RU" sz="3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Далее этой переменной можно присвоить ссылку на любую функцию, которая имеет точно такой же возвращаемый тип и список параметров, как и у делегата</a:t>
            </a: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3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ru-RU" sz="30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После этого функцию можно вызывать с использованием переменной делегата так, будто бы это и есть сама функция</a:t>
            </a:r>
            <a:r>
              <a:rPr lang="en-US" sz="3000" b="0" strike="noStrike" spc="-1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lang="ru-RU" sz="3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ru-RU" sz="30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000" b="0" strike="noStrike" spc="-1">
              <a:latin typeface="Arial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984240" y="4173120"/>
            <a:ext cx="7174080" cy="638280"/>
          </a:xfrm>
          <a:prstGeom prst="rect">
            <a:avLst/>
          </a:prstGeom>
          <a:noFill/>
          <a:ln w="38100">
            <a:solidFill>
              <a:srgbClr val="E46C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int func(int x){return x+5;}</a:t>
            </a:r>
            <a:endParaRPr lang="ru-RU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h=func;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900000" y="2340000"/>
            <a:ext cx="7174080" cy="363960"/>
          </a:xfrm>
          <a:prstGeom prst="rect">
            <a:avLst/>
          </a:prstGeom>
          <a:noFill/>
          <a:ln w="38100">
            <a:solidFill>
              <a:srgbClr val="E46C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Handler h;</a:t>
            </a:r>
            <a:endParaRPr lang="ru-RU" sz="1800" b="0" strike="noStrike" spc="-1">
              <a:latin typeface="Arial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984240" y="6126660"/>
            <a:ext cx="7174080" cy="363960"/>
          </a:xfrm>
          <a:prstGeom prst="rect">
            <a:avLst/>
          </a:prstGeom>
          <a:noFill/>
          <a:ln w="38100">
            <a:solidFill>
              <a:srgbClr val="E46C0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Console.WriteLine(h(5));</a:t>
            </a:r>
            <a:endParaRPr lang="ru-RU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Делегаты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34" name="Объект 2"/>
          <p:cNvSpPr/>
          <p:nvPr/>
        </p:nvSpPr>
        <p:spPr>
          <a:xfrm>
            <a:off x="581890" y="1281546"/>
            <a:ext cx="8228520" cy="26947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600" b="0" u="sng" strike="noStrike" spc="-1" dirty="0">
                <a:solidFill>
                  <a:srgbClr val="000000"/>
                </a:solidFill>
                <a:uFillTx/>
                <a:latin typeface="Calibri"/>
                <a:ea typeface="DejaVu Sans"/>
              </a:rPr>
              <a:t>Задача 1: </a:t>
            </a:r>
            <a:r>
              <a:rPr lang="ru-RU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Написать программу, которая в одномерном массиве целых чисел находит:</a:t>
            </a:r>
            <a:endParaRPr lang="ru-RU" sz="36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- количество отрицательных чисел;</a:t>
            </a:r>
            <a:endParaRPr lang="ru-RU" sz="36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- количество положительных чисел;</a:t>
            </a:r>
            <a:endParaRPr lang="ru-RU" sz="36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- минимальный элемент;</a:t>
            </a:r>
            <a:endParaRPr lang="ru-RU" sz="36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- максимальный элемент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Делегаты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34" name="Объект 2"/>
          <p:cNvSpPr/>
          <p:nvPr/>
        </p:nvSpPr>
        <p:spPr>
          <a:xfrm>
            <a:off x="581890" y="1281546"/>
            <a:ext cx="8228520" cy="26947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spc="-1" dirty="0">
                <a:latin typeface="Arial"/>
              </a:rPr>
              <a:t>Перебрать элементы массива, каждый элемент сравнить с 0.</a:t>
            </a:r>
          </a:p>
          <a:p>
            <a:pPr marL="343080" indent="-3420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spc="-1" dirty="0">
                <a:latin typeface="Arial"/>
              </a:rPr>
              <a:t>Перебрать элементы массива, каждый элемент сравнить с 0.</a:t>
            </a:r>
          </a:p>
          <a:p>
            <a:pPr marL="343080" indent="-3420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spc="-1" dirty="0">
                <a:latin typeface="Arial"/>
              </a:rPr>
              <a:t>Перебрать элементы массива, каждый элемент сравнить с минимальным</a:t>
            </a:r>
          </a:p>
          <a:p>
            <a:pPr marL="343080" indent="-3420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spc="-1" dirty="0">
                <a:latin typeface="Arial"/>
              </a:rPr>
              <a:t>Перебрать элементы массива, каждый элемент сравнить с максимальным.</a:t>
            </a:r>
          </a:p>
          <a:p>
            <a:pPr marL="1080">
              <a:spcBef>
                <a:spcPts val="641"/>
              </a:spcBef>
              <a:buClr>
                <a:srgbClr val="000000"/>
              </a:buClr>
            </a:pPr>
            <a:endParaRPr lang="ru-RU" sz="2400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ru-RU" sz="2400" b="0" strike="noStrike" spc="-1" dirty="0">
              <a:latin typeface="Arial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05487323-11DF-4C4F-BAFC-ED9EA4DAB062}"/>
              </a:ext>
            </a:extLst>
          </p:cNvPr>
          <p:cNvGrpSpPr/>
          <p:nvPr/>
        </p:nvGrpSpPr>
        <p:grpSpPr>
          <a:xfrm>
            <a:off x="1440873" y="4798341"/>
            <a:ext cx="7079674" cy="1556225"/>
            <a:chOff x="886691" y="4276539"/>
            <a:chExt cx="7079674" cy="1556225"/>
          </a:xfrm>
        </p:grpSpPr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038F32FA-878A-4DED-895B-605AC1BA991F}"/>
                </a:ext>
              </a:extLst>
            </p:cNvPr>
            <p:cNvSpPr/>
            <p:nvPr/>
          </p:nvSpPr>
          <p:spPr>
            <a:xfrm>
              <a:off x="886691" y="5084618"/>
              <a:ext cx="1011382" cy="7481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674C232A-608F-4676-9D81-541C95DA203E}"/>
                </a:ext>
              </a:extLst>
            </p:cNvPr>
            <p:cNvSpPr/>
            <p:nvPr/>
          </p:nvSpPr>
          <p:spPr>
            <a:xfrm>
              <a:off x="1898073" y="5084618"/>
              <a:ext cx="1011382" cy="7481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4833881-F157-4AFA-B212-A67C102F5E8E}"/>
                </a:ext>
              </a:extLst>
            </p:cNvPr>
            <p:cNvSpPr/>
            <p:nvPr/>
          </p:nvSpPr>
          <p:spPr>
            <a:xfrm>
              <a:off x="2909455" y="5084618"/>
              <a:ext cx="1011382" cy="7481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52850EF-746E-41E0-9D77-0F283A743C2B}"/>
                </a:ext>
              </a:extLst>
            </p:cNvPr>
            <p:cNvSpPr/>
            <p:nvPr/>
          </p:nvSpPr>
          <p:spPr>
            <a:xfrm>
              <a:off x="3920837" y="5084618"/>
              <a:ext cx="1011382" cy="7481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3794F14-3743-4661-BE31-A38055C3DA56}"/>
                </a:ext>
              </a:extLst>
            </p:cNvPr>
            <p:cNvSpPr/>
            <p:nvPr/>
          </p:nvSpPr>
          <p:spPr>
            <a:xfrm>
              <a:off x="4932219" y="5084618"/>
              <a:ext cx="1011382" cy="7481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62CC87E-E2CF-4478-91A7-4349A331D2A7}"/>
                </a:ext>
              </a:extLst>
            </p:cNvPr>
            <p:cNvSpPr/>
            <p:nvPr/>
          </p:nvSpPr>
          <p:spPr>
            <a:xfrm>
              <a:off x="5943601" y="5084618"/>
              <a:ext cx="1011382" cy="7481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7C5536F5-63ED-4A64-8F0E-07A1D7C039C0}"/>
                </a:ext>
              </a:extLst>
            </p:cNvPr>
            <p:cNvSpPr/>
            <p:nvPr/>
          </p:nvSpPr>
          <p:spPr>
            <a:xfrm>
              <a:off x="6954983" y="5084618"/>
              <a:ext cx="1011382" cy="7481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" name="Стрелка: вниз 2">
              <a:extLst>
                <a:ext uri="{FF2B5EF4-FFF2-40B4-BE49-F238E27FC236}">
                  <a16:creationId xmlns:a16="http://schemas.microsoft.com/office/drawing/2014/main" id="{7E7C326F-6154-46BB-9678-1B9AD70F7880}"/>
                </a:ext>
              </a:extLst>
            </p:cNvPr>
            <p:cNvSpPr/>
            <p:nvPr/>
          </p:nvSpPr>
          <p:spPr>
            <a:xfrm>
              <a:off x="1094509" y="4276539"/>
              <a:ext cx="595746" cy="60508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657301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1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36" name="Объект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0500" lnSpcReduction="200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nb-NO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delegate int Handler(int x, int res);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static int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ForEach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(int[]mas, int res, Handler h)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for(int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=0;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&lt;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mas.Length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++)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{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pt-BR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    res = h(mas[i], res);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}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return res;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1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38" name="Объект 2"/>
          <p:cNvSpPr/>
          <p:nvPr/>
        </p:nvSpPr>
        <p:spPr>
          <a:xfrm>
            <a:off x="121320" y="1600200"/>
            <a:ext cx="455220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0500" lnSpcReduction="10000"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static int CountNeg(int x, int count)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if (x &lt; 0) count++;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return count;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static int CountPos(int x, int count)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if (x &gt;= 0) count++;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return count;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139" name="Объект 3"/>
          <p:cNvSpPr/>
          <p:nvPr/>
        </p:nvSpPr>
        <p:spPr>
          <a:xfrm>
            <a:off x="50029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9500" lnSpcReduction="20000"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sv-SE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static int Min(int x, int m)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if (x &lt; m) return x;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else return m;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static int Max(int x, int m)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if (x &gt; m) return x;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else return m;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1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41" name="Объект 4"/>
          <p:cNvSpPr/>
          <p:nvPr/>
        </p:nvSpPr>
        <p:spPr>
          <a:xfrm>
            <a:off x="121320" y="1600200"/>
            <a:ext cx="88351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0000" lnSpcReduction="200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static void Main(string[] args)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pt-BR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int[] mas = { 1, -2, 3, -4, -5, 6, 7, -8, 9, 0 };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int res = 0;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($"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Количество отрицательных:{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ForEach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(mas, res,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CountNeg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)}");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($"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Количество положительных:{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ForEach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(mas, res,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CountPos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)}");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($"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Минимальный:{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ForEach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(mas, res, Min)}");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($"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Максимальный:{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ForEach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(mas, res, Max)}");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00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Поддержка многоадресатной передачи (multicasting)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47" name="Объект 2"/>
          <p:cNvSpPr/>
          <p:nvPr/>
        </p:nvSpPr>
        <p:spPr>
          <a:xfrm>
            <a:off x="457200" y="1600200"/>
            <a:ext cx="8228520" cy="506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680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Многоадресатная передача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— это способность создавать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список (цепочку) вызовов  методов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которые должны автоматически вызываться при вызове делегата. 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пространстве имен System определены два класса: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Delegate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и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MulticastDelegate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При определении делегата в качестве базового компилятором назначается один из этих классов в зависимости от типа возвращаемого значения: для типа void базовым является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MulticastDelegate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для остальных типов –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Delegate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Существенным отличием этих двух типов делегатов является возможность сохранения в одном делегате типа MulticastDelegate указателей сразу на несколько функций. Эти указатели хранятся в виде списка, который называют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списком вызова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. При обращении к такому делегату функции будут выполняться по очереди в порядке их помещения в список вызова. 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00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Поддержка многоадресатной передачи (multicasting)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49" name="Объект 2"/>
          <p:cNvSpPr/>
          <p:nvPr/>
        </p:nvSpPr>
        <p:spPr>
          <a:xfrm>
            <a:off x="457200" y="1600200"/>
            <a:ext cx="8228520" cy="514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10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Добавить функцию в список вызова можно с помощью статического метода 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Combine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(), который сцепляет списки вызовов или массивы делегатов (метод получает в качестве параметра массив делегатов), или двух делегатов (метод получает в качестве параметров два делегата): 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Delegate Combine(Delegate[]); 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Delegate Combine(Delegate, Delegate); 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Также для этих целей можно использовать перегруженную операцию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"+="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 Второй операнд операции представляет собой делегат или функцию, которая добавляется в список вызова исходного делегата. 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Обратную операцию – удаление метода из списка вызова выполняют статический метод </a:t>
            </a:r>
            <a:r>
              <a:rPr lang="ru-RU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() 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 операция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"-="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Delegate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Remove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ru-RU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Delegate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ru-RU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Delegate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); 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Удаляется последнее вхождение метода или списка вызовов делегата из списка вызовов другого делегата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Делегаты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43" name="Объект 4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u="sng" strike="noStrike" spc="-1">
                <a:solidFill>
                  <a:srgbClr val="000000"/>
                </a:solidFill>
                <a:uFillTx/>
                <a:latin typeface="Calibri"/>
                <a:ea typeface="DejaVu Sans"/>
              </a:rPr>
              <a:t>Задача 2: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Написать программу для модификации строки ( удаление пробелов, замена пробелов дефисами, переворот строки).</a:t>
            </a:r>
            <a:endParaRPr lang="ru-RU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6395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Объект 2"/>
          <p:cNvSpPr/>
          <p:nvPr/>
        </p:nvSpPr>
        <p:spPr>
          <a:xfrm>
            <a:off x="457200" y="260640"/>
            <a:ext cx="4114800" cy="64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Delegate void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strMod</a:t>
            </a:r>
            <a:r>
              <a:rPr lang="en-US" sz="1600" b="1" strike="noStrike" spc="-1">
                <a:solidFill>
                  <a:srgbClr val="000000"/>
                </a:solidFill>
                <a:latin typeface="Calibri"/>
                <a:ea typeface="DejaVu Sans"/>
              </a:rPr>
              <a:t>( ref string </a:t>
            </a:r>
            <a:r>
              <a:rPr lang="en-US" sz="16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stx</a:t>
            </a:r>
            <a:r>
              <a:rPr lang="en-US" sz="16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class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ModifyString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{</a:t>
            </a:r>
            <a:endParaRPr lang="ru-RU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public void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RepaceSpaces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(ref string str)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("</a:t>
            </a:r>
            <a:r>
              <a:rPr lang="ru-RU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Замена пробелов на тире");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ru-RU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str=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str.Replace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(' ', '-');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en-US" sz="16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public void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RemoveSpaces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(ref string str)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("</a:t>
            </a:r>
            <a:r>
              <a:rPr lang="ru-RU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Удаление  пробелов");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ru-RU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string temp = "";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foreach (char x in str)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    if (x != ' ') temp += x;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str = temp;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ru-RU" sz="1600" b="0" strike="noStrike" spc="-1" dirty="0">
              <a:latin typeface="Arial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4D6BBC-8269-44D3-923C-0FCD21CEE866}"/>
              </a:ext>
            </a:extLst>
          </p:cNvPr>
          <p:cNvSpPr/>
          <p:nvPr/>
        </p:nvSpPr>
        <p:spPr>
          <a:xfrm>
            <a:off x="5334000" y="189180"/>
            <a:ext cx="3613150" cy="64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public void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ReverseString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(ref string str)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("</a:t>
            </a:r>
            <a:r>
              <a:rPr lang="ru-RU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Переворот строки");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ru-RU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char[]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tempArr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str.ToCharArray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();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Array.Reverse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tempArr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str = new string(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tempArr</a:t>
            </a: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16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r>
              <a:rPr lang="en-US" sz="1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16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16287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Объект 2"/>
          <p:cNvSpPr/>
          <p:nvPr/>
        </p:nvSpPr>
        <p:spPr>
          <a:xfrm>
            <a:off x="457200" y="188640"/>
            <a:ext cx="8578850" cy="6407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 lnSpcReduction="200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static void Main(string[] args)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{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ModifyString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=new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ModifyString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();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string str = 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 траве сидел кузнечик!";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strMod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sm1 =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ms.RemoveSpaces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sm1 +=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ms.ReverseString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sm1(ref str);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(str);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sm1 -=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ms.RemoveSpaces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sm1 +=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ms.RepaceSpaces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str = "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 траве сидел кузнечик!";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sm1(ref str);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(str);</a:t>
            </a:r>
            <a:endParaRPr lang="ru-RU" sz="32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3200" b="0" strike="noStrike" spc="-1" dirty="0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810EB8-F91C-4F82-9331-DAE65FCEC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680" y="4304594"/>
            <a:ext cx="5845047" cy="229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667AC-BE07-4A0E-8A8D-D6423A434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метода </a:t>
            </a:r>
            <a:r>
              <a:rPr lang="en-US" dirty="0"/>
              <a:t>Invoke</a:t>
            </a:r>
            <a:r>
              <a:rPr lang="ru-RU" dirty="0"/>
              <a:t>()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56BC487-AF20-4DAF-9726-591D80DAB2A7}"/>
              </a:ext>
            </a:extLst>
          </p:cNvPr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lang="ru-RU" sz="3200" b="0" strike="noStrike" spc="-1" dirty="0">
              <a:latin typeface="Arial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EB8DA88-0A34-4C9D-921C-AB99323B9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1936482"/>
            <a:ext cx="6680199" cy="294583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1F530D4-275D-4D0A-8022-970EDED5C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48" y="4699665"/>
            <a:ext cx="5570703" cy="155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0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События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59" name="Объект 2"/>
          <p:cNvSpPr/>
          <p:nvPr/>
        </p:nvSpPr>
        <p:spPr>
          <a:xfrm>
            <a:off x="231480" y="159516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56000" lnSpcReduction="20000"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Событие (объектно-ориентированное программирование) — Википедия (wikipedia.org)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Событие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 в объектно-ориентированном программировании — это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сообщение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которое возникает в различных точках исполняемого кода при выполнении определённых условий.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События предназначены для того, чтобы иметь возможность предусмотреть реакцию программного обеспечения.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Для решения поставленной задачи создаются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обработчики событий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: как только программа попадает в заданное состояние, происходит событие, посылается сообщение, а обработчик перехватывает это сообщение. 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 общем случае в обработчик не передаётся ничего, либо передаётся ссылка на объект, инициировавший (породивший) обрабатываемое событие. В особых случаях в обработчик передаются значения некоторых переменных или ссылки на какие-то другие объекты, чтобы обработка данного события могла учесть контекст возникновения события.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События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57" name="Объект 2"/>
          <p:cNvSpPr/>
          <p:nvPr/>
        </p:nvSpPr>
        <p:spPr>
          <a:xfrm>
            <a:off x="457200" y="1600200"/>
            <a:ext cx="8228520" cy="49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63500" lnSpcReduction="20000"/>
          </a:bodyPr>
          <a:lstStyle/>
          <a:p>
            <a:pPr marL="343080" indent="-342000" algn="ctr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C# </a:t>
            </a:r>
            <a:r>
              <a:rPr lang="ru-RU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и .</a:t>
            </a:r>
            <a:r>
              <a:rPr lang="en-US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NET | </a:t>
            </a:r>
            <a:r>
              <a:rPr lang="ru-RU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События (</a:t>
            </a:r>
            <a:r>
              <a:rPr lang="en-US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metanit.com)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События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 сигнализируют системе о том, что произошло определенное действие. И если нам надо отследить эти действия, то как раз мы можем применять события.</a:t>
            </a:r>
            <a:endParaRPr lang="ru-RU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Обработка и вызов событий | Microsoft </a:t>
            </a:r>
            <a:r>
              <a:rPr lang="ru-RU" sz="3200" b="0" u="sng" strike="noStrike" spc="-1" dirty="0" err="1">
                <a:solidFill>
                  <a:srgbClr val="0000FF"/>
                </a:solidFill>
                <a:uFillTx/>
                <a:latin typeface="Calibri"/>
                <a:ea typeface="DejaVu Sans"/>
                <a:hlinkClick r:id="rId4"/>
              </a:rPr>
              <a:t>Docs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Событие —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это сообщение, посланное объектом, чтобы сообщить о совершении действия. 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Это действие может быть вызвано пользовательским взаимодействием, например нажатием кнопки, или какой-то другой программной логикой, например изменением значения свойства. 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Объект, вызывающий событие, называется 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отправителем событий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 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Отправителю событий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не известен объект или метод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который будет получать (обрабатывать) созданные им события. 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События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61" name="Объект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События C# по-человечески / </a:t>
            </a:r>
            <a:r>
              <a:rPr lang="ru-RU" sz="3200" b="0" u="sng" strike="noStrike" spc="-1" dirty="0" err="1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Хабр</a:t>
            </a:r>
            <a:r>
              <a:rPr lang="ru-RU" sz="3200" b="0" u="sng" strike="noStrike" spc="-1" dirty="0">
                <a:solidFill>
                  <a:srgbClr val="0000FF"/>
                </a:solidFill>
                <a:uFillTx/>
                <a:latin typeface="Calibri"/>
                <a:ea typeface="DejaVu Sans"/>
                <a:hlinkClick r:id="rId3"/>
              </a:rPr>
              <a:t> (habr.com)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Событие, это не что иное, как ситуация, при возникновении которой, произойдет действие или несколько действий. 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Событие — это </a:t>
            </a:r>
            <a:r>
              <a:rPr lang="ru-RU" sz="32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объект типа делегат</a:t>
            </a:r>
            <a:r>
              <a:rPr lang="ru-RU" sz="32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, при вызове которого, будут запущены все, подписавшиеся на момент вызова события, методы заданной сигнатуры. </a:t>
            </a: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spc="-1" dirty="0">
                <a:solidFill>
                  <a:srgbClr val="FF0000"/>
                </a:solidFill>
                <a:latin typeface="Calibri"/>
                <a:ea typeface="DejaVu Sans"/>
              </a:rPr>
              <a:t>Подписка =сохранить адрес метода.</a:t>
            </a:r>
            <a:endParaRPr lang="ru-RU" sz="3200" b="0" strike="noStrike" spc="-1" dirty="0">
              <a:solidFill>
                <a:srgbClr val="FF0000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События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73" name="Объект 2"/>
          <p:cNvSpPr/>
          <p:nvPr/>
        </p:nvSpPr>
        <p:spPr>
          <a:xfrm>
            <a:off x="146160" y="1600200"/>
            <a:ext cx="5990760" cy="506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9000" lnSpcReduction="100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event 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делегатСобытия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имя</a:t>
            </a:r>
            <a:r>
              <a:rPr lang="ru-RU" sz="3200" spc="-1" dirty="0" err="1">
                <a:solidFill>
                  <a:srgbClr val="000000"/>
                </a:solidFill>
                <a:latin typeface="Calibri"/>
                <a:ea typeface="DejaVu Sans"/>
              </a:rPr>
              <a:t>С</a:t>
            </a:r>
            <a:r>
              <a:rPr lang="ru-RU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обытия</a:t>
            </a:r>
            <a:r>
              <a:rPr lang="ru-RU" sz="3200" b="0" i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События позволяют классу или объекту уведомлять другие классы или объекты о возникновении каких-либо ситуаций. 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Класс, отправляющий (или вызывающий) событие, называется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издателем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а классы, принимающие (или обрабатывающие) событие, называются 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подписчиками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  </a:t>
            </a:r>
            <a:endParaRPr lang="ru-RU" sz="3200" b="0" strike="noStrike" spc="-1" dirty="0">
              <a:latin typeface="Arial"/>
            </a:endParaRPr>
          </a:p>
        </p:txBody>
      </p:sp>
      <p:grpSp>
        <p:nvGrpSpPr>
          <p:cNvPr id="174" name="Группа 16"/>
          <p:cNvGrpSpPr/>
          <p:nvPr/>
        </p:nvGrpSpPr>
        <p:grpSpPr>
          <a:xfrm>
            <a:off x="6528240" y="1386720"/>
            <a:ext cx="2321280" cy="4197960"/>
            <a:chOff x="6528240" y="1386720"/>
            <a:chExt cx="2321280" cy="4197960"/>
          </a:xfrm>
        </p:grpSpPr>
        <p:grpSp>
          <p:nvGrpSpPr>
            <p:cNvPr id="175" name="Группа 7"/>
            <p:cNvGrpSpPr/>
            <p:nvPr/>
          </p:nvGrpSpPr>
          <p:grpSpPr>
            <a:xfrm>
              <a:off x="6528240" y="1809360"/>
              <a:ext cx="2321280" cy="3167280"/>
              <a:chOff x="6528240" y="1809360"/>
              <a:chExt cx="2321280" cy="3167280"/>
            </a:xfrm>
          </p:grpSpPr>
          <p:sp>
            <p:nvSpPr>
              <p:cNvPr id="176" name="Прямоугольник 3"/>
              <p:cNvSpPr/>
              <p:nvPr/>
            </p:nvSpPr>
            <p:spPr>
              <a:xfrm>
                <a:off x="6690240" y="1809360"/>
                <a:ext cx="2087280" cy="1006920"/>
              </a:xfrm>
              <a:prstGeom prst="rect">
                <a:avLst/>
              </a:prstGeom>
              <a:solidFill>
                <a:srgbClr val="4F81BD"/>
              </a:solidFill>
              <a:ln>
                <a:solidFill>
                  <a:srgbClr val="3A5F8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ru-RU" sz="1800" b="0" strike="noStrike" spc="-1">
                    <a:solidFill>
                      <a:srgbClr val="FFFFFF"/>
                    </a:solidFill>
                    <a:latin typeface="Calibri"/>
                    <a:ea typeface="DejaVu Sans"/>
                  </a:rPr>
                  <a:t>Издатель</a:t>
                </a:r>
                <a:endParaRPr lang="ru-RU" sz="1800" b="0" strike="noStrike" spc="-1">
                  <a:latin typeface="Arial"/>
                </a:endParaRPr>
              </a:p>
            </p:txBody>
          </p:sp>
          <p:sp>
            <p:nvSpPr>
              <p:cNvPr id="177" name="Стрелка вниз 4"/>
              <p:cNvSpPr/>
              <p:nvPr/>
            </p:nvSpPr>
            <p:spPr>
              <a:xfrm>
                <a:off x="7428240" y="2961360"/>
                <a:ext cx="610920" cy="86292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4F81BD"/>
              </a:solidFill>
              <a:ln>
                <a:solidFill>
                  <a:srgbClr val="3A5F8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178" name="Прямоугольник 5"/>
              <p:cNvSpPr/>
              <p:nvPr/>
            </p:nvSpPr>
            <p:spPr>
              <a:xfrm>
                <a:off x="6762240" y="3969720"/>
                <a:ext cx="2087280" cy="1006920"/>
              </a:xfrm>
              <a:prstGeom prst="rect">
                <a:avLst/>
              </a:prstGeom>
              <a:solidFill>
                <a:srgbClr val="4F81BD"/>
              </a:solidFill>
              <a:ln>
                <a:solidFill>
                  <a:srgbClr val="3A5F8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ru-RU" sz="1800" b="0" strike="noStrike" spc="-1">
                    <a:solidFill>
                      <a:srgbClr val="FFFFFF"/>
                    </a:solidFill>
                    <a:latin typeface="Calibri"/>
                    <a:ea typeface="DejaVu Sans"/>
                  </a:rPr>
                  <a:t>Подписчик</a:t>
                </a:r>
                <a:endParaRPr lang="ru-RU" sz="1800" b="0" strike="noStrike" spc="-1">
                  <a:latin typeface="Arial"/>
                </a:endParaRPr>
              </a:p>
            </p:txBody>
          </p:sp>
          <p:sp>
            <p:nvSpPr>
              <p:cNvPr id="179" name="TextBox 6"/>
              <p:cNvSpPr/>
              <p:nvPr/>
            </p:nvSpPr>
            <p:spPr>
              <a:xfrm>
                <a:off x="6528240" y="3177720"/>
                <a:ext cx="1799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180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Событие</a:t>
                </a:r>
                <a:endParaRPr lang="ru-RU" sz="1800" b="0" strike="noStrike" spc="-1">
                  <a:latin typeface="Arial"/>
                </a:endParaRPr>
              </a:p>
            </p:txBody>
          </p:sp>
        </p:grpSp>
        <p:sp>
          <p:nvSpPr>
            <p:cNvPr id="180" name="Прямоугольник 8"/>
            <p:cNvSpPr/>
            <p:nvPr/>
          </p:nvSpPr>
          <p:spPr>
            <a:xfrm>
              <a:off x="6762240" y="1386720"/>
              <a:ext cx="1923480" cy="75816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Событие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181" name="Прямоугольник 9"/>
            <p:cNvSpPr/>
            <p:nvPr/>
          </p:nvSpPr>
          <p:spPr>
            <a:xfrm>
              <a:off x="6843240" y="4857480"/>
              <a:ext cx="1923480" cy="72720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F497D"/>
              </a:solidFill>
              <a:rou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Метод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182" name="Прямоугольник 10"/>
            <p:cNvSpPr/>
            <p:nvPr/>
          </p:nvSpPr>
          <p:spPr>
            <a:xfrm>
              <a:off x="7917480" y="1389240"/>
              <a:ext cx="768240" cy="7272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адрес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183" name="Соединитель: уступ 14"/>
            <p:cNvSpPr/>
            <p:nvPr/>
          </p:nvSpPr>
          <p:spPr>
            <a:xfrm>
              <a:off x="8686800" y="1753560"/>
              <a:ext cx="79920" cy="3466800"/>
            </a:xfrm>
            <a:prstGeom prst="bentConnector3">
              <a:avLst>
                <a:gd name="adj1" fmla="val 382369"/>
              </a:avLst>
            </a:prstGeom>
            <a:noFill/>
            <a:ln>
              <a:solidFill>
                <a:srgbClr val="000000"/>
              </a:solidFill>
              <a:prstDash val="dash"/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События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195" name="Объект 2"/>
          <p:cNvSpPr/>
          <p:nvPr/>
        </p:nvSpPr>
        <p:spPr>
          <a:xfrm>
            <a:off x="457200" y="1600200"/>
            <a:ext cx="588168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685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Под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подпиской на событие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подразумевается предоставление кода, который должен выполняться при генерации данного события, в виде обработчика событий. 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На событие можно подписывать несколько обработчиков, которые будут вызываться при генерации этого события. 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Сами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обработчики событий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представляют собой просто функции. Единственным ограничением для такой функции является то, что ее возвращаемый тип и параметры должны обязательно соответствовать тем, которых требует событие. Это  ограничение задается делегатом. 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latin typeface="Arial"/>
            </a:endParaRPr>
          </a:p>
        </p:txBody>
      </p:sp>
      <p:grpSp>
        <p:nvGrpSpPr>
          <p:cNvPr id="196" name="Группа 8"/>
          <p:cNvGrpSpPr/>
          <p:nvPr/>
        </p:nvGrpSpPr>
        <p:grpSpPr>
          <a:xfrm>
            <a:off x="6528240" y="1417680"/>
            <a:ext cx="2321280" cy="4348080"/>
            <a:chOff x="6528240" y="1417680"/>
            <a:chExt cx="2321280" cy="4348080"/>
          </a:xfrm>
        </p:grpSpPr>
        <p:grpSp>
          <p:nvGrpSpPr>
            <p:cNvPr id="197" name="Группа 9"/>
            <p:cNvGrpSpPr/>
            <p:nvPr/>
          </p:nvGrpSpPr>
          <p:grpSpPr>
            <a:xfrm>
              <a:off x="6528240" y="1840320"/>
              <a:ext cx="2321280" cy="3167280"/>
              <a:chOff x="6528240" y="1840320"/>
              <a:chExt cx="2321280" cy="3167280"/>
            </a:xfrm>
          </p:grpSpPr>
          <p:sp>
            <p:nvSpPr>
              <p:cNvPr id="198" name="Прямоугольник 14"/>
              <p:cNvSpPr/>
              <p:nvPr/>
            </p:nvSpPr>
            <p:spPr>
              <a:xfrm>
                <a:off x="6690240" y="1840320"/>
                <a:ext cx="2087280" cy="1006920"/>
              </a:xfrm>
              <a:prstGeom prst="rect">
                <a:avLst/>
              </a:prstGeom>
              <a:solidFill>
                <a:srgbClr val="4F81BD"/>
              </a:solidFill>
              <a:ln>
                <a:solidFill>
                  <a:srgbClr val="3A5F8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ru-RU" sz="1800" b="0" strike="noStrike" spc="-1">
                    <a:solidFill>
                      <a:srgbClr val="FFFFFF"/>
                    </a:solidFill>
                    <a:latin typeface="Calibri"/>
                    <a:ea typeface="DejaVu Sans"/>
                  </a:rPr>
                  <a:t>Издатель</a:t>
                </a:r>
                <a:endParaRPr lang="ru-RU" sz="1800" b="0" strike="noStrike" spc="-1">
                  <a:latin typeface="Arial"/>
                </a:endParaRPr>
              </a:p>
            </p:txBody>
          </p:sp>
          <p:sp>
            <p:nvSpPr>
              <p:cNvPr id="199" name="Стрелка вниз 4"/>
              <p:cNvSpPr/>
              <p:nvPr/>
            </p:nvSpPr>
            <p:spPr>
              <a:xfrm>
                <a:off x="7428240" y="2992680"/>
                <a:ext cx="610920" cy="86292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4F81BD"/>
              </a:solidFill>
              <a:ln>
                <a:solidFill>
                  <a:srgbClr val="3A5F8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00" name="Прямоугольник 16"/>
              <p:cNvSpPr/>
              <p:nvPr/>
            </p:nvSpPr>
            <p:spPr>
              <a:xfrm>
                <a:off x="6762240" y="4000680"/>
                <a:ext cx="2087280" cy="1006920"/>
              </a:xfrm>
              <a:prstGeom prst="rect">
                <a:avLst/>
              </a:prstGeom>
              <a:solidFill>
                <a:srgbClr val="4F81BD"/>
              </a:solidFill>
              <a:ln>
                <a:solidFill>
                  <a:srgbClr val="3A5F8B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lang="ru-RU" sz="1800" b="0" strike="noStrike" spc="-1">
                    <a:solidFill>
                      <a:srgbClr val="FFFFFF"/>
                    </a:solidFill>
                    <a:latin typeface="Calibri"/>
                    <a:ea typeface="DejaVu Sans"/>
                  </a:rPr>
                  <a:t>Подписчик</a:t>
                </a:r>
                <a:endParaRPr lang="ru-RU" sz="1800" b="0" strike="noStrike" spc="-1">
                  <a:latin typeface="Arial"/>
                </a:endParaRPr>
              </a:p>
            </p:txBody>
          </p:sp>
          <p:sp>
            <p:nvSpPr>
              <p:cNvPr id="201" name="TextBox 17"/>
              <p:cNvSpPr/>
              <p:nvPr/>
            </p:nvSpPr>
            <p:spPr>
              <a:xfrm>
                <a:off x="6528240" y="3208680"/>
                <a:ext cx="1799280" cy="363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ru-RU" sz="1800" b="0" strike="noStrike" spc="-1">
                    <a:solidFill>
                      <a:srgbClr val="000000"/>
                    </a:solidFill>
                    <a:latin typeface="Calibri"/>
                    <a:ea typeface="DejaVu Sans"/>
                  </a:rPr>
                  <a:t>Событие</a:t>
                </a:r>
                <a:endParaRPr lang="ru-RU" sz="1800" b="0" strike="noStrike" spc="-1">
                  <a:latin typeface="Arial"/>
                </a:endParaRPr>
              </a:p>
            </p:txBody>
          </p:sp>
        </p:grpSp>
        <p:sp>
          <p:nvSpPr>
            <p:cNvPr id="202" name="Прямоугольник 10"/>
            <p:cNvSpPr/>
            <p:nvPr/>
          </p:nvSpPr>
          <p:spPr>
            <a:xfrm>
              <a:off x="6762240" y="1417680"/>
              <a:ext cx="1923480" cy="75816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Событие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03" name="Прямоугольник 11"/>
            <p:cNvSpPr/>
            <p:nvPr/>
          </p:nvSpPr>
          <p:spPr>
            <a:xfrm>
              <a:off x="6843240" y="4888440"/>
              <a:ext cx="1923480" cy="87732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1F497D"/>
              </a:solidFill>
              <a:rou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Метод (обработчик события)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04" name="Прямоугольник 12"/>
            <p:cNvSpPr/>
            <p:nvPr/>
          </p:nvSpPr>
          <p:spPr>
            <a:xfrm>
              <a:off x="7917480" y="1420560"/>
              <a:ext cx="768240" cy="727200"/>
            </a:xfrm>
            <a:prstGeom prst="rect">
              <a:avLst/>
            </a:prstGeom>
            <a:solidFill>
              <a:srgbClr val="FFFFFF"/>
            </a:solidFill>
            <a:ln w="57150">
              <a:solidFill>
                <a:srgbClr val="4F81BD"/>
              </a:solidFill>
              <a:rou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lang="ru-RU" sz="1800" b="0" strike="noStrike" spc="-1">
                  <a:solidFill>
                    <a:srgbClr val="000000"/>
                  </a:solidFill>
                  <a:latin typeface="Calibri"/>
                  <a:ea typeface="DejaVu Sans"/>
                </a:rPr>
                <a:t>адрес</a:t>
              </a:r>
              <a:endParaRPr lang="ru-RU" sz="1800" b="0" strike="noStrike" spc="-1">
                <a:latin typeface="Arial"/>
              </a:endParaRPr>
            </a:p>
          </p:txBody>
        </p:sp>
        <p:sp>
          <p:nvSpPr>
            <p:cNvPr id="205" name="Соединитель: уступ 13"/>
            <p:cNvSpPr/>
            <p:nvPr/>
          </p:nvSpPr>
          <p:spPr>
            <a:xfrm>
              <a:off x="8686800" y="1784520"/>
              <a:ext cx="79920" cy="3542040"/>
            </a:xfrm>
            <a:prstGeom prst="bentConnector3">
              <a:avLst>
                <a:gd name="adj1" fmla="val 382369"/>
              </a:avLst>
            </a:prstGeom>
            <a:noFill/>
            <a:ln>
              <a:solidFill>
                <a:srgbClr val="000000"/>
              </a:solidFill>
              <a:prstDash val="dash"/>
              <a:round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/>
          </p:style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События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07" name="Объект 2"/>
          <p:cNvSpPr/>
          <p:nvPr/>
        </p:nvSpPr>
        <p:spPr>
          <a:xfrm>
            <a:off x="457200" y="1196640"/>
            <a:ext cx="8228520" cy="554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8500"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 dirty="0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ACC5B7-5CED-4C08-A7AF-3F96D6176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267" y="1352616"/>
            <a:ext cx="8157221" cy="50481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Определение событий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09" name="Объект 2"/>
          <p:cNvSpPr/>
          <p:nvPr/>
        </p:nvSpPr>
        <p:spPr>
          <a:xfrm>
            <a:off x="457200" y="1600200"/>
            <a:ext cx="8228520" cy="506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60500" lnSpcReduction="20000"/>
          </a:bodyPr>
          <a:lstStyle/>
          <a:p>
            <a:pPr marL="514440" indent="-5133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Перед определением события требуется обязательно определить тип делегата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delegate void MyEventHandler(); 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2.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Объявляем класс-издатель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котором будет генерироваться событие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class MyEvent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public event MyEventHandler SomeEvent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; //событие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// Этот метод вызывается для генерирования события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public void OnSomeEvent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()            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	{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//проверяем, есть ли элементы в списке вызова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   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SomeEvent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!=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null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       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SomeEvent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();//вызываем метод, подписанный на событие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Определение событий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11" name="Объект 2"/>
          <p:cNvSpPr/>
          <p:nvPr/>
        </p:nvSpPr>
        <p:spPr>
          <a:xfrm>
            <a:off x="457200" y="1600200"/>
            <a:ext cx="8600400" cy="4982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56500" lnSpcReduction="20000"/>
          </a:bodyPr>
          <a:lstStyle/>
          <a:p>
            <a:pPr marL="514440" indent="-51336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 startAt="3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Объявляем класс – подписчик, в котором будет метод, подписанный на событие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class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EventDemo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{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static void 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handler()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//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Обработчик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события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{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("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Произошло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событие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.");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}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static void Main(string[] args)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{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MyEvent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evt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new </a:t>
            </a:r>
            <a:r>
              <a:rPr lang="en-US" sz="32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MyEvent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// Добавляем метод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handler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() в список вызовов события - подписка 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evt.SomeEvent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+= new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MyEventHandler</a:t>
            </a:r>
            <a:r>
              <a:rPr lang="en-US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(handler);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// Генерируем событие,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evt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lang="en-US" sz="32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OnSomeEvent</a:t>
            </a:r>
            <a:r>
              <a:rPr lang="ru-RU" sz="32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();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}</a:t>
            </a:r>
            <a:endParaRPr lang="ru-RU" sz="32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}</a:t>
            </a:r>
            <a:endParaRPr lang="ru-RU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 3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13" name="Объект 4"/>
          <p:cNvSpPr/>
          <p:nvPr/>
        </p:nvSpPr>
        <p:spPr>
          <a:xfrm>
            <a:off x="457200" y="1600200"/>
            <a:ext cx="8228520" cy="23923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0500" lnSpcReduction="10000"/>
          </a:bodyPr>
          <a:lstStyle/>
          <a:p>
            <a:pPr marL="458280" indent="-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 panose="020B0604020202020204" pitchFamily="34" charset="0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Разработать класс </a:t>
            </a: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Matrix</a:t>
            </a: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который формирует двумерный массив, используя ДСЧ, а затем печатает этот массив.  </a:t>
            </a:r>
            <a:endParaRPr lang="ru-RU" sz="32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41"/>
              </a:spcBef>
              <a:buFont typeface="Arial" panose="020B0604020202020204" pitchFamily="34" charset="0"/>
              <a:buChar char="•"/>
            </a:pPr>
            <a:r>
              <a:rPr lang="ru-RU" sz="3200" spc="-1" dirty="0">
                <a:solidFill>
                  <a:srgbClr val="000000"/>
                </a:solidFill>
                <a:latin typeface="Calibri"/>
                <a:ea typeface="DejaVu Sans"/>
              </a:rPr>
              <a:t>Информация о том, какое число сформировано, в какой строке и в каком столбце оно находится должна записываться в список строк класса </a:t>
            </a:r>
            <a:r>
              <a:rPr lang="en-US" sz="3200" spc="-1" dirty="0">
                <a:solidFill>
                  <a:srgbClr val="000000"/>
                </a:solidFill>
                <a:latin typeface="Calibri"/>
                <a:ea typeface="DejaVu Sans"/>
              </a:rPr>
              <a:t>Journal</a:t>
            </a:r>
            <a:r>
              <a:rPr lang="ru-RU" sz="3200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4CEBFE7A-1573-4480-BFB6-188122BC0DE6}"/>
              </a:ext>
            </a:extLst>
          </p:cNvPr>
          <p:cNvGrpSpPr/>
          <p:nvPr/>
        </p:nvGrpSpPr>
        <p:grpSpPr>
          <a:xfrm>
            <a:off x="606582" y="4526734"/>
            <a:ext cx="1412339" cy="1199590"/>
            <a:chOff x="606582" y="4526734"/>
            <a:chExt cx="1412339" cy="1199590"/>
          </a:xfrm>
        </p:grpSpPr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91CDC4B3-3643-4F7F-808E-45DEE8B78CEB}"/>
                </a:ext>
              </a:extLst>
            </p:cNvPr>
            <p:cNvGrpSpPr/>
            <p:nvPr/>
          </p:nvGrpSpPr>
          <p:grpSpPr>
            <a:xfrm>
              <a:off x="615636" y="4526734"/>
              <a:ext cx="1403285" cy="298764"/>
              <a:chOff x="615636" y="4526734"/>
              <a:chExt cx="1403285" cy="298764"/>
            </a:xfrm>
          </p:grpSpPr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9874EA57-CB50-4089-98D8-3C23A5044846}"/>
                  </a:ext>
                </a:extLst>
              </p:cNvPr>
              <p:cNvSpPr/>
              <p:nvPr/>
            </p:nvSpPr>
            <p:spPr>
              <a:xfrm>
                <a:off x="615636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1</a:t>
                </a:r>
              </a:p>
            </p:txBody>
          </p:sp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FBB4CC4E-7A86-44A3-B8A0-30F3E5F084FF}"/>
                  </a:ext>
                </a:extLst>
              </p:cNvPr>
              <p:cNvSpPr/>
              <p:nvPr/>
            </p:nvSpPr>
            <p:spPr>
              <a:xfrm>
                <a:off x="896293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5</a:t>
                </a:r>
              </a:p>
            </p:txBody>
          </p:sp>
          <p:sp>
            <p:nvSpPr>
              <p:cNvPr id="6" name="Прямоугольник 5">
                <a:extLst>
                  <a:ext uri="{FF2B5EF4-FFF2-40B4-BE49-F238E27FC236}">
                    <a16:creationId xmlns:a16="http://schemas.microsoft.com/office/drawing/2014/main" id="{C44F07F8-2514-44AC-B89B-7E717F273D00}"/>
                  </a:ext>
                </a:extLst>
              </p:cNvPr>
              <p:cNvSpPr/>
              <p:nvPr/>
            </p:nvSpPr>
            <p:spPr>
              <a:xfrm>
                <a:off x="1176950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ru-RU" dirty="0"/>
                  <a:t>8</a:t>
                </a:r>
              </a:p>
            </p:txBody>
          </p:sp>
          <p:sp>
            <p:nvSpPr>
              <p:cNvPr id="7" name="Прямоугольник 6">
                <a:extLst>
                  <a:ext uri="{FF2B5EF4-FFF2-40B4-BE49-F238E27FC236}">
                    <a16:creationId xmlns:a16="http://schemas.microsoft.com/office/drawing/2014/main" id="{BA3AEE87-3BA1-4CFC-9C3C-FE63795678DE}"/>
                  </a:ext>
                </a:extLst>
              </p:cNvPr>
              <p:cNvSpPr/>
              <p:nvPr/>
            </p:nvSpPr>
            <p:spPr>
              <a:xfrm>
                <a:off x="1457607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Прямоугольник 7">
                <a:extLst>
                  <a:ext uri="{FF2B5EF4-FFF2-40B4-BE49-F238E27FC236}">
                    <a16:creationId xmlns:a16="http://schemas.microsoft.com/office/drawing/2014/main" id="{7C05BA38-1CAD-4A15-AE16-DBB2D69DB8A4}"/>
                  </a:ext>
                </a:extLst>
              </p:cNvPr>
              <p:cNvSpPr/>
              <p:nvPr/>
            </p:nvSpPr>
            <p:spPr>
              <a:xfrm>
                <a:off x="1738264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75E7AF6D-6E69-4573-97CC-9A8E57FF4A9D}"/>
                </a:ext>
              </a:extLst>
            </p:cNvPr>
            <p:cNvGrpSpPr/>
            <p:nvPr/>
          </p:nvGrpSpPr>
          <p:grpSpPr>
            <a:xfrm>
              <a:off x="606582" y="4834552"/>
              <a:ext cx="1403285" cy="298764"/>
              <a:chOff x="615636" y="4526734"/>
              <a:chExt cx="1403285" cy="298764"/>
            </a:xfrm>
          </p:grpSpPr>
          <p:sp>
            <p:nvSpPr>
              <p:cNvPr id="11" name="Прямоугольник 10">
                <a:extLst>
                  <a:ext uri="{FF2B5EF4-FFF2-40B4-BE49-F238E27FC236}">
                    <a16:creationId xmlns:a16="http://schemas.microsoft.com/office/drawing/2014/main" id="{D4A80DD5-CA03-4AD8-9DD5-C6F1B46AA26A}"/>
                  </a:ext>
                </a:extLst>
              </p:cNvPr>
              <p:cNvSpPr/>
              <p:nvPr/>
            </p:nvSpPr>
            <p:spPr>
              <a:xfrm>
                <a:off x="615636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3" name="Прямоугольник 12">
                <a:extLst>
                  <a:ext uri="{FF2B5EF4-FFF2-40B4-BE49-F238E27FC236}">
                    <a16:creationId xmlns:a16="http://schemas.microsoft.com/office/drawing/2014/main" id="{6415A880-0794-4DA9-888A-2FFFB30F0004}"/>
                  </a:ext>
                </a:extLst>
              </p:cNvPr>
              <p:cNvSpPr/>
              <p:nvPr/>
            </p:nvSpPr>
            <p:spPr>
              <a:xfrm>
                <a:off x="1176950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4" name="Прямоугольник 13">
                <a:extLst>
                  <a:ext uri="{FF2B5EF4-FFF2-40B4-BE49-F238E27FC236}">
                    <a16:creationId xmlns:a16="http://schemas.microsoft.com/office/drawing/2014/main" id="{ED1FEEEF-4DE3-498E-9A88-3E580BBA945F}"/>
                  </a:ext>
                </a:extLst>
              </p:cNvPr>
              <p:cNvSpPr/>
              <p:nvPr/>
            </p:nvSpPr>
            <p:spPr>
              <a:xfrm>
                <a:off x="1457607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Прямоугольник 14">
                <a:extLst>
                  <a:ext uri="{FF2B5EF4-FFF2-40B4-BE49-F238E27FC236}">
                    <a16:creationId xmlns:a16="http://schemas.microsoft.com/office/drawing/2014/main" id="{C4F5E8C3-7DB2-4B78-A405-060A8CE00FDD}"/>
                  </a:ext>
                </a:extLst>
              </p:cNvPr>
              <p:cNvSpPr/>
              <p:nvPr/>
            </p:nvSpPr>
            <p:spPr>
              <a:xfrm>
                <a:off x="1738264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0E54D576-6DA3-4569-8F32-51281AEFF524}"/>
                </a:ext>
              </a:extLst>
            </p:cNvPr>
            <p:cNvGrpSpPr/>
            <p:nvPr/>
          </p:nvGrpSpPr>
          <p:grpSpPr>
            <a:xfrm>
              <a:off x="606583" y="5135577"/>
              <a:ext cx="1403285" cy="298764"/>
              <a:chOff x="615636" y="4526734"/>
              <a:chExt cx="1403285" cy="298764"/>
            </a:xfrm>
          </p:grpSpPr>
          <p:sp>
            <p:nvSpPr>
              <p:cNvPr id="17" name="Прямоугольник 16">
                <a:extLst>
                  <a:ext uri="{FF2B5EF4-FFF2-40B4-BE49-F238E27FC236}">
                    <a16:creationId xmlns:a16="http://schemas.microsoft.com/office/drawing/2014/main" id="{A4BB0DE9-96B8-47AC-BCBC-BFCB4EFF2454}"/>
                  </a:ext>
                </a:extLst>
              </p:cNvPr>
              <p:cNvSpPr/>
              <p:nvPr/>
            </p:nvSpPr>
            <p:spPr>
              <a:xfrm>
                <a:off x="615636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8" name="Прямоугольник 17">
                <a:extLst>
                  <a:ext uri="{FF2B5EF4-FFF2-40B4-BE49-F238E27FC236}">
                    <a16:creationId xmlns:a16="http://schemas.microsoft.com/office/drawing/2014/main" id="{59962E2F-E1B8-4B4A-81A9-268A8ED6E198}"/>
                  </a:ext>
                </a:extLst>
              </p:cNvPr>
              <p:cNvSpPr/>
              <p:nvPr/>
            </p:nvSpPr>
            <p:spPr>
              <a:xfrm>
                <a:off x="896293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BAC84F8B-F776-4563-9B84-DA60490FB155}"/>
                  </a:ext>
                </a:extLst>
              </p:cNvPr>
              <p:cNvSpPr/>
              <p:nvPr/>
            </p:nvSpPr>
            <p:spPr>
              <a:xfrm>
                <a:off x="1176950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074CF0BF-CD9B-4EA2-A8FD-ABA2D02E921C}"/>
                  </a:ext>
                </a:extLst>
              </p:cNvPr>
              <p:cNvSpPr/>
              <p:nvPr/>
            </p:nvSpPr>
            <p:spPr>
              <a:xfrm>
                <a:off x="1457607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Прямоугольник 20">
                <a:extLst>
                  <a:ext uri="{FF2B5EF4-FFF2-40B4-BE49-F238E27FC236}">
                    <a16:creationId xmlns:a16="http://schemas.microsoft.com/office/drawing/2014/main" id="{48B06A62-8B70-4C93-A33F-86D7FA936630}"/>
                  </a:ext>
                </a:extLst>
              </p:cNvPr>
              <p:cNvSpPr/>
              <p:nvPr/>
            </p:nvSpPr>
            <p:spPr>
              <a:xfrm>
                <a:off x="1738264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96E34F35-4D12-43DA-91FB-9B75E2286D5B}"/>
                </a:ext>
              </a:extLst>
            </p:cNvPr>
            <p:cNvGrpSpPr/>
            <p:nvPr/>
          </p:nvGrpSpPr>
          <p:grpSpPr>
            <a:xfrm>
              <a:off x="606582" y="5427560"/>
              <a:ext cx="1403285" cy="298764"/>
              <a:chOff x="615636" y="4526734"/>
              <a:chExt cx="1403285" cy="298764"/>
            </a:xfrm>
          </p:grpSpPr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FF9B0178-FFD4-474E-8FA6-2D3205053394}"/>
                  </a:ext>
                </a:extLst>
              </p:cNvPr>
              <p:cNvSpPr/>
              <p:nvPr/>
            </p:nvSpPr>
            <p:spPr>
              <a:xfrm>
                <a:off x="615636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4" name="Прямоугольник 23">
                <a:extLst>
                  <a:ext uri="{FF2B5EF4-FFF2-40B4-BE49-F238E27FC236}">
                    <a16:creationId xmlns:a16="http://schemas.microsoft.com/office/drawing/2014/main" id="{5823FD86-3096-4C1B-AABD-AAAB9BFC376A}"/>
                  </a:ext>
                </a:extLst>
              </p:cNvPr>
              <p:cNvSpPr/>
              <p:nvPr/>
            </p:nvSpPr>
            <p:spPr>
              <a:xfrm>
                <a:off x="896293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78DDBACA-CDB5-4627-A3A7-B80057AAD7D3}"/>
                  </a:ext>
                </a:extLst>
              </p:cNvPr>
              <p:cNvSpPr/>
              <p:nvPr/>
            </p:nvSpPr>
            <p:spPr>
              <a:xfrm>
                <a:off x="1176950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6" name="Прямоугольник 25">
                <a:extLst>
                  <a:ext uri="{FF2B5EF4-FFF2-40B4-BE49-F238E27FC236}">
                    <a16:creationId xmlns:a16="http://schemas.microsoft.com/office/drawing/2014/main" id="{6F7A9EBD-9B2A-4E55-82E0-1A4563869DDE}"/>
                  </a:ext>
                </a:extLst>
              </p:cNvPr>
              <p:cNvSpPr/>
              <p:nvPr/>
            </p:nvSpPr>
            <p:spPr>
              <a:xfrm>
                <a:off x="1457607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Прямоугольник 26">
                <a:extLst>
                  <a:ext uri="{FF2B5EF4-FFF2-40B4-BE49-F238E27FC236}">
                    <a16:creationId xmlns:a16="http://schemas.microsoft.com/office/drawing/2014/main" id="{6290CD30-6DA1-4D59-817A-B61CC55CA5C0}"/>
                  </a:ext>
                </a:extLst>
              </p:cNvPr>
              <p:cNvSpPr/>
              <p:nvPr/>
            </p:nvSpPr>
            <p:spPr>
              <a:xfrm>
                <a:off x="1738264" y="4526734"/>
                <a:ext cx="280657" cy="2987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2F02961-D94C-4327-A40B-27CE3AFDDB83}"/>
              </a:ext>
            </a:extLst>
          </p:cNvPr>
          <p:cNvSpPr/>
          <p:nvPr/>
        </p:nvSpPr>
        <p:spPr>
          <a:xfrm>
            <a:off x="3639493" y="4553893"/>
            <a:ext cx="4463358" cy="2987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Число 1 записано в строку 0 столбец 0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D27A9986-954E-44E1-8BF7-665C6312A45B}"/>
              </a:ext>
            </a:extLst>
          </p:cNvPr>
          <p:cNvSpPr/>
          <p:nvPr/>
        </p:nvSpPr>
        <p:spPr>
          <a:xfrm>
            <a:off x="3639493" y="4852660"/>
            <a:ext cx="4463358" cy="2987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Число 5 записано в строку 0 столбец 1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4C4537A-97BB-492A-AEEE-4D12C1C8F734}"/>
              </a:ext>
            </a:extLst>
          </p:cNvPr>
          <p:cNvSpPr/>
          <p:nvPr/>
        </p:nvSpPr>
        <p:spPr>
          <a:xfrm>
            <a:off x="3639493" y="5160479"/>
            <a:ext cx="4463358" cy="2987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Число 8 записано в строку 0 столбец 2</a:t>
            </a: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3FC79EFC-CABE-4B18-8042-4F6876A20B3E}"/>
              </a:ext>
            </a:extLst>
          </p:cNvPr>
          <p:cNvCxnSpPr>
            <a:endCxn id="9" idx="1"/>
          </p:cNvCxnSpPr>
          <p:nvPr/>
        </p:nvCxnSpPr>
        <p:spPr>
          <a:xfrm>
            <a:off x="746910" y="4463358"/>
            <a:ext cx="2892583" cy="239917"/>
          </a:xfrm>
          <a:prstGeom prst="bentConnector3">
            <a:avLst>
              <a:gd name="adj1" fmla="val 59703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D8B174-968F-4D48-9E09-AE2DD9289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8051"/>
            <a:ext cx="9144000" cy="3211889"/>
          </a:xfrm>
          <a:prstGeom prst="rect">
            <a:avLst/>
          </a:prstGeom>
        </p:spPr>
      </p:pic>
      <p:sp>
        <p:nvSpPr>
          <p:cNvPr id="214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3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4" name="Облачко с текстом: прямоугольное 3">
            <a:extLst>
              <a:ext uri="{FF2B5EF4-FFF2-40B4-BE49-F238E27FC236}">
                <a16:creationId xmlns:a16="http://schemas.microsoft.com/office/drawing/2014/main" id="{B304E03D-84BF-4941-A63D-D924C94C8AED}"/>
              </a:ext>
            </a:extLst>
          </p:cNvPr>
          <p:cNvSpPr/>
          <p:nvPr/>
        </p:nvSpPr>
        <p:spPr>
          <a:xfrm>
            <a:off x="7306147" y="2616450"/>
            <a:ext cx="1638677" cy="968721"/>
          </a:xfrm>
          <a:prstGeom prst="wedgeRectCallout">
            <a:avLst>
              <a:gd name="adj1" fmla="val -148333"/>
              <a:gd name="adj2" fmla="val -7625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Делегат</a:t>
            </a:r>
          </a:p>
          <a:p>
            <a:pPr algn="ctr"/>
            <a:r>
              <a:rPr lang="ru-RU" dirty="0"/>
              <a:t>для описания события</a:t>
            </a:r>
          </a:p>
        </p:txBody>
      </p:sp>
      <p:sp>
        <p:nvSpPr>
          <p:cNvPr id="9" name="Облачко с текстом: прямоугольное 8">
            <a:extLst>
              <a:ext uri="{FF2B5EF4-FFF2-40B4-BE49-F238E27FC236}">
                <a16:creationId xmlns:a16="http://schemas.microsoft.com/office/drawing/2014/main" id="{212E45A4-9FA4-4C83-BA77-B4557B929D25}"/>
              </a:ext>
            </a:extLst>
          </p:cNvPr>
          <p:cNvSpPr/>
          <p:nvPr/>
        </p:nvSpPr>
        <p:spPr>
          <a:xfrm>
            <a:off x="5667470" y="5241955"/>
            <a:ext cx="1638677" cy="968721"/>
          </a:xfrm>
          <a:prstGeom prst="wedgeRectCallout">
            <a:avLst>
              <a:gd name="adj1" fmla="val -148333"/>
              <a:gd name="adj2" fmla="val -76250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Событие</a:t>
            </a:r>
          </a:p>
        </p:txBody>
      </p:sp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CB25DDB2-5C3E-435C-B325-7312EEFA4F3C}"/>
              </a:ext>
            </a:extLst>
          </p:cNvPr>
          <p:cNvSpPr/>
          <p:nvPr/>
        </p:nvSpPr>
        <p:spPr>
          <a:xfrm>
            <a:off x="4309724" y="2789700"/>
            <a:ext cx="1638677" cy="968721"/>
          </a:xfrm>
          <a:prstGeom prst="wedgeRectCallout">
            <a:avLst>
              <a:gd name="adj1" fmla="val -155942"/>
              <a:gd name="adj2" fmla="val -5479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Издатель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3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AB697C-D21A-4735-B4BA-70F7993C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04320"/>
            <a:ext cx="5599568" cy="5445038"/>
          </a:xfrm>
          <a:prstGeom prst="rect">
            <a:avLst/>
          </a:prstGeom>
        </p:spPr>
      </p:pic>
      <p:sp>
        <p:nvSpPr>
          <p:cNvPr id="9" name="Облачко с текстом: прямоугольное 8">
            <a:extLst>
              <a:ext uri="{FF2B5EF4-FFF2-40B4-BE49-F238E27FC236}">
                <a16:creationId xmlns:a16="http://schemas.microsoft.com/office/drawing/2014/main" id="{C61F4766-EF46-413C-A7F5-6392CF065616}"/>
              </a:ext>
            </a:extLst>
          </p:cNvPr>
          <p:cNvSpPr/>
          <p:nvPr/>
        </p:nvSpPr>
        <p:spPr>
          <a:xfrm>
            <a:off x="5732566" y="4200806"/>
            <a:ext cx="1638677" cy="968721"/>
          </a:xfrm>
          <a:prstGeom prst="wedgeRectCallout">
            <a:avLst>
              <a:gd name="adj1" fmla="val -144466"/>
              <a:gd name="adj2" fmla="val -8466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Метод для генерации события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3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2424BA-318B-4324-ACB6-1A2A90BEA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0" y="4437449"/>
            <a:ext cx="9144000" cy="114193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22E6E89-E0C5-4CCB-9BE2-D41F1E88B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40" y="1754771"/>
            <a:ext cx="9144000" cy="13315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0845F0-ED34-4083-9254-2043A030D565}"/>
              </a:ext>
            </a:extLst>
          </p:cNvPr>
          <p:cNvSpPr txBox="1"/>
          <p:nvPr/>
        </p:nvSpPr>
        <p:spPr>
          <a:xfrm>
            <a:off x="2660073" y="3544775"/>
            <a:ext cx="216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ИЛИ</a:t>
            </a:r>
          </a:p>
        </p:txBody>
      </p:sp>
      <p:sp>
        <p:nvSpPr>
          <p:cNvPr id="12" name="Облачко с текстом: прямоугольное 11">
            <a:extLst>
              <a:ext uri="{FF2B5EF4-FFF2-40B4-BE49-F238E27FC236}">
                <a16:creationId xmlns:a16="http://schemas.microsoft.com/office/drawing/2014/main" id="{1B51E37D-4D03-4CBA-81B6-32F129B29C51}"/>
              </a:ext>
            </a:extLst>
          </p:cNvPr>
          <p:cNvSpPr/>
          <p:nvPr/>
        </p:nvSpPr>
        <p:spPr>
          <a:xfrm>
            <a:off x="5912675" y="3245080"/>
            <a:ext cx="1638677" cy="968721"/>
          </a:xfrm>
          <a:prstGeom prst="wedgeRectCallout">
            <a:avLst>
              <a:gd name="adj1" fmla="val -144466"/>
              <a:gd name="adj2" fmla="val -8466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Генерация события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3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F67447-C03D-4702-A344-5C88550190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1707"/>
            <a:ext cx="9144000" cy="4801613"/>
          </a:xfrm>
          <a:prstGeom prst="rect">
            <a:avLst/>
          </a:prstGeom>
        </p:spPr>
      </p:pic>
      <p:sp>
        <p:nvSpPr>
          <p:cNvPr id="9" name="Облачко с текстом: прямоугольное 8">
            <a:extLst>
              <a:ext uri="{FF2B5EF4-FFF2-40B4-BE49-F238E27FC236}">
                <a16:creationId xmlns:a16="http://schemas.microsoft.com/office/drawing/2014/main" id="{290E4CB7-4B42-46CA-93D5-A86C655B4195}"/>
              </a:ext>
            </a:extLst>
          </p:cNvPr>
          <p:cNvSpPr/>
          <p:nvPr/>
        </p:nvSpPr>
        <p:spPr>
          <a:xfrm>
            <a:off x="6522275" y="1554826"/>
            <a:ext cx="1638677" cy="968721"/>
          </a:xfrm>
          <a:prstGeom prst="wedgeRectCallout">
            <a:avLst>
              <a:gd name="adj1" fmla="val -313560"/>
              <a:gd name="adj2" fmla="val -117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Подписчик</a:t>
            </a:r>
          </a:p>
        </p:txBody>
      </p:sp>
      <p:sp>
        <p:nvSpPr>
          <p:cNvPr id="10" name="Облачко с текстом: прямоугольное 9">
            <a:extLst>
              <a:ext uri="{FF2B5EF4-FFF2-40B4-BE49-F238E27FC236}">
                <a16:creationId xmlns:a16="http://schemas.microsoft.com/office/drawing/2014/main" id="{CEAC9E37-6862-4B9F-81C3-B31C1CF11ABB}"/>
              </a:ext>
            </a:extLst>
          </p:cNvPr>
          <p:cNvSpPr/>
          <p:nvPr/>
        </p:nvSpPr>
        <p:spPr>
          <a:xfrm>
            <a:off x="6924057" y="3698152"/>
            <a:ext cx="1638677" cy="968721"/>
          </a:xfrm>
          <a:prstGeom prst="wedgeRectCallout">
            <a:avLst>
              <a:gd name="adj1" fmla="val -163912"/>
              <a:gd name="adj2" fmla="val -8895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Обработчик события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Заголовок 4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3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6EE4AA6-A7BD-42C2-8D8A-28B7651CB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836" y="1357023"/>
            <a:ext cx="7716327" cy="4143953"/>
          </a:xfrm>
          <a:prstGeom prst="rect">
            <a:avLst/>
          </a:prstGeom>
        </p:spPr>
      </p:pic>
      <p:sp>
        <p:nvSpPr>
          <p:cNvPr id="6" name="Облачко с текстом: прямоугольное 5">
            <a:extLst>
              <a:ext uri="{FF2B5EF4-FFF2-40B4-BE49-F238E27FC236}">
                <a16:creationId xmlns:a16="http://schemas.microsoft.com/office/drawing/2014/main" id="{D0F57EE9-877C-4A25-B649-6D080AA5E23F}"/>
              </a:ext>
            </a:extLst>
          </p:cNvPr>
          <p:cNvSpPr/>
          <p:nvPr/>
        </p:nvSpPr>
        <p:spPr>
          <a:xfrm>
            <a:off x="6099926" y="3074697"/>
            <a:ext cx="1638677" cy="968721"/>
          </a:xfrm>
          <a:prstGeom prst="wedgeRectCallout">
            <a:avLst>
              <a:gd name="adj1" fmla="val -164757"/>
              <a:gd name="adj2" fmla="val -47476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Подписка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FB51B4-48C0-47BA-BDD2-A8385752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680"/>
            <a:ext cx="8228520" cy="752714"/>
          </a:xfrm>
        </p:spPr>
        <p:txBody>
          <a:bodyPr/>
          <a:lstStyle/>
          <a:p>
            <a:pPr algn="ctr"/>
            <a:r>
              <a:rPr lang="ru-RU" dirty="0"/>
              <a:t>Задача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CA08BA-B5C7-40E5-957F-A9130FE99960}"/>
              </a:ext>
            </a:extLst>
          </p:cNvPr>
          <p:cNvSpPr txBox="1"/>
          <p:nvPr/>
        </p:nvSpPr>
        <p:spPr>
          <a:xfrm>
            <a:off x="88490" y="1907886"/>
            <a:ext cx="4456606" cy="2185214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Matr</a:t>
            </a:r>
            <a:endParaRPr lang="ru-RU" sz="1800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pPr algn="ctr"/>
            <a:endParaRPr lang="en-US" dirty="0"/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[,] matrix;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 {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US" sz="18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MatrixHandler? createNumber;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2EB7F-4BBA-4702-999C-6014E7433F7A}"/>
              </a:ext>
            </a:extLst>
          </p:cNvPr>
          <p:cNvSpPr txBox="1"/>
          <p:nvPr/>
        </p:nvSpPr>
        <p:spPr>
          <a:xfrm>
            <a:off x="4735121" y="1938029"/>
            <a:ext cx="4358819" cy="258532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Journal</a:t>
            </a:r>
            <a:endParaRPr lang="ru-RU" dirty="0">
              <a:solidFill>
                <a:srgbClr val="2B91AF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List&lt;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journal=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();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WriteRecord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name,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row,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column)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           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journal.Add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В матрицу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name}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записано число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number}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, 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строка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row}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, 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столбец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column}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C233B2-A94E-4C32-84AC-2E0EC2819643}"/>
              </a:ext>
            </a:extLst>
          </p:cNvPr>
          <p:cNvSpPr txBox="1"/>
          <p:nvPr/>
        </p:nvSpPr>
        <p:spPr>
          <a:xfrm>
            <a:off x="190114" y="5151441"/>
            <a:ext cx="6724416" cy="127727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args)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pc="-1" dirty="0">
                <a:solidFill>
                  <a:srgbClr val="000000"/>
                </a:solidFill>
                <a:latin typeface="Calibri"/>
                <a:ea typeface="DejaVu Sans"/>
              </a:rPr>
              <a:t>. . . . </a:t>
            </a: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m1.createNumber += journal1.WriteRecord;</a:t>
            </a:r>
            <a:endParaRPr lang="ru-RU" sz="1800" b="0" strike="noStrike" spc="-1" dirty="0">
              <a:latin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0575B1-60AB-482C-ACC1-E8BB0D1E716A}"/>
              </a:ext>
            </a:extLst>
          </p:cNvPr>
          <p:cNvSpPr txBox="1"/>
          <p:nvPr/>
        </p:nvSpPr>
        <p:spPr>
          <a:xfrm>
            <a:off x="114854" y="1135510"/>
            <a:ext cx="8913211" cy="64633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MatrixHandler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matrName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row,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column);</a:t>
            </a:r>
            <a:endParaRPr lang="en-US" dirty="0"/>
          </a:p>
        </p:txBody>
      </p:sp>
      <p:cxnSp>
        <p:nvCxnSpPr>
          <p:cNvPr id="19" name="Соединитель: уступ 18">
            <a:extLst>
              <a:ext uri="{FF2B5EF4-FFF2-40B4-BE49-F238E27FC236}">
                <a16:creationId xmlns:a16="http://schemas.microsoft.com/office/drawing/2014/main" id="{AAB991C6-1DC3-416B-9ECD-4EB39D62A1AB}"/>
              </a:ext>
            </a:extLst>
          </p:cNvPr>
          <p:cNvCxnSpPr>
            <a:cxnSpLocks/>
          </p:cNvCxnSpPr>
          <p:nvPr/>
        </p:nvCxnSpPr>
        <p:spPr>
          <a:xfrm flipV="1">
            <a:off x="3740727" y="2840182"/>
            <a:ext cx="1468582" cy="872836"/>
          </a:xfrm>
          <a:prstGeom prst="bentConnector3">
            <a:avLst>
              <a:gd name="adj1" fmla="val 50000"/>
            </a:avLst>
          </a:prstGeom>
          <a:ln w="5080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Облачко с текстом: прямоугольное 16">
            <a:extLst>
              <a:ext uri="{FF2B5EF4-FFF2-40B4-BE49-F238E27FC236}">
                <a16:creationId xmlns:a16="http://schemas.microsoft.com/office/drawing/2014/main" id="{B2397C54-BE2B-4B2D-B5F6-7163CA0C5E8D}"/>
              </a:ext>
            </a:extLst>
          </p:cNvPr>
          <p:cNvSpPr/>
          <p:nvPr/>
        </p:nvSpPr>
        <p:spPr>
          <a:xfrm>
            <a:off x="7505323" y="5459993"/>
            <a:ext cx="1638677" cy="968721"/>
          </a:xfrm>
          <a:prstGeom prst="wedgeRectCallout">
            <a:avLst>
              <a:gd name="adj1" fmla="val -154611"/>
              <a:gd name="adj2" fmla="val 32615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Подписка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8CCD76-9A3C-4E83-A411-B1CA05B1DB53}"/>
              </a:ext>
            </a:extLst>
          </p:cNvPr>
          <p:cNvSpPr txBox="1"/>
          <p:nvPr/>
        </p:nvSpPr>
        <p:spPr>
          <a:xfrm>
            <a:off x="775855" y="4219145"/>
            <a:ext cx="2604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ИЗДАТЕЛЬ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CC0C42-AF58-4711-BCF6-46A70E73C98E}"/>
              </a:ext>
            </a:extLst>
          </p:cNvPr>
          <p:cNvSpPr txBox="1"/>
          <p:nvPr/>
        </p:nvSpPr>
        <p:spPr>
          <a:xfrm>
            <a:off x="6081066" y="4622340"/>
            <a:ext cx="2604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ПОДПИСЧИК</a:t>
            </a:r>
          </a:p>
        </p:txBody>
      </p:sp>
    </p:spTree>
    <p:extLst>
      <p:ext uri="{BB962C8B-B14F-4D97-AF65-F5344CB8AC3E}">
        <p14:creationId xmlns:p14="http://schemas.microsoft.com/office/powerpoint/2010/main" val="9605699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75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Требования </a:t>
            </a:r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Microsoft </a:t>
            </a: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к событиям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32" name="Объект 2"/>
          <p:cNvSpPr/>
          <p:nvPr/>
        </p:nvSpPr>
        <p:spPr>
          <a:xfrm>
            <a:off x="457200" y="1600200"/>
            <a:ext cx="8478982" cy="39554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Обработчики событий должны  иметь  два параметра:</a:t>
            </a:r>
            <a:endParaRPr lang="ru-RU" sz="28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Первый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должен быть ссылкой на объект, который будет генерировать событие. </a:t>
            </a:r>
            <a:endParaRPr lang="ru-RU" sz="24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Второй</a:t>
            </a:r>
            <a:r>
              <a:rPr lang="ru-RU" sz="24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должен иметь тип EventArgs и содержать остальную информацию, необходимую обработчику. </a:t>
            </a:r>
            <a:endParaRPr lang="en-US" sz="2400" b="0" strike="noStrike" spc="-1" dirty="0">
              <a:solidFill>
                <a:srgbClr val="000000"/>
              </a:solidFill>
              <a:latin typeface="Calibri"/>
              <a:ea typeface="DejaVu Sans"/>
            </a:endParaRPr>
          </a:p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Таким образом, .NET-совместимые обработчики событий должны иметь следующую общую форму записи:</a:t>
            </a:r>
            <a:endParaRPr lang="ru-RU" sz="2800" b="0" strike="noStrike" spc="-1" dirty="0">
              <a:latin typeface="Arial"/>
            </a:endParaRPr>
          </a:p>
          <a:p>
            <a:pPr marL="10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void handler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object source, EventArgs </a:t>
            </a:r>
            <a:r>
              <a:rPr lang="en-US" sz="28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arg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 {…}</a:t>
            </a:r>
            <a:endParaRPr lang="ru-RU" sz="28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endParaRPr lang="ru-RU" sz="2400" b="0" strike="noStrike" spc="-1" dirty="0">
              <a:latin typeface="Arial"/>
            </a:endParaRPr>
          </a:p>
        </p:txBody>
      </p:sp>
      <p:sp>
        <p:nvSpPr>
          <p:cNvPr id="5" name="Облачко с текстом: прямоугольное 4">
            <a:extLst>
              <a:ext uri="{FF2B5EF4-FFF2-40B4-BE49-F238E27FC236}">
                <a16:creationId xmlns:a16="http://schemas.microsoft.com/office/drawing/2014/main" id="{FEF66D9B-DA9A-4A8F-BF1F-39CDA3F42569}"/>
              </a:ext>
            </a:extLst>
          </p:cNvPr>
          <p:cNvSpPr/>
          <p:nvPr/>
        </p:nvSpPr>
        <p:spPr>
          <a:xfrm>
            <a:off x="928255" y="5920480"/>
            <a:ext cx="2978727" cy="798976"/>
          </a:xfrm>
          <a:prstGeom prst="wedgeRectCallout">
            <a:avLst>
              <a:gd name="adj1" fmla="val 42969"/>
              <a:gd name="adj2" fmla="val -10039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Объект, который генерирует событие</a:t>
            </a:r>
          </a:p>
        </p:txBody>
      </p:sp>
      <p:sp>
        <p:nvSpPr>
          <p:cNvPr id="6" name="Облачко с текстом: прямоугольное 5">
            <a:extLst>
              <a:ext uri="{FF2B5EF4-FFF2-40B4-BE49-F238E27FC236}">
                <a16:creationId xmlns:a16="http://schemas.microsoft.com/office/drawing/2014/main" id="{EDAE56B5-51BB-4382-A209-C0CC4C883A9A}"/>
              </a:ext>
            </a:extLst>
          </p:cNvPr>
          <p:cNvSpPr/>
          <p:nvPr/>
        </p:nvSpPr>
        <p:spPr>
          <a:xfrm>
            <a:off x="5126182" y="5869651"/>
            <a:ext cx="2978727" cy="798976"/>
          </a:xfrm>
          <a:prstGeom prst="wedgeRectCallout">
            <a:avLst>
              <a:gd name="adj1" fmla="val -24473"/>
              <a:gd name="adj2" fmla="val -12120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Информация, которая нужна обработчику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900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Универсальные обработчики событий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27" name="Объект 2"/>
          <p:cNvSpPr/>
          <p:nvPr/>
        </p:nvSpPr>
        <p:spPr>
          <a:xfrm>
            <a:off x="457200" y="1600200"/>
            <a:ext cx="8527320" cy="319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9000"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Данные, связанные с событием, могут быть предоставлены с помощью класса данных события.</a:t>
            </a:r>
            <a:endParaRPr lang="ru-RU" sz="2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Класс 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  <a:ea typeface="DejaVu Sans"/>
              </a:rPr>
              <a:t>EventArgs 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является базовым типом для всех классов данных событий.  </a:t>
            </a:r>
            <a:endParaRPr lang="ru-RU" sz="2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использовать 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один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обработчик событий для нескольких 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  <a:ea typeface="DejaVu Sans"/>
              </a:rPr>
              <a:t>идентичных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событий, генерируемых  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  <a:ea typeface="DejaVu Sans"/>
              </a:rPr>
              <a:t>разными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объектами.</a:t>
            </a:r>
            <a:endParaRPr lang="ru-RU" sz="2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Чтобы знать, какой объект сгенерировал событие, в качестве параметра обработчика событий нужно отправить </a:t>
            </a:r>
            <a:r>
              <a:rPr lang="ru-RU" sz="2800" b="1" strike="noStrike" spc="-1">
                <a:solidFill>
                  <a:srgbClr val="000000"/>
                </a:solidFill>
                <a:latin typeface="Calibri"/>
                <a:ea typeface="DejaVu Sans"/>
              </a:rPr>
              <a:t>ссылку на объект, генерирующий это событие.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228" name="Объект 6"/>
          <p:cNvSpPr/>
          <p:nvPr/>
        </p:nvSpPr>
        <p:spPr>
          <a:xfrm>
            <a:off x="373626" y="4791240"/>
            <a:ext cx="8610894" cy="730800"/>
          </a:xfrm>
          <a:prstGeom prst="rect">
            <a:avLst/>
          </a:prstGeom>
          <a:noFill/>
          <a:ln w="3168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9000"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MatrixHandler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matrName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number,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row,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column);</a:t>
            </a:r>
            <a:endParaRPr lang="ru-RU" sz="2800" b="0" strike="noStrike" spc="-1" dirty="0">
              <a:latin typeface="Arial"/>
            </a:endParaRPr>
          </a:p>
        </p:txBody>
      </p:sp>
      <p:sp>
        <p:nvSpPr>
          <p:cNvPr id="229" name="Объект 6"/>
          <p:cNvSpPr/>
          <p:nvPr/>
        </p:nvSpPr>
        <p:spPr>
          <a:xfrm>
            <a:off x="373626" y="5769720"/>
            <a:ext cx="8610894" cy="898200"/>
          </a:xfrm>
          <a:prstGeom prst="rect">
            <a:avLst/>
          </a:prstGeom>
          <a:noFill/>
          <a:ln w="317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MatrixHandler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source,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MatrixEventArgs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args);</a:t>
            </a:r>
            <a:endParaRPr lang="ru-RU" sz="2800" b="0" strike="noStrike" spc="-1" dirty="0">
              <a:latin typeface="Arial"/>
            </a:endParaRPr>
          </a:p>
        </p:txBody>
      </p:sp>
      <p:sp>
        <p:nvSpPr>
          <p:cNvPr id="230" name="Стрелка: вниз 9"/>
          <p:cNvSpPr/>
          <p:nvPr/>
        </p:nvSpPr>
        <p:spPr>
          <a:xfrm>
            <a:off x="5980320" y="5220000"/>
            <a:ext cx="474480" cy="61884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4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74DEA6-95FF-4545-A8AB-E0056E4A9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31" y="1499918"/>
            <a:ext cx="8154538" cy="385816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4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6709305-15A9-42AD-BF90-9C9AB00A7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2549"/>
            <a:ext cx="9144000" cy="4502937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4CA746-B1C1-414A-B876-FB78D04D9E75}"/>
              </a:ext>
            </a:extLst>
          </p:cNvPr>
          <p:cNvSpPr/>
          <p:nvPr/>
        </p:nvSpPr>
        <p:spPr>
          <a:xfrm>
            <a:off x="3546765" y="1842549"/>
            <a:ext cx="5138956" cy="55428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CACFBD3-2693-4EF6-A6C5-F9B9FDA48CBD}"/>
              </a:ext>
            </a:extLst>
          </p:cNvPr>
          <p:cNvSpPr/>
          <p:nvPr/>
        </p:nvSpPr>
        <p:spPr>
          <a:xfrm>
            <a:off x="3962400" y="4876800"/>
            <a:ext cx="4944993" cy="69272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4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AC5D5A-1757-417D-811F-7F1BAF9C6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5969"/>
            <a:ext cx="9144000" cy="244606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4370121-D9B7-41BC-B838-CEB1B0627975}"/>
              </a:ext>
            </a:extLst>
          </p:cNvPr>
          <p:cNvSpPr/>
          <p:nvPr/>
        </p:nvSpPr>
        <p:spPr>
          <a:xfrm>
            <a:off x="3422073" y="3740622"/>
            <a:ext cx="5486399" cy="54043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блачко с текстом: прямоугольное 3">
            <a:extLst>
              <a:ext uri="{FF2B5EF4-FFF2-40B4-BE49-F238E27FC236}">
                <a16:creationId xmlns:a16="http://schemas.microsoft.com/office/drawing/2014/main" id="{8AD909D1-5823-4EE8-AD71-DF4E2DB709DA}"/>
              </a:ext>
            </a:extLst>
          </p:cNvPr>
          <p:cNvSpPr/>
          <p:nvPr/>
        </p:nvSpPr>
        <p:spPr>
          <a:xfrm>
            <a:off x="4918364" y="5043055"/>
            <a:ext cx="2479963" cy="772653"/>
          </a:xfrm>
          <a:prstGeom prst="wedgeRectCallout">
            <a:avLst>
              <a:gd name="adj1" fmla="val -19157"/>
              <a:gd name="adj2" fmla="val -13832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Упаковали информацию в «конвертик»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4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24D54C-6B2B-44B9-B4E3-03AD23BE4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91922"/>
            <a:ext cx="9144000" cy="2274156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9D2005E-B7D5-4236-850E-49FF5BA941DC}"/>
              </a:ext>
            </a:extLst>
          </p:cNvPr>
          <p:cNvSpPr/>
          <p:nvPr/>
        </p:nvSpPr>
        <p:spPr>
          <a:xfrm>
            <a:off x="1773383" y="3685310"/>
            <a:ext cx="7135090" cy="88076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лачко с текстом: прямоугольное 7">
            <a:extLst>
              <a:ext uri="{FF2B5EF4-FFF2-40B4-BE49-F238E27FC236}">
                <a16:creationId xmlns:a16="http://schemas.microsoft.com/office/drawing/2014/main" id="{1C408428-1311-4693-8229-3ED01233CEA5}"/>
              </a:ext>
            </a:extLst>
          </p:cNvPr>
          <p:cNvSpPr/>
          <p:nvPr/>
        </p:nvSpPr>
        <p:spPr>
          <a:xfrm>
            <a:off x="4918364" y="5043055"/>
            <a:ext cx="2479963" cy="772653"/>
          </a:xfrm>
          <a:prstGeom prst="wedgeRectCallout">
            <a:avLst>
              <a:gd name="adj1" fmla="val -19157"/>
              <a:gd name="adj2" fmla="val -13832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Достали информацию из «конвертика»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 4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202046B-FF3F-4521-99B4-D31BC6F05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363" y="318653"/>
            <a:ext cx="7697274" cy="622069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Анонимные методы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50" name="Объект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Анонимным методом  называется метод, который не является методом какого-либо определенного класса. 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Анонимный метод создается для применения в качестве целевого метода для делегата. </a:t>
            </a:r>
            <a:endParaRPr lang="ru-RU" sz="3200" b="0" strike="noStrike" spc="-1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>
                <a:solidFill>
                  <a:srgbClr val="FF0000"/>
                </a:solidFill>
                <a:latin typeface="Calibri"/>
                <a:ea typeface="DejaVu Sans"/>
              </a:rPr>
              <a:t>delegate (параметры) </a:t>
            </a:r>
            <a:endParaRPr lang="ru-RU" sz="2800" b="0" strike="noStrike" spc="-1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>
                <a:solidFill>
                  <a:srgbClr val="FF0000"/>
                </a:solidFill>
                <a:latin typeface="Calibri"/>
                <a:ea typeface="DejaVu Sans"/>
              </a:rPr>
              <a:t>{ </a:t>
            </a:r>
            <a:endParaRPr lang="ru-RU" sz="2800" b="0" strike="noStrike" spc="-1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// Код анонимного метода. </a:t>
            </a:r>
            <a:endParaRPr lang="ru-RU" sz="2800" b="0" strike="noStrike" spc="-1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>
                <a:solidFill>
                  <a:srgbClr val="FF0000"/>
                </a:solidFill>
                <a:latin typeface="Calibri"/>
                <a:ea typeface="DejaVu Sans"/>
              </a:rPr>
              <a:t>}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; </a:t>
            </a:r>
            <a:endParaRPr lang="ru-RU" sz="2800" b="0" strike="noStrike" spc="-1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Заголовок 1"/>
          <p:cNvSpPr/>
          <p:nvPr/>
        </p:nvSpPr>
        <p:spPr>
          <a:xfrm>
            <a:off x="457200" y="274680"/>
            <a:ext cx="8228520" cy="3742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475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Анонимные методы</a:t>
            </a:r>
            <a:endParaRPr lang="ru-RU" sz="4400" b="0" strike="noStrike" spc="-1" dirty="0">
              <a:latin typeface="Arial"/>
            </a:endParaRPr>
          </a:p>
        </p:txBody>
      </p:sp>
      <p:sp>
        <p:nvSpPr>
          <p:cNvPr id="252" name="Объект 2"/>
          <p:cNvSpPr/>
          <p:nvPr/>
        </p:nvSpPr>
        <p:spPr>
          <a:xfrm>
            <a:off x="336960" y="1396181"/>
            <a:ext cx="8712000" cy="10422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ru-RU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5EA8D6-C9DD-4CDD-B11C-95E38B3924BF}"/>
              </a:ext>
            </a:extLst>
          </p:cNvPr>
          <p:cNvSpPr txBox="1"/>
          <p:nvPr/>
        </p:nvSpPr>
        <p:spPr>
          <a:xfrm>
            <a:off x="457200" y="1205345"/>
            <a:ext cx="834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Добавим вывод о генерации 0 элемента в матрице на консоль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D92EDA8-BE07-4B2A-89B9-CD4ECD669B95}"/>
              </a:ext>
            </a:extLst>
          </p:cNvPr>
          <p:cNvSpPr/>
          <p:nvPr/>
        </p:nvSpPr>
        <p:spPr>
          <a:xfrm>
            <a:off x="120960" y="1788206"/>
            <a:ext cx="8863035" cy="18759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Matr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 . . . . 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MatrixHandler? createNumber;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MatrixHandler? createZero;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. . . . . .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2F544E7-558A-40CA-951C-D2D9AFA19F72}"/>
              </a:ext>
            </a:extLst>
          </p:cNvPr>
          <p:cNvSpPr/>
          <p:nvPr/>
        </p:nvSpPr>
        <p:spPr>
          <a:xfrm>
            <a:off x="120960" y="3877680"/>
            <a:ext cx="8863035" cy="27056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args)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. . . . . .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m1.createZero +=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Console.WriteLine(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Генерация 0 в матрице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m1.Name}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};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m2.createZero +=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 Console.WriteLine(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Генерация 0 в матрице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m1.Name}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};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. . . . . .</a:t>
            </a:r>
          </a:p>
          <a:p>
            <a:endParaRPr 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416A7B-1070-431B-9E9F-BD683435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324" y="2651929"/>
            <a:ext cx="4044627" cy="3612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Лямбда-выражения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58" name="Объект 4"/>
          <p:cNvSpPr/>
          <p:nvPr/>
        </p:nvSpPr>
        <p:spPr>
          <a:xfrm>
            <a:off x="107640" y="1600200"/>
            <a:ext cx="892800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80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Лямбда-выражения (lambda expressions) являются новой конструкцией в С# 3.0 и могут упрощать некоторые аспекты программирования на языке С#.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Лямбда-исчисление лежит в основе функциональных языков программирования.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Выражение в лямбда-исчислении представлено в префиксной форме: 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+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b </a:t>
            </a:r>
            <a:r>
              <a:rPr lang="en-US" sz="3200" b="0" i="1" strike="noStrike" spc="-1">
                <a:solidFill>
                  <a:srgbClr val="000000"/>
                </a:solidFill>
                <a:latin typeface="Wingdings"/>
                <a:ea typeface="DejaVu Sans"/>
              </a:rPr>
              <a:t>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+(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b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λx</a:t>
            </a:r>
            <a:r>
              <a:rPr lang="ru-RU" sz="32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 (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λ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абстракция) – это выражение, определяющее функцию, где  х – формальный параметр функции. Например </a:t>
            </a: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λx</a:t>
            </a:r>
            <a:r>
              <a:rPr lang="ru-RU" sz="32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.+х1 </a:t>
            </a:r>
            <a:r>
              <a:rPr lang="en-US" sz="3200" b="0" i="1" strike="noStrike" spc="-1">
                <a:solidFill>
                  <a:srgbClr val="000000"/>
                </a:solidFill>
                <a:latin typeface="Wingdings"/>
                <a:ea typeface="DejaVu Sans"/>
              </a:rPr>
              <a:t>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x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+1, +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1 – тело функции.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32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λx</a:t>
            </a:r>
            <a:r>
              <a:rPr lang="ru-RU" sz="3200" b="1" i="1" strike="noStrike" spc="-1">
                <a:solidFill>
                  <a:srgbClr val="000000"/>
                </a:solidFill>
                <a:latin typeface="Calibri"/>
                <a:ea typeface="DejaVu Sans"/>
              </a:rPr>
              <a:t>.+х1) 4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3200" b="0" i="1" strike="noStrike" spc="-1">
                <a:solidFill>
                  <a:srgbClr val="000000"/>
                </a:solidFill>
                <a:latin typeface="Wingdings"/>
                <a:ea typeface="DejaVu Sans"/>
              </a:rPr>
              <a:t>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f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x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){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return x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+1;}, 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                </a:t>
            </a:r>
            <a:r>
              <a:rPr lang="en-US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f</a:t>
            </a:r>
            <a:r>
              <a:rPr lang="ru-RU" sz="3200" b="0" i="1" strike="noStrike" spc="-1">
                <a:solidFill>
                  <a:srgbClr val="000000"/>
                </a:solidFill>
                <a:latin typeface="Calibri"/>
                <a:ea typeface="DejaVu Sans"/>
              </a:rPr>
              <a:t>(4), т. е. 4 – фактический параметр функции.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Заголовок 1"/>
          <p:cNvSpPr/>
          <p:nvPr/>
        </p:nvSpPr>
        <p:spPr>
          <a:xfrm>
            <a:off x="395640" y="11664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Лямбда-выражения 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60" name="Объект 2"/>
          <p:cNvSpPr/>
          <p:nvPr/>
        </p:nvSpPr>
        <p:spPr>
          <a:xfrm>
            <a:off x="457200" y="1268640"/>
            <a:ext cx="8228520" cy="547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710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Лямбда-выражения можно использовать для упрощения синтаксиса анонимных методов.</a:t>
            </a:r>
            <a:endParaRPr lang="ru-RU" sz="32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Лямбда-выражение состоит  из трех частей: </a:t>
            </a:r>
            <a:endParaRPr lang="ru-RU" sz="32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список (</a:t>
            </a:r>
            <a:r>
              <a:rPr lang="ru-RU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нетипизированных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 параметров; </a:t>
            </a:r>
            <a:endParaRPr lang="ru-RU" sz="28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операция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=&gt;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 </a:t>
            </a:r>
            <a:endParaRPr lang="ru-RU" sz="2800" b="0" strike="noStrike" spc="-1" dirty="0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оператор.</a:t>
            </a:r>
            <a:endParaRPr lang="ru-RU" sz="2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1" u="sng" strike="noStrike" spc="-1" dirty="0">
                <a:solidFill>
                  <a:srgbClr val="000000"/>
                </a:solidFill>
                <a:uFillTx/>
                <a:latin typeface="Calibri"/>
                <a:ea typeface="DejaVu Sans"/>
              </a:rPr>
              <a:t>Пример:</a:t>
            </a:r>
            <a:endParaRPr lang="ru-RU" sz="3200" b="0" strike="noStrike" spc="-1" dirty="0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x =&gt; x * x /*задает параметр с именем x и возвращает квадрат значения x*/</a:t>
            </a:r>
            <a:endParaRPr lang="ru-RU" sz="2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Можно назначить это выражение типу делегата:</a:t>
            </a:r>
            <a:endParaRPr lang="ru-RU" sz="3200" b="0" strike="noStrike" spc="-1" dirty="0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delegate int Function(int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); </a:t>
            </a:r>
            <a:endParaRPr lang="ru-RU" sz="2800" b="0" strike="noStrike" spc="-1" dirty="0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static void Main(string[] args) </a:t>
            </a:r>
            <a:endParaRPr lang="ru-RU" sz="2800" b="0" strike="noStrike" spc="-1" dirty="0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{ </a:t>
            </a:r>
            <a:endParaRPr lang="ru-RU" sz="2800" b="0" strike="noStrike" spc="-1" dirty="0">
              <a:latin typeface="Arial"/>
            </a:endParaRPr>
          </a:p>
          <a:p>
            <a:pPr marL="800280">
              <a:lnSpc>
                <a:spcPct val="100000"/>
              </a:lnSpc>
              <a:spcBef>
                <a:spcPts val="519"/>
              </a:spcBef>
              <a:tabLst>
                <a:tab pos="0" algn="l"/>
              </a:tabLst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Function </a:t>
            </a:r>
            <a:r>
              <a:rPr lang="en-US" sz="2600" spc="-1" dirty="0" err="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qr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= x =&gt; x * x; </a:t>
            </a:r>
            <a:endParaRPr lang="ru-RU" sz="2600" b="0" strike="noStrike" spc="-1" dirty="0">
              <a:latin typeface="Arial"/>
            </a:endParaRPr>
          </a:p>
          <a:p>
            <a:pPr marL="800280">
              <a:lnSpc>
                <a:spcPct val="100000"/>
              </a:lnSpc>
              <a:spcBef>
                <a:spcPts val="519"/>
              </a:spcBef>
              <a:tabLst>
                <a:tab pos="0" algn="l"/>
              </a:tabLst>
            </a:pP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 j = </a:t>
            </a:r>
            <a:r>
              <a:rPr lang="en-US" sz="2600" spc="-1" dirty="0" err="1">
                <a:solidFill>
                  <a:srgbClr val="000000"/>
                </a:solidFill>
                <a:latin typeface="Calibri"/>
                <a:ea typeface="DejaVu Sans"/>
              </a:rPr>
              <a:t>S</a:t>
            </a:r>
            <a:r>
              <a:rPr lang="en-US" sz="26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qr</a:t>
            </a:r>
            <a:r>
              <a:rPr lang="en-US" sz="26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(5);</a:t>
            </a:r>
            <a:endParaRPr lang="ru-RU" sz="2600" b="0" strike="noStrike" spc="-1" dirty="0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2800" b="0" strike="noStrike" spc="-1" dirty="0">
              <a:latin typeface="Arial"/>
            </a:endParaRPr>
          </a:p>
          <a:p>
            <a:pPr marL="399960"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Параметры лямбда-выражений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62" name="Объект 4"/>
          <p:cNvSpPr/>
          <p:nvPr/>
        </p:nvSpPr>
        <p:spPr>
          <a:xfrm>
            <a:off x="457200" y="1600200"/>
            <a:ext cx="8228520" cy="506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665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Типы операндов, используемых в лямбда-выражении не определяются: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paramA, paramB) =&gt; paramA + paramB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Типы операндов можно определить: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(int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paramA, int paramB) =&gt; paramA + paramB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>
                <a:solidFill>
                  <a:srgbClr val="FF0000"/>
                </a:solidFill>
                <a:latin typeface="Calibri"/>
                <a:ea typeface="DejaVu Sans"/>
              </a:rPr>
              <a:t>ошибка!!!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int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paramA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paramB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) =&gt;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paramA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 +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paramB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; 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Если параметр только один, то круглые скобки можно опустить: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paramA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 =&gt;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paramA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 +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А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FF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>
                <a:solidFill>
                  <a:srgbClr val="FF0000"/>
                </a:solidFill>
                <a:latin typeface="Calibri"/>
                <a:ea typeface="DejaVu Sans"/>
              </a:rPr>
              <a:t>ошибка!!!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paramA, paramB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=&gt; paramA + paramB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определять лямбда-выражения, не имеющие параметров: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() =&gt; Math.PI;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Тело операторов лямбда-выражений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64" name="Объект 2"/>
          <p:cNvSpPr/>
          <p:nvPr/>
        </p:nvSpPr>
        <p:spPr>
          <a:xfrm>
            <a:off x="202679" y="1600200"/>
            <a:ext cx="8622665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760"/>
              </a:spcBef>
              <a:tabLst>
                <a:tab pos="0" algn="l"/>
              </a:tabLst>
            </a:pPr>
            <a:r>
              <a:rPr lang="ru-RU" sz="3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 лямбда-выражении можно использовать несколько  операторов:</a:t>
            </a:r>
            <a:endParaRPr lang="ru-RU" sz="3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param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1, 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param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2) =&gt; 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{ 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// Здесь идет несколько операторов. 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//если результат отличен от </a:t>
            </a:r>
            <a:r>
              <a:rPr lang="ru-RU" sz="2800" b="1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void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[</a:t>
            </a:r>
            <a:r>
              <a:rPr lang="en-US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return </a:t>
            </a: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результат]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Заголовок 1"/>
          <p:cNvSpPr/>
          <p:nvPr/>
        </p:nvSpPr>
        <p:spPr>
          <a:xfrm>
            <a:off x="457200" y="274680"/>
            <a:ext cx="8228520" cy="3742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47500" lnSpcReduction="2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Анонимные методы</a:t>
            </a:r>
            <a:endParaRPr lang="ru-RU" sz="4400" b="0" strike="noStrike" spc="-1" dirty="0">
              <a:latin typeface="Arial"/>
            </a:endParaRPr>
          </a:p>
        </p:txBody>
      </p:sp>
      <p:sp>
        <p:nvSpPr>
          <p:cNvPr id="252" name="Объект 2"/>
          <p:cNvSpPr/>
          <p:nvPr/>
        </p:nvSpPr>
        <p:spPr>
          <a:xfrm>
            <a:off x="336960" y="1396181"/>
            <a:ext cx="8712000" cy="10422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  <a:spcBef>
                <a:spcPts val="320"/>
              </a:spcBef>
              <a:tabLst>
                <a:tab pos="0" algn="l"/>
              </a:tabLst>
            </a:pPr>
            <a:endParaRPr lang="ru-RU" sz="2400" b="0" strike="noStrike" spc="-1" dirty="0">
              <a:latin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5EA8D6-C9DD-4CDD-B11C-95E38B3924BF}"/>
              </a:ext>
            </a:extLst>
          </p:cNvPr>
          <p:cNvSpPr txBox="1"/>
          <p:nvPr/>
        </p:nvSpPr>
        <p:spPr>
          <a:xfrm>
            <a:off x="457200" y="1205345"/>
            <a:ext cx="8349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Добавим вывод о генерации 0 элемента в матрице на консоль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D92EDA8-BE07-4B2A-89B9-CD4ECD669B95}"/>
              </a:ext>
            </a:extLst>
          </p:cNvPr>
          <p:cNvSpPr/>
          <p:nvPr/>
        </p:nvSpPr>
        <p:spPr>
          <a:xfrm>
            <a:off x="139942" y="1691263"/>
            <a:ext cx="8863035" cy="187594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internal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Matr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. . . . . 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MatrixHandler? createNumber;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event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MatrixHandler? createZero;</a:t>
            </a:r>
            <a:endParaRPr lang="ru-RU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. . . . . .</a:t>
            </a:r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2F544E7-558A-40CA-951C-D2D9AFA19F72}"/>
              </a:ext>
            </a:extLst>
          </p:cNvPr>
          <p:cNvSpPr/>
          <p:nvPr/>
        </p:nvSpPr>
        <p:spPr>
          <a:xfrm>
            <a:off x="120960" y="3683794"/>
            <a:ext cx="8863035" cy="302180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[] args)</a:t>
            </a:r>
          </a:p>
          <a:p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. . . . . .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m1.createZero +=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source,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MatrixEventArgs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e) 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 Console.WriteLine(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Генерация 0 в матрице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m1.Name}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};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m2.createZero +=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delegate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source,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MatrixEventArgs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e)  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 Console.WriteLine(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$"</a:t>
            </a:r>
            <a:r>
              <a:rPr lang="ru-RU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Генерация 0 в матрице </a:t>
            </a:r>
            <a:r>
              <a:rPr lang="ru-RU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m1.Name}</a:t>
            </a:r>
            <a:r>
              <a:rPr lang="en-US" sz="1800" dirty="0">
                <a:solidFill>
                  <a:srgbClr val="A31515"/>
                </a:solidFill>
                <a:latin typeface="Cascadia Mono" panose="020B0609020000020004" pitchFamily="49" charset="0"/>
              </a:rPr>
              <a:t> "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 };</a:t>
            </a:r>
          </a:p>
          <a:p>
            <a:r>
              <a:rPr lang="ru-RU" dirty="0">
                <a:solidFill>
                  <a:srgbClr val="000000"/>
                </a:solidFill>
                <a:latin typeface="Cascadia Mono" panose="020B0609020000020004" pitchFamily="49" charset="0"/>
              </a:rPr>
              <a:t>. . . . . .</a:t>
            </a:r>
          </a:p>
          <a:p>
            <a:endParaRPr lang="ru-RU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F416A7B-1070-431B-9E9F-BD683435C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163" y="2151537"/>
            <a:ext cx="4044627" cy="361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38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000" b="1" strike="noStrike" spc="-1">
                <a:solidFill>
                  <a:srgbClr val="000000"/>
                </a:solidFill>
                <a:latin typeface="Calibri"/>
                <a:ea typeface="DejaVu Sans"/>
              </a:rPr>
              <a:t>Использование лямбда-выражений и анонимных методов</a:t>
            </a:r>
            <a:endParaRPr lang="ru-RU" sz="4000" b="0" strike="noStrike" spc="-1">
              <a:latin typeface="Arial"/>
            </a:endParaRPr>
          </a:p>
        </p:txBody>
      </p:sp>
      <p:sp>
        <p:nvSpPr>
          <p:cNvPr id="267" name="Объект 2"/>
          <p:cNvSpPr/>
          <p:nvPr/>
        </p:nvSpPr>
        <p:spPr>
          <a:xfrm>
            <a:off x="457200" y="1600200"/>
            <a:ext cx="8228520" cy="506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55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При добавлении обработчика событий для какого-то события необходимо выполнить следующие шаги: </a:t>
            </a:r>
            <a:endParaRPr lang="ru-RU" sz="3200" b="0" strike="noStrike" spc="-1">
              <a:latin typeface="Arial"/>
            </a:endParaRPr>
          </a:p>
          <a:p>
            <a:pPr marL="914400" lvl="1" indent="-5133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Объявить переменную с типом делегата, используемого для события. </a:t>
            </a:r>
            <a:endParaRPr lang="ru-RU" sz="2800" b="0" strike="noStrike" spc="-1">
              <a:latin typeface="Arial"/>
            </a:endParaRPr>
          </a:p>
          <a:p>
            <a:pPr marL="914400" lvl="1" indent="-5133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Определить метод обработчика событий, причем так, чтобы его возвращаемый тип и параметры совпадали с возвращаемым типом и параметрами делегата, требуемого для подписываемого события. </a:t>
            </a:r>
            <a:endParaRPr lang="ru-RU" sz="2800" b="0" strike="noStrike" spc="-1">
              <a:latin typeface="Arial"/>
            </a:endParaRPr>
          </a:p>
          <a:p>
            <a:pPr marL="914400" lvl="1" indent="-5133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Инициализировать переменную делегата экземпляром типа делегата, который ссылается на метод обработчика событий. </a:t>
            </a:r>
            <a:endParaRPr lang="ru-RU" sz="2800" b="0" strike="noStrike" spc="-1">
              <a:latin typeface="Arial"/>
            </a:endParaRPr>
          </a:p>
          <a:p>
            <a:pPr marL="914400" lvl="1" indent="-51336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Calibri"/>
              <a:buAutoNum type="arabicPeriod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Добавить переменную делегата в список подписчиков события.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6500" lnSpcReduction="1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Использование лямбда-выражений и анонимных методов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69" name="Объект 3"/>
          <p:cNvSpPr/>
          <p:nvPr/>
        </p:nvSpPr>
        <p:spPr>
          <a:xfrm>
            <a:off x="4175280" y="1700640"/>
            <a:ext cx="496764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1000" lnSpcReduction="10000"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1 способ (полный)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Timer myTimer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=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new Timer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(100) ;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/* подписка на событие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Elapsed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объекта 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Timer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* /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myTimer.Elapsed += new ElapsedEventHandler(WriteChar);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2 способ (сокращенный)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myTimer.Elapsed += WriteChar;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</p:txBody>
      </p:sp>
      <p:sp>
        <p:nvSpPr>
          <p:cNvPr id="270" name="Объект 4"/>
          <p:cNvSpPr/>
          <p:nvPr/>
        </p:nvSpPr>
        <p:spPr>
          <a:xfrm>
            <a:off x="251640" y="1628640"/>
            <a:ext cx="352728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35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На практике обычно переменная для хранения делегата не используется, а экземпляр делегата просто используется при подписке на событие.</a:t>
            </a:r>
            <a:endParaRPr lang="ru-RU" sz="28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Компилятор С# сможет достигать точно такого же результата и с помощью даже меньшего количества кода.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fontScale="86500" lnSpcReduction="10000"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Использование лямбда-выражений и анонимных методов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72" name="Объект 2"/>
          <p:cNvSpPr/>
          <p:nvPr/>
        </p:nvSpPr>
        <p:spPr>
          <a:xfrm>
            <a:off x="457200" y="1600200"/>
            <a:ext cx="43297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8000"/>
          </a:bodyPr>
          <a:lstStyle/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US" sz="21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myTimer.Elapsed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+= </a:t>
            </a:r>
            <a:r>
              <a:rPr lang="en-US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delegate(object source, </a:t>
            </a:r>
            <a:r>
              <a:rPr lang="en-US" sz="2100" b="1" strike="noStrike" spc="-1" dirty="0" err="1">
                <a:solidFill>
                  <a:srgbClr val="FF0000"/>
                </a:solidFill>
                <a:latin typeface="Calibri"/>
                <a:ea typeface="DejaVu Sans"/>
              </a:rPr>
              <a:t>ElapsedEventArgs</a:t>
            </a:r>
            <a:r>
              <a:rPr lang="en-US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 e) </a:t>
            </a:r>
            <a:endParaRPr lang="ru-RU" sz="2100" b="0" strike="noStrike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ru-RU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{ </a:t>
            </a:r>
            <a:endParaRPr lang="ru-RU" sz="2100" b="0" strike="noStrike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Console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WriteLine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("Обработчик события будет вызван через  {0} миллисекунд.", (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source as Timer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Interval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); </a:t>
            </a: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ru-RU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};</a:t>
            </a:r>
            <a:endParaRPr lang="ru-RU" sz="2100" b="0" strike="noStrike" spc="-1" dirty="0">
              <a:solidFill>
                <a:srgbClr val="FF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1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tabLst>
                <a:tab pos="0" algn="l"/>
              </a:tabLst>
            </a:pPr>
            <a:r>
              <a:rPr lang="en-US" sz="21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myTimer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lang="en-US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Elapsed</a:t>
            </a:r>
            <a:r>
              <a:rPr lang="ru-RU" sz="21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+= </a:t>
            </a:r>
            <a:r>
              <a:rPr lang="ru-RU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(</a:t>
            </a:r>
            <a:r>
              <a:rPr lang="en-US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source</a:t>
            </a:r>
            <a:r>
              <a:rPr lang="ru-RU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, </a:t>
            </a:r>
            <a:r>
              <a:rPr lang="en-US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e</a:t>
            </a:r>
            <a:r>
              <a:rPr lang="ru-RU" sz="2100" b="1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) =&gt; </a:t>
            </a:r>
            <a:r>
              <a:rPr lang="en-US" sz="21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Console</a:t>
            </a:r>
            <a:r>
              <a:rPr lang="ru-RU" sz="21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r>
              <a:rPr lang="en-US" sz="21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WriteLine</a:t>
            </a:r>
            <a:r>
              <a:rPr lang="ru-RU" sz="21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("Обработчик события будет вызван через {0} миллисекунд.", (</a:t>
            </a:r>
            <a:r>
              <a:rPr lang="en-US" sz="21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source as Timer</a:t>
            </a:r>
            <a:r>
              <a:rPr lang="ru-RU" sz="21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).</a:t>
            </a:r>
            <a:r>
              <a:rPr lang="en-US" sz="21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Interval</a:t>
            </a:r>
            <a:r>
              <a:rPr lang="ru-RU" sz="21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);</a:t>
            </a:r>
            <a:endParaRPr lang="ru-RU" sz="210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100" b="0" strike="noStrike" spc="-1" dirty="0">
              <a:latin typeface="Arial"/>
            </a:endParaRPr>
          </a:p>
        </p:txBody>
      </p:sp>
      <p:sp>
        <p:nvSpPr>
          <p:cNvPr id="273" name="Объект 3"/>
          <p:cNvSpPr/>
          <p:nvPr/>
        </p:nvSpPr>
        <p:spPr>
          <a:xfrm>
            <a:off x="4648320" y="1600200"/>
            <a:ext cx="403740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lnSpcReduction="10000"/>
          </a:bodyPr>
          <a:lstStyle/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3 способ (анонимные методы)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4 способ (лямбда-выражения)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</a:pP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Заголовок 1"/>
          <p:cNvSpPr/>
          <p:nvPr/>
        </p:nvSpPr>
        <p:spPr>
          <a:xfrm>
            <a:off x="457200" y="274680"/>
            <a:ext cx="8228520" cy="205288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3600" spc="-1" dirty="0">
                <a:solidFill>
                  <a:srgbClr val="000000"/>
                </a:solidFill>
                <a:latin typeface="Calibri"/>
                <a:ea typeface="DejaVu Sans"/>
              </a:rPr>
              <a:t>Использование анонимных делегатов и лямбда-выражений  для передачи параметров в функцию</a:t>
            </a:r>
            <a:endParaRPr lang="ru-RU" sz="3600" b="0" strike="noStrike" spc="-1" dirty="0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8A0508-4311-4B39-A603-D5CC4AF80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9047"/>
            <a:ext cx="9144000" cy="431427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 </a:t>
            </a:r>
            <a:r>
              <a:rPr lang="fr-FR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Action&lt;T&gt;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80" name="Объект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25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fr-FR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public delegate void Action&lt;T&gt;(T obj)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Данный делегат имеет ряд перегруженных версий. Каждая версия принимает разное число параметров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можно передать до 16 значений в метод.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Как правило, этот делегат передается в качестве параметра метода и предусматривает вызов определенных действий в ответ на произошедшие действия.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 </a:t>
            </a:r>
            <a:r>
              <a:rPr lang="fr-FR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Action&lt;T&gt;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D73AB3-9FE1-4740-99A5-862404B712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0" y="1833854"/>
            <a:ext cx="9144000" cy="4326364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Func&lt;T&gt;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88" name="Объект 2"/>
          <p:cNvSpPr/>
          <p:nvPr/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0000" lnSpcReduction="20000"/>
          </a:bodyPr>
          <a:lstStyle/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 Func</a:t>
            </a: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&lt;T&gt;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возвращает результат действия и может принимать параметры. 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Он также имеет различные формы: от Func&lt;out T&gt;(), где T - тип возвращаемого значения, до Func&lt;in T1, in T2,...in T16, </a:t>
            </a:r>
            <a:r>
              <a:rPr lang="ru-RU" sz="3200" b="1" strike="noStrike" spc="-1">
                <a:solidFill>
                  <a:srgbClr val="000000"/>
                </a:solidFill>
                <a:latin typeface="Calibri"/>
                <a:ea typeface="DejaVu Sans"/>
              </a:rPr>
              <a:t>out</a:t>
            </a: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 TResult&gt;(), то есть может принимать до 16 параметров.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TResult Func&lt;out TResult&gt;()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TResult Func&lt;in T, out TResult&gt;(T arg)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TResult Func&lt;in T1, in T2, out TResult&gt;(T1 arg1, T2 arg2)</a:t>
            </a:r>
            <a:endParaRPr lang="ru-RU" sz="3200" b="0" strike="noStrike" spc="-1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strike="noStrike" spc="-1">
                <a:solidFill>
                  <a:srgbClr val="000000"/>
                </a:solidFill>
                <a:latin typeface="Calibri"/>
                <a:ea typeface="DejaVu Sans"/>
              </a:rPr>
              <a:t>и т.д.</a:t>
            </a:r>
            <a:endParaRPr lang="ru-RU" sz="32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ru-RU" sz="3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 </a:t>
            </a:r>
            <a:r>
              <a:rPr lang="en-US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Func&lt;T&gt;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94E596-DC37-46D7-86B2-35BEEBEB8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3173"/>
            <a:ext cx="9144000" cy="4011653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 </a:t>
            </a:r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Predicate&lt;T&gt;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85" name="Объект 2"/>
          <p:cNvSpPr/>
          <p:nvPr/>
        </p:nvSpPr>
        <p:spPr>
          <a:xfrm>
            <a:off x="179639" y="1628640"/>
            <a:ext cx="8784251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95500"/>
          </a:bodyPr>
          <a:lstStyle/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Делегат </a:t>
            </a:r>
            <a:r>
              <a:rPr lang="ru-RU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Predicate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&lt;T&gt;, как правило, используется для сравнения, сопоставления некоторого объекта T определенному условию. </a:t>
            </a:r>
            <a:endParaRPr lang="ru-RU" sz="2800" b="0" strike="noStrike" spc="-1" dirty="0">
              <a:latin typeface="Arial"/>
            </a:endParaRPr>
          </a:p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В качестве выходного результата возвращается значение </a:t>
            </a:r>
            <a:r>
              <a:rPr lang="ru-RU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true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если условие соблюдено, и </a:t>
            </a:r>
            <a:r>
              <a:rPr lang="ru-RU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false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, если не соблюдено</a:t>
            </a: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 </a:t>
            </a:r>
            <a:r>
              <a:rPr lang="en-US" sz="4400" b="1" strike="noStrike" spc="-1">
                <a:solidFill>
                  <a:srgbClr val="000000"/>
                </a:solidFill>
                <a:latin typeface="Calibri"/>
                <a:ea typeface="DejaVu Sans"/>
              </a:rPr>
              <a:t>Predicate&lt;T&gt;</a:t>
            </a:r>
            <a:endParaRPr lang="ru-RU" sz="4400" b="0" strike="noStrike" spc="-1">
              <a:latin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FFFD04-8E3B-4A07-B9F0-6D85C1BB5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61" y="1441896"/>
            <a:ext cx="7478793" cy="541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2527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Заголовок 1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Задача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93" name="Объект 3"/>
          <p:cNvSpPr/>
          <p:nvPr/>
        </p:nvSpPr>
        <p:spPr>
          <a:xfrm>
            <a:off x="701280" y="1553400"/>
            <a:ext cx="403740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В коллекции целых чисел найти:</a:t>
            </a:r>
            <a:endParaRPr lang="ru-RU" sz="28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Количество отрицательных чисел,</a:t>
            </a:r>
            <a:endParaRPr lang="ru-RU" sz="24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Количество положительных  чисел,</a:t>
            </a:r>
            <a:endParaRPr lang="ru-RU" sz="24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Минимальный элемент,</a:t>
            </a:r>
            <a:endParaRPr lang="ru-RU" sz="2400" b="0" strike="noStrike" spc="-1">
              <a:latin typeface="Arial"/>
            </a:endParaRPr>
          </a:p>
          <a:p>
            <a:pPr marL="743040" lvl="1" indent="-28476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Максимальный элемент.</a:t>
            </a:r>
            <a:endParaRPr lang="ru-RU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ru-RU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Заголовок 4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Делегаты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95" name="Объект 5"/>
          <p:cNvSpPr/>
          <p:nvPr/>
        </p:nvSpPr>
        <p:spPr>
          <a:xfrm>
            <a:off x="149400" y="1600200"/>
            <a:ext cx="434556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nb-NO" sz="2800" b="0" strike="sngStrike" spc="-1" dirty="0">
                <a:solidFill>
                  <a:srgbClr val="000000"/>
                </a:solidFill>
                <a:latin typeface="Calibri"/>
                <a:ea typeface="DejaVu Sans"/>
              </a:rPr>
              <a:t> //delegate int Handler(int x, int res);</a:t>
            </a:r>
            <a:endParaRPr lang="ru-RU" sz="2800" b="0" strike="sng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static int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ForEach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(int[]mas, int res, </a:t>
            </a:r>
            <a:r>
              <a:rPr lang="en-US" sz="2800" b="0" strike="noStrike" spc="-1" dirty="0" err="1">
                <a:solidFill>
                  <a:srgbClr val="FF0000"/>
                </a:solidFill>
                <a:latin typeface="Calibri"/>
                <a:ea typeface="DejaVu Sans"/>
              </a:rPr>
              <a:t>Func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&lt;</a:t>
            </a:r>
            <a:r>
              <a:rPr lang="en-US" sz="2800" b="0" strike="noStrike" spc="-1" dirty="0" err="1">
                <a:solidFill>
                  <a:srgbClr val="FF0000"/>
                </a:solidFill>
                <a:latin typeface="Calibri"/>
                <a:ea typeface="DejaVu Sans"/>
              </a:rPr>
              <a:t>int,int,int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&gt; h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{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for(int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=0;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&lt;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mas.Length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++)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{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    res = h(mas[i], res);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}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return res;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2800" b="0" strike="noStrike" spc="-1" dirty="0">
              <a:latin typeface="Arial"/>
            </a:endParaRPr>
          </a:p>
        </p:txBody>
      </p:sp>
      <p:sp>
        <p:nvSpPr>
          <p:cNvPr id="296" name="Объект 6"/>
          <p:cNvSpPr/>
          <p:nvPr/>
        </p:nvSpPr>
        <p:spPr>
          <a:xfrm>
            <a:off x="4413240" y="1600200"/>
            <a:ext cx="472968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8000"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static int CountNeg(int x, int count)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{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     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if (x &lt; 0) count++;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      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return count;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}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…..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Console.WriteLine($"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Количество отрицательных: {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ForEach(mas, res,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CountNeg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)}")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Заголовок 4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Анонимные методы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298" name="Объект 5"/>
          <p:cNvSpPr/>
          <p:nvPr/>
        </p:nvSpPr>
        <p:spPr>
          <a:xfrm>
            <a:off x="149400" y="1600200"/>
            <a:ext cx="434556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//delegate int Handler(int x, int res);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static int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ForEach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(int[]mas, int res, </a:t>
            </a:r>
            <a:r>
              <a:rPr lang="en-US" sz="2800" b="0" strike="noStrike" spc="-1" dirty="0" err="1">
                <a:solidFill>
                  <a:srgbClr val="FF0000"/>
                </a:solidFill>
                <a:latin typeface="Calibri"/>
                <a:ea typeface="DejaVu Sans"/>
              </a:rPr>
              <a:t>Func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&lt;</a:t>
            </a:r>
            <a:r>
              <a:rPr lang="en-US" sz="2800" b="0" strike="noStrike" spc="-1" dirty="0" err="1">
                <a:solidFill>
                  <a:srgbClr val="FF0000"/>
                </a:solidFill>
                <a:latin typeface="Calibri"/>
                <a:ea typeface="DejaVu Sans"/>
              </a:rPr>
              <a:t>int,int,int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&gt; h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{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for(int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=0;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&lt;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mas.Length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;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i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++)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{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pt-BR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    res = h(mas[i], res);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}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           return res;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2800" b="0" strike="noStrike" spc="-1" dirty="0">
              <a:latin typeface="Arial"/>
            </a:endParaRPr>
          </a:p>
        </p:txBody>
      </p:sp>
      <p:sp>
        <p:nvSpPr>
          <p:cNvPr id="299" name="Объект 6"/>
          <p:cNvSpPr/>
          <p:nvPr/>
        </p:nvSpPr>
        <p:spPr>
          <a:xfrm>
            <a:off x="4413240" y="1600200"/>
            <a:ext cx="472968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res = </a:t>
            </a:r>
            <a:r>
              <a:rPr lang="en-US" sz="2800" b="0" strike="noStrike" spc="-1" dirty="0" err="1">
                <a:solidFill>
                  <a:srgbClr val="FF0000"/>
                </a:solidFill>
                <a:latin typeface="Calibri"/>
                <a:ea typeface="DejaVu Sans"/>
              </a:rPr>
              <a:t>ForEach</a:t>
            </a: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(mas, res, delegate (int x, int m)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            {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                if (x &lt; 0) m++;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                return m;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 dirty="0">
                <a:solidFill>
                  <a:srgbClr val="FF0000"/>
                </a:solidFill>
                <a:latin typeface="Calibri"/>
                <a:ea typeface="DejaVu Sans"/>
              </a:rPr>
              <a:t>            });</a:t>
            </a:r>
            <a:endParaRPr lang="ru-RU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 dirty="0" err="1">
                <a:solidFill>
                  <a:srgbClr val="000000"/>
                </a:solidFill>
                <a:latin typeface="Calibri"/>
                <a:ea typeface="DejaVu Sans"/>
              </a:rPr>
              <a:t>Console.WriteLine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($"</a:t>
            </a:r>
            <a:r>
              <a:rPr lang="ru-RU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Количество отрицательных: {</a:t>
            </a: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res}");</a:t>
            </a:r>
            <a:endParaRPr lang="ru-RU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Заголовок 4"/>
          <p:cNvSpPr/>
          <p:nvPr/>
        </p:nvSpPr>
        <p:spPr>
          <a:xfrm>
            <a:off x="457200" y="274680"/>
            <a:ext cx="8228520" cy="114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"/>
                <a:ea typeface="DejaVu Sans"/>
              </a:rPr>
              <a:t>Лямбда-выражения</a:t>
            </a:r>
            <a:endParaRPr lang="ru-RU" sz="4400" b="0" strike="noStrike" spc="-1">
              <a:latin typeface="Arial"/>
            </a:endParaRPr>
          </a:p>
        </p:txBody>
      </p:sp>
      <p:sp>
        <p:nvSpPr>
          <p:cNvPr id="301" name="Объект 5"/>
          <p:cNvSpPr/>
          <p:nvPr/>
        </p:nvSpPr>
        <p:spPr>
          <a:xfrm>
            <a:off x="149400" y="1600200"/>
            <a:ext cx="434556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 fontScale="86000" lnSpcReduction="10000"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//delegate int Handler(int x, int res);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static int ForEach(int[]mas, int res,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Func&lt;int,int,int&gt; h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{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for(int i=0; i&lt;mas.Length; i++)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{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pt-BR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    res = h(mas[i], res);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}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          return res;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lang="ru-RU" sz="2800" b="0" strike="noStrike" spc="-1">
              <a:latin typeface="Arial"/>
            </a:endParaRPr>
          </a:p>
        </p:txBody>
      </p:sp>
      <p:sp>
        <p:nvSpPr>
          <p:cNvPr id="302" name="Объект 6"/>
          <p:cNvSpPr/>
          <p:nvPr/>
        </p:nvSpPr>
        <p:spPr>
          <a:xfrm>
            <a:off x="4413240" y="1600200"/>
            <a:ext cx="4729680" cy="452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rmAutofit/>
          </a:bodyPr>
          <a:lstStyle/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res = ForEach(mas, res, (int x, int m)=&gt;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            {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                if (x &lt; 0) res++;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                return res;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ru-RU" sz="2800" b="0" strike="noStrike" spc="-1">
                <a:solidFill>
                  <a:srgbClr val="FF0000"/>
                </a:solidFill>
                <a:latin typeface="Calibri"/>
                <a:ea typeface="DejaVu Sans"/>
              </a:rPr>
              <a:t>            });</a:t>
            </a:r>
            <a:endParaRPr lang="ru-RU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561"/>
              </a:spcBef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Console.WriteLine($"</a:t>
            </a:r>
            <a:r>
              <a:rPr lang="ru-RU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Количество отрицательных: {</a:t>
            </a:r>
            <a:r>
              <a:rPr lang="en-US" sz="2800" b="0" strike="noStrike" spc="-1">
                <a:solidFill>
                  <a:srgbClr val="000000"/>
                </a:solidFill>
                <a:latin typeface="Calibri"/>
                <a:ea typeface="DejaVu Sans"/>
              </a:rPr>
              <a:t>res}");</a:t>
            </a:r>
            <a:endParaRPr lang="ru-RU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2282</TotalTime>
  <Words>3549</Words>
  <Application>Microsoft Office PowerPoint</Application>
  <PresentationFormat>Экран (4:3)</PresentationFormat>
  <Paragraphs>497</Paragraphs>
  <Slides>57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57</vt:i4>
      </vt:variant>
    </vt:vector>
  </HeadingPairs>
  <TitlesOfParts>
    <vt:vector size="66" baseType="lpstr">
      <vt:lpstr>Arial</vt:lpstr>
      <vt:lpstr>Calibri</vt:lpstr>
      <vt:lpstr>Cascadia Mono</vt:lpstr>
      <vt:lpstr>Symbol</vt:lpstr>
      <vt:lpstr>Times New Roman</vt:lpstr>
      <vt:lpstr>Wingdings</vt:lpstr>
      <vt:lpstr>Office Theme</vt:lpstr>
      <vt:lpstr>Office Theme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Использование метода Invoke()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Задача 3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Объектно-событийное программирование</dc:title>
  <dc:subject/>
  <dc:creator>Ольга</dc:creator>
  <dc:description/>
  <cp:lastModifiedBy>Olga Vikenteva</cp:lastModifiedBy>
  <cp:revision>52</cp:revision>
  <dcterms:created xsi:type="dcterms:W3CDTF">2016-09-13T03:48:58Z</dcterms:created>
  <dcterms:modified xsi:type="dcterms:W3CDTF">2025-02-21T12:35:02Z</dcterms:modified>
  <dc:language>ru-RU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Экран (4:3)</vt:lpwstr>
  </property>
  <property fmtid="{D5CDD505-2E9C-101B-9397-08002B2CF9AE}" pid="4" name="Slides">
    <vt:i4>59</vt:i4>
  </property>
</Properties>
</file>
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6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327" r:id="rId16"/>
    <p:sldId id="326" r:id="rId17"/>
    <p:sldId id="268" r:id="rId18"/>
    <p:sldId id="265" r:id="rId19"/>
    <p:sldId id="269" r:id="rId20"/>
    <p:sldId id="270" r:id="rId21"/>
    <p:sldId id="320" r:id="rId22"/>
    <p:sldId id="271" r:id="rId23"/>
    <p:sldId id="272" r:id="rId24"/>
    <p:sldId id="276" r:id="rId25"/>
    <p:sldId id="278" r:id="rId26"/>
    <p:sldId id="328" r:id="rId27"/>
    <p:sldId id="280" r:id="rId28"/>
    <p:sldId id="329" r:id="rId29"/>
    <p:sldId id="282" r:id="rId30"/>
    <p:sldId id="283" r:id="rId31"/>
    <p:sldId id="284" r:id="rId32"/>
    <p:sldId id="285" r:id="rId33"/>
    <p:sldId id="330" r:id="rId34"/>
    <p:sldId id="331" r:id="rId35"/>
    <p:sldId id="332" r:id="rId36"/>
    <p:sldId id="333" r:id="rId37"/>
    <p:sldId id="293" r:id="rId38"/>
    <p:sldId id="334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21" r:id="rId57"/>
    <p:sldId id="335" r:id="rId58"/>
    <p:sldId id="322" r:id="rId59"/>
    <p:sldId id="323" r:id="rId6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0A7EF-8259-C494-699E-88AA9DD618CD}" v="2" dt="2025-05-11T11:20:37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97" autoAdjust="0"/>
  </p:normalViewPr>
  <p:slideViewPr>
    <p:cSldViewPr snapToGrid="0">
      <p:cViewPr varScale="1">
        <p:scale>
          <a:sx n="67" d="100"/>
          <a:sy n="67" d="100"/>
        </p:scale>
        <p:origin x="19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Vikenteva" userId="8d6471a35df9b40c" providerId="Windows Live" clId="Web-{5370A7EF-8259-C494-699E-88AA9DD618CD}"/>
    <pc:docChg chg="addSld delSld">
      <pc:chgData name="Olga Vikenteva" userId="8d6471a35df9b40c" providerId="Windows Live" clId="Web-{5370A7EF-8259-C494-699E-88AA9DD618CD}" dt="2025-05-11T11:20:37.505" v="1"/>
      <pc:docMkLst>
        <pc:docMk/>
      </pc:docMkLst>
      <pc:sldChg chg="new del">
        <pc:chgData name="Olga Vikenteva" userId="8d6471a35df9b40c" providerId="Windows Live" clId="Web-{5370A7EF-8259-C494-699E-88AA9DD618CD}" dt="2025-05-11T11:20:37.505" v="1"/>
        <pc:sldMkLst>
          <pc:docMk/>
          <pc:sldMk cId="1306320287" sldId="33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27CB9-DEC3-465A-AB2C-0087D1E9EC82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994C61E-4CDD-4203-9F5E-7BFE13315B93}">
      <dgm:prSet phldrT="[Текст]"/>
      <dgm:spPr/>
      <dgm:t>
        <a:bodyPr/>
        <a:lstStyle/>
        <a:p>
          <a:r>
            <a:rPr lang="en-US" dirty="0"/>
            <a:t>LINQ</a:t>
          </a:r>
          <a:endParaRPr lang="ru-RU" dirty="0"/>
        </a:p>
      </dgm:t>
    </dgm:pt>
    <dgm:pt modelId="{852449D8-ACEB-4708-8A36-A4FB71735199}" type="parTrans" cxnId="{6C01BDC4-7988-41F9-BF03-4FB333D734ED}">
      <dgm:prSet/>
      <dgm:spPr/>
      <dgm:t>
        <a:bodyPr/>
        <a:lstStyle/>
        <a:p>
          <a:endParaRPr lang="ru-RU"/>
        </a:p>
      </dgm:t>
    </dgm:pt>
    <dgm:pt modelId="{8369CEF5-B61E-434F-8FAB-C0EDC3C7A709}" type="sibTrans" cxnId="{6C01BDC4-7988-41F9-BF03-4FB333D734ED}">
      <dgm:prSet/>
      <dgm:spPr/>
      <dgm:t>
        <a:bodyPr/>
        <a:lstStyle/>
        <a:p>
          <a:endParaRPr lang="ru-RU"/>
        </a:p>
      </dgm:t>
    </dgm:pt>
    <dgm:pt modelId="{FA0AC10E-EBCB-4718-ACB1-9078CD6FA867}">
      <dgm:prSet phldrT="[Текст]"/>
      <dgm:spPr/>
      <dgm:t>
        <a:bodyPr/>
        <a:lstStyle/>
        <a:p>
          <a:r>
            <a:rPr lang="ru-RU" dirty="0"/>
            <a:t>Отложенные операции</a:t>
          </a:r>
        </a:p>
      </dgm:t>
    </dgm:pt>
    <dgm:pt modelId="{E62D5FB5-B4D7-48AC-81B6-9F7D2C808D85}" type="parTrans" cxnId="{1C3FC24D-4C77-4ECC-93F6-9C38BA9685D7}">
      <dgm:prSet/>
      <dgm:spPr/>
      <dgm:t>
        <a:bodyPr/>
        <a:lstStyle/>
        <a:p>
          <a:endParaRPr lang="ru-RU"/>
        </a:p>
      </dgm:t>
    </dgm:pt>
    <dgm:pt modelId="{370DECBB-5698-461A-950E-F0ABFC8BCE13}" type="sibTrans" cxnId="{1C3FC24D-4C77-4ECC-93F6-9C38BA9685D7}">
      <dgm:prSet/>
      <dgm:spPr/>
      <dgm:t>
        <a:bodyPr/>
        <a:lstStyle/>
        <a:p>
          <a:endParaRPr lang="ru-RU"/>
        </a:p>
      </dgm:t>
    </dgm:pt>
    <dgm:pt modelId="{29158208-504D-4F6B-93A5-CA444C6BD727}">
      <dgm:prSet phldrT="[Текст]"/>
      <dgm:spPr/>
      <dgm:t>
        <a:bodyPr/>
        <a:lstStyle/>
        <a:p>
          <a:r>
            <a:rPr lang="ru-RU" dirty="0"/>
            <a:t>Немедленные операции</a:t>
          </a:r>
        </a:p>
      </dgm:t>
    </dgm:pt>
    <dgm:pt modelId="{E32775C7-00B3-4303-845B-27163FC00702}" type="parTrans" cxnId="{6A4ED79F-0B49-45D8-BF55-6D476194661C}">
      <dgm:prSet/>
      <dgm:spPr/>
      <dgm:t>
        <a:bodyPr/>
        <a:lstStyle/>
        <a:p>
          <a:endParaRPr lang="ru-RU"/>
        </a:p>
      </dgm:t>
    </dgm:pt>
    <dgm:pt modelId="{D4A0AAD8-48FA-4112-86BE-27A1696D5B9D}" type="sibTrans" cxnId="{6A4ED79F-0B49-45D8-BF55-6D476194661C}">
      <dgm:prSet/>
      <dgm:spPr/>
      <dgm:t>
        <a:bodyPr/>
        <a:lstStyle/>
        <a:p>
          <a:endParaRPr lang="ru-RU"/>
        </a:p>
      </dgm:t>
    </dgm:pt>
    <dgm:pt modelId="{4BAAAC56-B127-4778-9320-5C3AE4C0EDBC}" type="pres">
      <dgm:prSet presAssocID="{C7127CB9-DEC3-465A-AB2C-0087D1E9EC82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A140FB7-6D30-4AA4-91F6-4CB9E62061F2}" type="pres">
      <dgm:prSet presAssocID="{5994C61E-4CDD-4203-9F5E-7BFE13315B93}" presName="hierRoot1" presStyleCnt="0">
        <dgm:presLayoutVars>
          <dgm:hierBranch val="init"/>
        </dgm:presLayoutVars>
      </dgm:prSet>
      <dgm:spPr/>
    </dgm:pt>
    <dgm:pt modelId="{016A0070-E526-4DCE-AD74-88D992239573}" type="pres">
      <dgm:prSet presAssocID="{5994C61E-4CDD-4203-9F5E-7BFE13315B93}" presName="rootComposite1" presStyleCnt="0"/>
      <dgm:spPr/>
    </dgm:pt>
    <dgm:pt modelId="{28908739-53C3-442E-A5F9-957F368B196C}" type="pres">
      <dgm:prSet presAssocID="{5994C61E-4CDD-4203-9F5E-7BFE13315B93}" presName="rootText1" presStyleLbl="alignAcc1" presStyleIdx="0" presStyleCnt="0" custLinFactNeighborY="20364">
        <dgm:presLayoutVars>
          <dgm:chPref val="3"/>
        </dgm:presLayoutVars>
      </dgm:prSet>
      <dgm:spPr/>
    </dgm:pt>
    <dgm:pt modelId="{75E6BDB7-8441-492A-850D-03D1DC4B2B3D}" type="pres">
      <dgm:prSet presAssocID="{5994C61E-4CDD-4203-9F5E-7BFE13315B93}" presName="topArc1" presStyleLbl="parChTrans1D1" presStyleIdx="0" presStyleCnt="6"/>
      <dgm:spPr/>
    </dgm:pt>
    <dgm:pt modelId="{4C2C18EF-D0F0-4C47-A95E-D8DE91D55E61}" type="pres">
      <dgm:prSet presAssocID="{5994C61E-4CDD-4203-9F5E-7BFE13315B93}" presName="bottomArc1" presStyleLbl="parChTrans1D1" presStyleIdx="1" presStyleCnt="6"/>
      <dgm:spPr/>
    </dgm:pt>
    <dgm:pt modelId="{16B10B4C-56B8-431F-853F-AA13419C185A}" type="pres">
      <dgm:prSet presAssocID="{5994C61E-4CDD-4203-9F5E-7BFE13315B93}" presName="topConnNode1" presStyleLbl="node1" presStyleIdx="0" presStyleCnt="0"/>
      <dgm:spPr/>
    </dgm:pt>
    <dgm:pt modelId="{F86F407C-45AD-4595-A830-DD9458F68925}" type="pres">
      <dgm:prSet presAssocID="{5994C61E-4CDD-4203-9F5E-7BFE13315B93}" presName="hierChild2" presStyleCnt="0"/>
      <dgm:spPr/>
    </dgm:pt>
    <dgm:pt modelId="{618457C8-B0A5-418C-AD31-3094BCD1C518}" type="pres">
      <dgm:prSet presAssocID="{E62D5FB5-B4D7-48AC-81B6-9F7D2C808D85}" presName="Name28" presStyleLbl="parChTrans1D2" presStyleIdx="0" presStyleCnt="2"/>
      <dgm:spPr/>
    </dgm:pt>
    <dgm:pt modelId="{08CA55AB-BC94-4188-B2F8-04B8A48105DE}" type="pres">
      <dgm:prSet presAssocID="{FA0AC10E-EBCB-4718-ACB1-9078CD6FA867}" presName="hierRoot2" presStyleCnt="0">
        <dgm:presLayoutVars>
          <dgm:hierBranch val="init"/>
        </dgm:presLayoutVars>
      </dgm:prSet>
      <dgm:spPr/>
    </dgm:pt>
    <dgm:pt modelId="{65F0A231-0379-4ADD-B5A6-EBE29AD0445F}" type="pres">
      <dgm:prSet presAssocID="{FA0AC10E-EBCB-4718-ACB1-9078CD6FA867}" presName="rootComposite2" presStyleCnt="0"/>
      <dgm:spPr/>
    </dgm:pt>
    <dgm:pt modelId="{1D19CB1B-A82D-4AC4-B0AC-E1EFC34B2972}" type="pres">
      <dgm:prSet presAssocID="{FA0AC10E-EBCB-4718-ACB1-9078CD6FA867}" presName="rootText2" presStyleLbl="alignAcc1" presStyleIdx="0" presStyleCnt="0">
        <dgm:presLayoutVars>
          <dgm:chPref val="3"/>
        </dgm:presLayoutVars>
      </dgm:prSet>
      <dgm:spPr/>
    </dgm:pt>
    <dgm:pt modelId="{DE0FD111-E072-4973-A6C7-E3CFAB6C749A}" type="pres">
      <dgm:prSet presAssocID="{FA0AC10E-EBCB-4718-ACB1-9078CD6FA867}" presName="topArc2" presStyleLbl="parChTrans1D1" presStyleIdx="2" presStyleCnt="6"/>
      <dgm:spPr/>
    </dgm:pt>
    <dgm:pt modelId="{233287C2-EE32-4F38-ADBA-ED5DE9D3BC65}" type="pres">
      <dgm:prSet presAssocID="{FA0AC10E-EBCB-4718-ACB1-9078CD6FA867}" presName="bottomArc2" presStyleLbl="parChTrans1D1" presStyleIdx="3" presStyleCnt="6"/>
      <dgm:spPr/>
    </dgm:pt>
    <dgm:pt modelId="{E584C7B6-69FF-4EE0-B845-CE7AAC257225}" type="pres">
      <dgm:prSet presAssocID="{FA0AC10E-EBCB-4718-ACB1-9078CD6FA867}" presName="topConnNode2" presStyleLbl="node2" presStyleIdx="0" presStyleCnt="0"/>
      <dgm:spPr/>
    </dgm:pt>
    <dgm:pt modelId="{12B5A9EE-8ABD-4537-B77E-3C3CF72902B7}" type="pres">
      <dgm:prSet presAssocID="{FA0AC10E-EBCB-4718-ACB1-9078CD6FA867}" presName="hierChild4" presStyleCnt="0"/>
      <dgm:spPr/>
    </dgm:pt>
    <dgm:pt modelId="{3DC68E9E-50BE-42F8-B669-78AD065FEDEB}" type="pres">
      <dgm:prSet presAssocID="{FA0AC10E-EBCB-4718-ACB1-9078CD6FA867}" presName="hierChild5" presStyleCnt="0"/>
      <dgm:spPr/>
    </dgm:pt>
    <dgm:pt modelId="{0DD9E408-C033-415D-9FAC-785480CAB8C7}" type="pres">
      <dgm:prSet presAssocID="{E32775C7-00B3-4303-845B-27163FC00702}" presName="Name28" presStyleLbl="parChTrans1D2" presStyleIdx="1" presStyleCnt="2"/>
      <dgm:spPr/>
    </dgm:pt>
    <dgm:pt modelId="{DEC99BF5-5D07-4567-8940-3E4361F77824}" type="pres">
      <dgm:prSet presAssocID="{29158208-504D-4F6B-93A5-CA444C6BD727}" presName="hierRoot2" presStyleCnt="0">
        <dgm:presLayoutVars>
          <dgm:hierBranch val="init"/>
        </dgm:presLayoutVars>
      </dgm:prSet>
      <dgm:spPr/>
    </dgm:pt>
    <dgm:pt modelId="{FA1C859A-489E-4918-919D-C842D8012033}" type="pres">
      <dgm:prSet presAssocID="{29158208-504D-4F6B-93A5-CA444C6BD727}" presName="rootComposite2" presStyleCnt="0"/>
      <dgm:spPr/>
    </dgm:pt>
    <dgm:pt modelId="{A3080EF0-33BC-4B26-A1B9-6E9397CD5B2E}" type="pres">
      <dgm:prSet presAssocID="{29158208-504D-4F6B-93A5-CA444C6BD727}" presName="rootText2" presStyleLbl="alignAcc1" presStyleIdx="0" presStyleCnt="0">
        <dgm:presLayoutVars>
          <dgm:chPref val="3"/>
        </dgm:presLayoutVars>
      </dgm:prSet>
      <dgm:spPr/>
    </dgm:pt>
    <dgm:pt modelId="{7BE25F00-8F36-45C5-92C1-903F6E67EC8E}" type="pres">
      <dgm:prSet presAssocID="{29158208-504D-4F6B-93A5-CA444C6BD727}" presName="topArc2" presStyleLbl="parChTrans1D1" presStyleIdx="4" presStyleCnt="6"/>
      <dgm:spPr/>
    </dgm:pt>
    <dgm:pt modelId="{1F0FBA22-5BA3-4CDB-B108-08F073E49FBD}" type="pres">
      <dgm:prSet presAssocID="{29158208-504D-4F6B-93A5-CA444C6BD727}" presName="bottomArc2" presStyleLbl="parChTrans1D1" presStyleIdx="5" presStyleCnt="6"/>
      <dgm:spPr/>
    </dgm:pt>
    <dgm:pt modelId="{268C9236-C236-4171-9239-5D7B46E9625F}" type="pres">
      <dgm:prSet presAssocID="{29158208-504D-4F6B-93A5-CA444C6BD727}" presName="topConnNode2" presStyleLbl="node2" presStyleIdx="0" presStyleCnt="0"/>
      <dgm:spPr/>
    </dgm:pt>
    <dgm:pt modelId="{1EB5BFD7-6340-4AEF-96FC-A0C32FF66CE1}" type="pres">
      <dgm:prSet presAssocID="{29158208-504D-4F6B-93A5-CA444C6BD727}" presName="hierChild4" presStyleCnt="0"/>
      <dgm:spPr/>
    </dgm:pt>
    <dgm:pt modelId="{F924AC93-C9B0-439C-87D5-74E28CD18E0C}" type="pres">
      <dgm:prSet presAssocID="{29158208-504D-4F6B-93A5-CA444C6BD727}" presName="hierChild5" presStyleCnt="0"/>
      <dgm:spPr/>
    </dgm:pt>
    <dgm:pt modelId="{20F3FFE3-D846-41B0-80A0-964FAED122CB}" type="pres">
      <dgm:prSet presAssocID="{5994C61E-4CDD-4203-9F5E-7BFE13315B93}" presName="hierChild3" presStyleCnt="0"/>
      <dgm:spPr/>
    </dgm:pt>
  </dgm:ptLst>
  <dgm:cxnLst>
    <dgm:cxn modelId="{F15D3265-8290-4297-97C0-E8018AAD90E2}" type="presOf" srcId="{5994C61E-4CDD-4203-9F5E-7BFE13315B93}" destId="{16B10B4C-56B8-431F-853F-AA13419C185A}" srcOrd="1" destOrd="0" presId="urn:microsoft.com/office/officeart/2008/layout/HalfCircleOrganizationChart"/>
    <dgm:cxn modelId="{1C3FC24D-4C77-4ECC-93F6-9C38BA9685D7}" srcId="{5994C61E-4CDD-4203-9F5E-7BFE13315B93}" destId="{FA0AC10E-EBCB-4718-ACB1-9078CD6FA867}" srcOrd="0" destOrd="0" parTransId="{E62D5FB5-B4D7-48AC-81B6-9F7D2C808D85}" sibTransId="{370DECBB-5698-461A-950E-F0ABFC8BCE13}"/>
    <dgm:cxn modelId="{74069150-3AF8-48B3-AAF0-8E515FEF7AD8}" type="presOf" srcId="{FA0AC10E-EBCB-4718-ACB1-9078CD6FA867}" destId="{1D19CB1B-A82D-4AC4-B0AC-E1EFC34B2972}" srcOrd="0" destOrd="0" presId="urn:microsoft.com/office/officeart/2008/layout/HalfCircleOrganizationChart"/>
    <dgm:cxn modelId="{69BF8198-457E-48CA-AA88-F50E8D3DDDE8}" type="presOf" srcId="{C7127CB9-DEC3-465A-AB2C-0087D1E9EC82}" destId="{4BAAAC56-B127-4778-9320-5C3AE4C0EDBC}" srcOrd="0" destOrd="0" presId="urn:microsoft.com/office/officeart/2008/layout/HalfCircleOrganizationChart"/>
    <dgm:cxn modelId="{C968CE9A-B2E6-4FEB-9AE2-E2051C71D09C}" type="presOf" srcId="{FA0AC10E-EBCB-4718-ACB1-9078CD6FA867}" destId="{E584C7B6-69FF-4EE0-B845-CE7AAC257225}" srcOrd="1" destOrd="0" presId="urn:microsoft.com/office/officeart/2008/layout/HalfCircleOrganizationChart"/>
    <dgm:cxn modelId="{6A4ED79F-0B49-45D8-BF55-6D476194661C}" srcId="{5994C61E-4CDD-4203-9F5E-7BFE13315B93}" destId="{29158208-504D-4F6B-93A5-CA444C6BD727}" srcOrd="1" destOrd="0" parTransId="{E32775C7-00B3-4303-845B-27163FC00702}" sibTransId="{D4A0AAD8-48FA-4112-86BE-27A1696D5B9D}"/>
    <dgm:cxn modelId="{4AC7D7A0-01FC-453C-9D2F-A972E2789012}" type="presOf" srcId="{E32775C7-00B3-4303-845B-27163FC00702}" destId="{0DD9E408-C033-415D-9FAC-785480CAB8C7}" srcOrd="0" destOrd="0" presId="urn:microsoft.com/office/officeart/2008/layout/HalfCircleOrganizationChart"/>
    <dgm:cxn modelId="{6C01BDC4-7988-41F9-BF03-4FB333D734ED}" srcId="{C7127CB9-DEC3-465A-AB2C-0087D1E9EC82}" destId="{5994C61E-4CDD-4203-9F5E-7BFE13315B93}" srcOrd="0" destOrd="0" parTransId="{852449D8-ACEB-4708-8A36-A4FB71735199}" sibTransId="{8369CEF5-B61E-434F-8FAB-C0EDC3C7A709}"/>
    <dgm:cxn modelId="{7C024CC8-68F4-4FFB-8024-42A78FDEC2A0}" type="presOf" srcId="{E62D5FB5-B4D7-48AC-81B6-9F7D2C808D85}" destId="{618457C8-B0A5-418C-AD31-3094BCD1C518}" srcOrd="0" destOrd="0" presId="urn:microsoft.com/office/officeart/2008/layout/HalfCircleOrganizationChart"/>
    <dgm:cxn modelId="{6B0471C9-DB9A-4411-B7F0-B6D9DB9DE68A}" type="presOf" srcId="{29158208-504D-4F6B-93A5-CA444C6BD727}" destId="{268C9236-C236-4171-9239-5D7B46E9625F}" srcOrd="1" destOrd="0" presId="urn:microsoft.com/office/officeart/2008/layout/HalfCircleOrganizationChart"/>
    <dgm:cxn modelId="{201AC2D4-55FE-4605-AC0B-D1F0808EDD27}" type="presOf" srcId="{29158208-504D-4F6B-93A5-CA444C6BD727}" destId="{A3080EF0-33BC-4B26-A1B9-6E9397CD5B2E}" srcOrd="0" destOrd="0" presId="urn:microsoft.com/office/officeart/2008/layout/HalfCircleOrganizationChart"/>
    <dgm:cxn modelId="{F307FDD4-43D4-477F-915B-F920BC662D2F}" type="presOf" srcId="{5994C61E-4CDD-4203-9F5E-7BFE13315B93}" destId="{28908739-53C3-442E-A5F9-957F368B196C}" srcOrd="0" destOrd="0" presId="urn:microsoft.com/office/officeart/2008/layout/HalfCircleOrganizationChart"/>
    <dgm:cxn modelId="{960A7D8D-E58B-4090-B535-D766EBC50863}" type="presParOf" srcId="{4BAAAC56-B127-4778-9320-5C3AE4C0EDBC}" destId="{4A140FB7-6D30-4AA4-91F6-4CB9E62061F2}" srcOrd="0" destOrd="0" presId="urn:microsoft.com/office/officeart/2008/layout/HalfCircleOrganizationChart"/>
    <dgm:cxn modelId="{710CC419-1810-4A49-9650-56CD35D5D234}" type="presParOf" srcId="{4A140FB7-6D30-4AA4-91F6-4CB9E62061F2}" destId="{016A0070-E526-4DCE-AD74-88D992239573}" srcOrd="0" destOrd="0" presId="urn:microsoft.com/office/officeart/2008/layout/HalfCircleOrganizationChart"/>
    <dgm:cxn modelId="{D153F310-15FC-458A-B730-C53021EA6D5B}" type="presParOf" srcId="{016A0070-E526-4DCE-AD74-88D992239573}" destId="{28908739-53C3-442E-A5F9-957F368B196C}" srcOrd="0" destOrd="0" presId="urn:microsoft.com/office/officeart/2008/layout/HalfCircleOrganizationChart"/>
    <dgm:cxn modelId="{BA971508-6825-492B-A80A-C6BF5672520B}" type="presParOf" srcId="{016A0070-E526-4DCE-AD74-88D992239573}" destId="{75E6BDB7-8441-492A-850D-03D1DC4B2B3D}" srcOrd="1" destOrd="0" presId="urn:microsoft.com/office/officeart/2008/layout/HalfCircleOrganizationChart"/>
    <dgm:cxn modelId="{11C56C45-E3E2-4C0B-91D3-5711407A6BDD}" type="presParOf" srcId="{016A0070-E526-4DCE-AD74-88D992239573}" destId="{4C2C18EF-D0F0-4C47-A95E-D8DE91D55E61}" srcOrd="2" destOrd="0" presId="urn:microsoft.com/office/officeart/2008/layout/HalfCircleOrganizationChart"/>
    <dgm:cxn modelId="{7E0EDF67-8AC2-4011-A7F3-4BDAB4877B1B}" type="presParOf" srcId="{016A0070-E526-4DCE-AD74-88D992239573}" destId="{16B10B4C-56B8-431F-853F-AA13419C185A}" srcOrd="3" destOrd="0" presId="urn:microsoft.com/office/officeart/2008/layout/HalfCircleOrganizationChart"/>
    <dgm:cxn modelId="{47849319-DB43-4B31-A459-C5DE86BC8C95}" type="presParOf" srcId="{4A140FB7-6D30-4AA4-91F6-4CB9E62061F2}" destId="{F86F407C-45AD-4595-A830-DD9458F68925}" srcOrd="1" destOrd="0" presId="urn:microsoft.com/office/officeart/2008/layout/HalfCircleOrganizationChart"/>
    <dgm:cxn modelId="{6728C22E-FFAD-44FC-A3CA-8ADBDE0A8D73}" type="presParOf" srcId="{F86F407C-45AD-4595-A830-DD9458F68925}" destId="{618457C8-B0A5-418C-AD31-3094BCD1C518}" srcOrd="0" destOrd="0" presId="urn:microsoft.com/office/officeart/2008/layout/HalfCircleOrganizationChart"/>
    <dgm:cxn modelId="{94E0E0B3-E3C3-4CB6-A7CE-3421B2B4966B}" type="presParOf" srcId="{F86F407C-45AD-4595-A830-DD9458F68925}" destId="{08CA55AB-BC94-4188-B2F8-04B8A48105DE}" srcOrd="1" destOrd="0" presId="urn:microsoft.com/office/officeart/2008/layout/HalfCircleOrganizationChart"/>
    <dgm:cxn modelId="{3F6A343A-CE27-4B26-AC7D-8A7D9C71CDB7}" type="presParOf" srcId="{08CA55AB-BC94-4188-B2F8-04B8A48105DE}" destId="{65F0A231-0379-4ADD-B5A6-EBE29AD0445F}" srcOrd="0" destOrd="0" presId="urn:microsoft.com/office/officeart/2008/layout/HalfCircleOrganizationChart"/>
    <dgm:cxn modelId="{3D2F1E69-F4E1-4080-88F2-68AAFCF6EE42}" type="presParOf" srcId="{65F0A231-0379-4ADD-B5A6-EBE29AD0445F}" destId="{1D19CB1B-A82D-4AC4-B0AC-E1EFC34B2972}" srcOrd="0" destOrd="0" presId="urn:microsoft.com/office/officeart/2008/layout/HalfCircleOrganizationChart"/>
    <dgm:cxn modelId="{748674BD-B915-4575-B59F-43B6A127E39A}" type="presParOf" srcId="{65F0A231-0379-4ADD-B5A6-EBE29AD0445F}" destId="{DE0FD111-E072-4973-A6C7-E3CFAB6C749A}" srcOrd="1" destOrd="0" presId="urn:microsoft.com/office/officeart/2008/layout/HalfCircleOrganizationChart"/>
    <dgm:cxn modelId="{004B83A7-5F74-4817-97AB-E9973EE9E22A}" type="presParOf" srcId="{65F0A231-0379-4ADD-B5A6-EBE29AD0445F}" destId="{233287C2-EE32-4F38-ADBA-ED5DE9D3BC65}" srcOrd="2" destOrd="0" presId="urn:microsoft.com/office/officeart/2008/layout/HalfCircleOrganizationChart"/>
    <dgm:cxn modelId="{94868785-F8FF-4373-8562-E946929C0BEC}" type="presParOf" srcId="{65F0A231-0379-4ADD-B5A6-EBE29AD0445F}" destId="{E584C7B6-69FF-4EE0-B845-CE7AAC257225}" srcOrd="3" destOrd="0" presId="urn:microsoft.com/office/officeart/2008/layout/HalfCircleOrganizationChart"/>
    <dgm:cxn modelId="{F29305A4-C93B-40F7-9D13-F9431488F008}" type="presParOf" srcId="{08CA55AB-BC94-4188-B2F8-04B8A48105DE}" destId="{12B5A9EE-8ABD-4537-B77E-3C3CF72902B7}" srcOrd="1" destOrd="0" presId="urn:microsoft.com/office/officeart/2008/layout/HalfCircleOrganizationChart"/>
    <dgm:cxn modelId="{BFDD6E45-7A6C-40AA-B71C-661B349303FA}" type="presParOf" srcId="{08CA55AB-BC94-4188-B2F8-04B8A48105DE}" destId="{3DC68E9E-50BE-42F8-B669-78AD065FEDEB}" srcOrd="2" destOrd="0" presId="urn:microsoft.com/office/officeart/2008/layout/HalfCircleOrganizationChart"/>
    <dgm:cxn modelId="{F22C9B86-F74E-4333-89B2-4B355DDA937D}" type="presParOf" srcId="{F86F407C-45AD-4595-A830-DD9458F68925}" destId="{0DD9E408-C033-415D-9FAC-785480CAB8C7}" srcOrd="2" destOrd="0" presId="urn:microsoft.com/office/officeart/2008/layout/HalfCircleOrganizationChart"/>
    <dgm:cxn modelId="{69F4408F-97DB-40B1-A260-535FE9043692}" type="presParOf" srcId="{F86F407C-45AD-4595-A830-DD9458F68925}" destId="{DEC99BF5-5D07-4567-8940-3E4361F77824}" srcOrd="3" destOrd="0" presId="urn:microsoft.com/office/officeart/2008/layout/HalfCircleOrganizationChart"/>
    <dgm:cxn modelId="{BB3C0A21-A7F9-4438-A954-CE27073D4217}" type="presParOf" srcId="{DEC99BF5-5D07-4567-8940-3E4361F77824}" destId="{FA1C859A-489E-4918-919D-C842D8012033}" srcOrd="0" destOrd="0" presId="urn:microsoft.com/office/officeart/2008/layout/HalfCircleOrganizationChart"/>
    <dgm:cxn modelId="{AB2D8C84-AE06-4541-8DF6-6D5A8C9D9E4E}" type="presParOf" srcId="{FA1C859A-489E-4918-919D-C842D8012033}" destId="{A3080EF0-33BC-4B26-A1B9-6E9397CD5B2E}" srcOrd="0" destOrd="0" presId="urn:microsoft.com/office/officeart/2008/layout/HalfCircleOrganizationChart"/>
    <dgm:cxn modelId="{42AB439F-D742-4A8F-9A6A-54131EA504EE}" type="presParOf" srcId="{FA1C859A-489E-4918-919D-C842D8012033}" destId="{7BE25F00-8F36-45C5-92C1-903F6E67EC8E}" srcOrd="1" destOrd="0" presId="urn:microsoft.com/office/officeart/2008/layout/HalfCircleOrganizationChart"/>
    <dgm:cxn modelId="{3339FE43-6970-40E2-9BA3-FB7FB9F9420E}" type="presParOf" srcId="{FA1C859A-489E-4918-919D-C842D8012033}" destId="{1F0FBA22-5BA3-4CDB-B108-08F073E49FBD}" srcOrd="2" destOrd="0" presId="urn:microsoft.com/office/officeart/2008/layout/HalfCircleOrganizationChart"/>
    <dgm:cxn modelId="{B2A8E470-B32F-49F6-B52C-DB85D5BE3D84}" type="presParOf" srcId="{FA1C859A-489E-4918-919D-C842D8012033}" destId="{268C9236-C236-4171-9239-5D7B46E9625F}" srcOrd="3" destOrd="0" presId="urn:microsoft.com/office/officeart/2008/layout/HalfCircleOrganizationChart"/>
    <dgm:cxn modelId="{9A03685D-CD1C-4656-9673-CE6CB41BC927}" type="presParOf" srcId="{DEC99BF5-5D07-4567-8940-3E4361F77824}" destId="{1EB5BFD7-6340-4AEF-96FC-A0C32FF66CE1}" srcOrd="1" destOrd="0" presId="urn:microsoft.com/office/officeart/2008/layout/HalfCircleOrganizationChart"/>
    <dgm:cxn modelId="{BCDB0F99-B364-4A4C-ABB0-2B852915B15C}" type="presParOf" srcId="{DEC99BF5-5D07-4567-8940-3E4361F77824}" destId="{F924AC93-C9B0-439C-87D5-74E28CD18E0C}" srcOrd="2" destOrd="0" presId="urn:microsoft.com/office/officeart/2008/layout/HalfCircleOrganizationChart"/>
    <dgm:cxn modelId="{12DCD304-4226-45D6-9648-B4F8CFCEF2C4}" type="presParOf" srcId="{4A140FB7-6D30-4AA4-91F6-4CB9E62061F2}" destId="{20F3FFE3-D846-41B0-80A0-964FAED122CB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9E408-C033-415D-9FAC-785480CAB8C7}">
      <dsp:nvSpPr>
        <dsp:cNvPr id="0" name=""/>
        <dsp:cNvSpPr/>
      </dsp:nvSpPr>
      <dsp:spPr>
        <a:xfrm>
          <a:off x="3047760" y="1513441"/>
          <a:ext cx="1618359" cy="3874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558"/>
              </a:lnTo>
              <a:lnTo>
                <a:pt x="1618359" y="106558"/>
              </a:lnTo>
              <a:lnTo>
                <a:pt x="1618359" y="38743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457C8-B0A5-418C-AD31-3094BCD1C518}">
      <dsp:nvSpPr>
        <dsp:cNvPr id="0" name=""/>
        <dsp:cNvSpPr/>
      </dsp:nvSpPr>
      <dsp:spPr>
        <a:xfrm>
          <a:off x="1429400" y="1513441"/>
          <a:ext cx="1618359" cy="387430"/>
        </a:xfrm>
        <a:custGeom>
          <a:avLst/>
          <a:gdLst/>
          <a:ahLst/>
          <a:cxnLst/>
          <a:rect l="0" t="0" r="0" b="0"/>
          <a:pathLst>
            <a:path>
              <a:moveTo>
                <a:pt x="1618359" y="0"/>
              </a:moveTo>
              <a:lnTo>
                <a:pt x="1618359" y="106558"/>
              </a:lnTo>
              <a:lnTo>
                <a:pt x="0" y="106558"/>
              </a:lnTo>
              <a:lnTo>
                <a:pt x="0" y="38743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E6BDB7-8441-492A-850D-03D1DC4B2B3D}">
      <dsp:nvSpPr>
        <dsp:cNvPr id="0" name=""/>
        <dsp:cNvSpPr/>
      </dsp:nvSpPr>
      <dsp:spPr>
        <a:xfrm>
          <a:off x="2379016" y="175954"/>
          <a:ext cx="1337487" cy="133748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C18EF-D0F0-4C47-A95E-D8DE91D55E61}">
      <dsp:nvSpPr>
        <dsp:cNvPr id="0" name=""/>
        <dsp:cNvSpPr/>
      </dsp:nvSpPr>
      <dsp:spPr>
        <a:xfrm>
          <a:off x="2379016" y="175954"/>
          <a:ext cx="1337487" cy="133748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908739-53C3-442E-A5F9-957F368B196C}">
      <dsp:nvSpPr>
        <dsp:cNvPr id="0" name=""/>
        <dsp:cNvSpPr/>
      </dsp:nvSpPr>
      <dsp:spPr>
        <a:xfrm>
          <a:off x="1710272" y="416702"/>
          <a:ext cx="2674974" cy="855991"/>
        </a:xfrm>
        <a:prstGeom prst="rect">
          <a:avLst/>
        </a:prstGeom>
        <a:noFill/>
        <a:ln w="25400" cap="flat" cmpd="sng" algn="ctr">
          <a:noFill/>
          <a:prstDash val="solid"/>
          <a:miter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LINQ</a:t>
          </a:r>
          <a:endParaRPr lang="ru-RU" sz="3100" kern="1200" dirty="0"/>
        </a:p>
      </dsp:txBody>
      <dsp:txXfrm>
        <a:off x="1710272" y="416702"/>
        <a:ext cx="2674974" cy="855991"/>
      </dsp:txXfrm>
    </dsp:sp>
    <dsp:sp modelId="{DE0FD111-E072-4973-A6C7-E3CFAB6C749A}">
      <dsp:nvSpPr>
        <dsp:cNvPr id="0" name=""/>
        <dsp:cNvSpPr/>
      </dsp:nvSpPr>
      <dsp:spPr>
        <a:xfrm>
          <a:off x="760656" y="1900872"/>
          <a:ext cx="1337487" cy="133748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3287C2-EE32-4F38-ADBA-ED5DE9D3BC65}">
      <dsp:nvSpPr>
        <dsp:cNvPr id="0" name=""/>
        <dsp:cNvSpPr/>
      </dsp:nvSpPr>
      <dsp:spPr>
        <a:xfrm>
          <a:off x="760656" y="1900872"/>
          <a:ext cx="1337487" cy="133748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9CB1B-A82D-4AC4-B0AC-E1EFC34B2972}">
      <dsp:nvSpPr>
        <dsp:cNvPr id="0" name=""/>
        <dsp:cNvSpPr/>
      </dsp:nvSpPr>
      <dsp:spPr>
        <a:xfrm>
          <a:off x="91912" y="2141620"/>
          <a:ext cx="2674974" cy="855991"/>
        </a:xfrm>
        <a:prstGeom prst="rect">
          <a:avLst/>
        </a:prstGeom>
        <a:noFill/>
        <a:ln w="25400" cap="flat" cmpd="sng" algn="ctr">
          <a:noFill/>
          <a:prstDash val="solid"/>
          <a:miter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Отложенные операции</a:t>
          </a:r>
        </a:p>
      </dsp:txBody>
      <dsp:txXfrm>
        <a:off x="91912" y="2141620"/>
        <a:ext cx="2674974" cy="855991"/>
      </dsp:txXfrm>
    </dsp:sp>
    <dsp:sp modelId="{7BE25F00-8F36-45C5-92C1-903F6E67EC8E}">
      <dsp:nvSpPr>
        <dsp:cNvPr id="0" name=""/>
        <dsp:cNvSpPr/>
      </dsp:nvSpPr>
      <dsp:spPr>
        <a:xfrm>
          <a:off x="3997376" y="1900872"/>
          <a:ext cx="1337487" cy="133748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0FBA22-5BA3-4CDB-B108-08F073E49FBD}">
      <dsp:nvSpPr>
        <dsp:cNvPr id="0" name=""/>
        <dsp:cNvSpPr/>
      </dsp:nvSpPr>
      <dsp:spPr>
        <a:xfrm>
          <a:off x="3997376" y="1900872"/>
          <a:ext cx="1337487" cy="133748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080EF0-33BC-4B26-A1B9-6E9397CD5B2E}">
      <dsp:nvSpPr>
        <dsp:cNvPr id="0" name=""/>
        <dsp:cNvSpPr/>
      </dsp:nvSpPr>
      <dsp:spPr>
        <a:xfrm>
          <a:off x="3328632" y="2141620"/>
          <a:ext cx="2674974" cy="855991"/>
        </a:xfrm>
        <a:prstGeom prst="rect">
          <a:avLst/>
        </a:prstGeom>
        <a:noFill/>
        <a:ln w="25400" cap="flat" cmpd="sng" algn="ctr">
          <a:noFill/>
          <a:prstDash val="solid"/>
          <a:miter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Немедленные операции</a:t>
          </a:r>
        </a:p>
      </dsp:txBody>
      <dsp:txXfrm>
        <a:off x="3328632" y="2141620"/>
        <a:ext cx="2674974" cy="85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60A48268-39BD-4EA1-BC8E-9C1D4F6B9834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collections.generic.ienumerable-1?view=net-8.0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Где ошибка?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2148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Передача ограничения</a:t>
            </a:r>
          </a:p>
          <a:p>
            <a:r>
              <a:rPr lang="en-US" sz="1200" b="1" strike="noStrike" spc="-1" dirty="0" err="1">
                <a:solidFill>
                  <a:srgbClr val="FF0000"/>
                </a:solidFill>
                <a:latin typeface="Calibri"/>
              </a:rPr>
              <a:t>Func</a:t>
            </a:r>
            <a:r>
              <a:rPr lang="en-US" sz="1200" b="1" strike="noStrike" spc="-1" dirty="0">
                <a:solidFill>
                  <a:srgbClr val="FF0000"/>
                </a:solidFill>
                <a:latin typeface="Calibri"/>
              </a:rPr>
              <a:t>&lt;int, bool&gt; condition</a:t>
            </a:r>
            <a:r>
              <a:rPr lang="ru-RU" sz="1200" b="1" strike="noStrike" spc="-1" dirty="0">
                <a:solidFill>
                  <a:srgbClr val="FF0000"/>
                </a:solidFill>
                <a:latin typeface="Calibri"/>
              </a:rPr>
              <a:t> – ограничение, можно через предикат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1063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Лямбда или анонимный метод или функция </a:t>
            </a:r>
          </a:p>
          <a:p>
            <a:endParaRPr lang="ru-RU" dirty="0"/>
          </a:p>
          <a:p>
            <a:r>
              <a:rPr lang="ru-RU" dirty="0"/>
              <a:t>Перебор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008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начнем двигать </a:t>
            </a:r>
            <a:r>
              <a:rPr lang="en-US" dirty="0"/>
              <a:t>item </a:t>
            </a:r>
            <a:r>
              <a:rPr lang="ru-RU" dirty="0"/>
              <a:t>по коллекции?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177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Надстройка над методами расширения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822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Все эти методы заставляют запрос выполняться в момент их вызова (</a:t>
            </a:r>
            <a:r>
              <a:rPr lang="ru-RU" sz="1200" b="1" strike="noStrike" spc="-1" dirty="0">
                <a:solidFill>
                  <a:srgbClr val="000000"/>
                </a:solidFill>
                <a:latin typeface="Calibri"/>
              </a:rPr>
              <a:t>немедленное выполнение</a:t>
            </a: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276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foreach!!!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240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 dirty="0">
                <a:latin typeface="Arial"/>
              </a:rPr>
              <a:t>Или </a:t>
            </a:r>
            <a:r>
              <a:rPr lang="en-US" sz="2000" b="0" strike="noStrike" spc="-1" dirty="0">
                <a:latin typeface="Arial"/>
              </a:rPr>
              <a:t>IEnumerable&lt;Student&gt;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329" name="Номер слайда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8D61CE0-734F-435F-8261-326A9F5E94EA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24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 dirty="0">
                <a:latin typeface="Arial"/>
              </a:rPr>
              <a:t>Или так, немедленный запрос</a:t>
            </a:r>
          </a:p>
        </p:txBody>
      </p:sp>
      <p:sp>
        <p:nvSpPr>
          <p:cNvPr id="329" name="Номер слайда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8D61CE0-734F-435F-8261-326A9F5E94EA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25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8299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 err="1"/>
              <a:t>Enumrable</a:t>
            </a:r>
            <a:r>
              <a:rPr lang="en-US" dirty="0"/>
              <a:t> </a:t>
            </a:r>
            <a:r>
              <a:rPr lang="ru-RU" dirty="0"/>
              <a:t>п</a:t>
            </a:r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редоставляет набор методов типа </a:t>
            </a:r>
            <a:r>
              <a:rPr lang="ru-RU" dirty="0" err="1"/>
              <a:t>static</a:t>
            </a:r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для выполнения запросов к объектам, реализующим </a:t>
            </a:r>
            <a:r>
              <a:rPr lang="ru-RU" sz="1200" b="0" i="0" kern="12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интерфейс </a:t>
            </a:r>
            <a:r>
              <a:rPr lang="ru-RU" sz="1200" b="0" i="0" kern="12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IEnumerable&lt;T&gt;</a:t>
            </a:r>
            <a:r>
              <a:rPr lang="ru-RU" sz="1200" b="0" i="0" kern="12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 </a:t>
            </a:r>
            <a:endParaRPr lang="ru-RU" sz="1200" b="0" i="0" kern="1200" dirty="0">
              <a:solidFill>
                <a:srgbClr val="161616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1483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IEnumerable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8542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2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IEnumerable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025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Выражение тождества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678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Выражение тождества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6647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Коллекция коллекций (лаб 14)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7304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Коллекция коллекций (лаб 14)</a:t>
            </a:r>
            <a:r>
              <a:rPr lang="en-US" dirty="0"/>
              <a:t> </a:t>
            </a: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//найти всех студентов, у которых рейтинг меньше 4</a:t>
            </a:r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отложенный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4693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немедленный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37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0420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Декартово произведение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53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147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0A48268-39BD-4EA1-BC8E-9C1D4F6B9834}" type="slidenum">
              <a:rPr lang="ru-RU" sz="1400" b="0" strike="noStrike" spc="-1" smtClean="0">
                <a:latin typeface="Times New Roman"/>
              </a:rPr>
              <a:t>55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32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54174C9-E3C0-4D13-863F-EC568676D9CE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11.05.2025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AAF15D4-FCC1-4308-A4F1-B719F5A8DE60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13B137BA-AEDA-4833-9F46-E28FB69D8259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11.05.2025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6D015DF-16E8-4CFC-A64D-BC3D2390EB8A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743040" lvl="1" indent="-285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C2442939-5C5F-4450-BFB8-6DD033842420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11.05.2025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CD53ADB-3D21-4A32-8CD2-F6A70402B259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74304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6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ru-RU" sz="16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74304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6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ru-RU" sz="16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129" name="PlaceHolder 6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49A6E2F-9168-43BD-B55A-ACAB2990F40C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11.05.2025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131" name="PlaceHolder 8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2F74B41-FF6A-4482-BB68-FD42168A88CB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Заголовок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Методы расширения </a:t>
            </a:r>
            <a:br>
              <a:rPr lang="ru-RU" sz="4400" b="0" strike="noStrike" spc="-1" dirty="0">
                <a:solidFill>
                  <a:srgbClr val="000000"/>
                </a:solidFill>
                <a:latin typeface="Calibri"/>
              </a:rPr>
            </a:b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и </a:t>
            </a: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LINQ to Objects</a:t>
            </a:r>
            <a:endParaRPr lang="ru-RU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Подзаголовок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8B8B8B"/>
                </a:solidFill>
                <a:latin typeface="Calibri"/>
              </a:rPr>
              <a:t>Тема 17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LINQ (Language I</a:t>
            </a:r>
            <a:r>
              <a:rPr lang="en-US" sz="4400" b="1" strike="noStrike" spc="-1">
                <a:solidFill>
                  <a:srgbClr val="000000"/>
                </a:solidFill>
                <a:latin typeface="Calibri"/>
              </a:rPr>
              <a:t>N</a:t>
            </a: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tegrated Query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Набор технологий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LINQ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, появившийся в .NET 3.5, предоставил удобный способ доступа к различным хранилищам данных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XML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-файлам, коллекциям, массивам , реляционным базам данных ).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Используя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LINQ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, можно строить любое количество выражений, которые выглядят и ведут себя   подобно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SQL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-запросам к базе данных. Однако запрос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LINQ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может применяться к любому числу хранилищ данных, включая хранилища, которые не имеют ничего общего с  реляционными базами данных.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Для того чтобы работать с LINQ to Objects, потребуется обеспечить, чтобы в  каждом файле кода С#, содержащем запросы LINQ, импортировалось пространство имен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System.Linq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Разновидности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LINQ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1" u="sng" strike="noStrike" spc="-1">
                <a:solidFill>
                  <a:srgbClr val="000000"/>
                </a:solidFill>
                <a:uFillTx/>
                <a:latin typeface="Calibri"/>
              </a:rPr>
              <a:t>LI</a:t>
            </a:r>
            <a:r>
              <a:rPr lang="ru-RU" sz="3200" b="1" u="sng" strike="noStrike" spc="-1">
                <a:solidFill>
                  <a:srgbClr val="000000"/>
                </a:solidFill>
                <a:uFillTx/>
                <a:latin typeface="Calibri"/>
              </a:rPr>
              <a:t>NQ to Objects.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Эта разновидность позволяет применять запросы LINQ к массивам и коллекциям.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L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NQ to XML. Эта разновидность позволяет применять LINQ для манипулирования и опроса документов XML.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LI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NQ to DataSet. Эта разновидность позволяет применять запросы LINQ к объектам DataSet из ADO.NET.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LI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NQ to Entities. Эта разновидность позволяет применять запросы LINQ внутри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API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-интерфейса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ADO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.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NET Entity Framework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EF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).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Parallel LINQ (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он же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PLINQ).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Эта разновидность позволяет выполнять параллельную обработку данных, возвращенных запросом LINQ.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trike="noStrike" spc="-1">
                <a:solidFill>
                  <a:srgbClr val="000000"/>
                </a:solidFill>
                <a:latin typeface="Calibri"/>
              </a:rPr>
              <a:t>LINQ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Язык С# использует следующие связанные с LINQ  средства: 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неявно типизированные локальные переменные; 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лямбда-выражения; 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методы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расширения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Неявная типизация локальных переменных</a:t>
            </a:r>
            <a:br/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Ключевое слово 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</a:rPr>
              <a:t>var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позволяет определять локальную переменную без явной спецификации лежащего в основе  типа данных. Тем не менее, такая переменная будет строго типизированной, поскольку  компилятор определит ее корректный тип данных исходя из начального присваивания.</a:t>
            </a: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// Неявно типизированные локальные переменные</a:t>
            </a: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mylnt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= 0;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myBool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= true;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myString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= "Time, marches on...";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myDouble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;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9C111-F556-4DEA-9C4B-471924912DD6}"/>
              </a:ext>
            </a:extLst>
          </p:cNvPr>
          <p:cNvSpPr txBox="1"/>
          <p:nvPr/>
        </p:nvSpPr>
        <p:spPr>
          <a:xfrm>
            <a:off x="2857320" y="559039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trike="noStrike" spc="-1" dirty="0">
                <a:solidFill>
                  <a:srgbClr val="FF0000"/>
                </a:solidFill>
                <a:latin typeface="Calibri"/>
              </a:rPr>
              <a:t>//Error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b="1" strike="noStrike" spc="-1">
                <a:solidFill>
                  <a:srgbClr val="000000"/>
                </a:solidFill>
                <a:latin typeface="Calibri"/>
              </a:rPr>
              <a:t>Лямбда-выражения</a:t>
            </a:r>
            <a:endParaRPr lang="ru-RU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Объект 6"/>
          <p:cNvSpPr txBox="1"/>
          <p:nvPr/>
        </p:nvSpPr>
        <p:spPr>
          <a:xfrm>
            <a:off x="457380" y="1196640"/>
            <a:ext cx="8451670" cy="53283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2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Лямбда выражения упрощают работу с делегатами.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public static int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ReadIntNumbers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(string message = "", </a:t>
            </a:r>
            <a:r>
              <a:rPr lang="en-US" sz="3200" b="1" strike="noStrike" spc="-1" dirty="0" err="1">
                <a:solidFill>
                  <a:srgbClr val="FF0000"/>
                </a:solidFill>
                <a:latin typeface="Calibri"/>
              </a:rPr>
              <a:t>Func</a:t>
            </a:r>
            <a:r>
              <a:rPr lang="en-US" sz="3200" b="1" strike="noStrike" spc="-1" dirty="0">
                <a:solidFill>
                  <a:srgbClr val="FF0000"/>
                </a:solidFill>
                <a:latin typeface="Calibri"/>
              </a:rPr>
              <a:t>&lt;int, bool&gt; condition = null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{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var number = 0;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(message);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var ok 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int.TryParse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Console.ReadLine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(), out number);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if (condition != null)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spc="-1" dirty="0">
                <a:solidFill>
                  <a:srgbClr val="000000"/>
                </a:solidFill>
                <a:latin typeface="Calibri"/>
              </a:rPr>
              <a:t>	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ok = ok </a:t>
            </a:r>
            <a:r>
              <a:rPr lang="en-US" sz="3200" spc="-1" dirty="0">
                <a:solidFill>
                  <a:srgbClr val="000000"/>
                </a:solidFill>
                <a:latin typeface="Calibri"/>
              </a:rPr>
              <a:t>&amp;</a:t>
            </a:r>
            <a:r>
              <a:rPr lang="en-US" sz="3200" b="1" strike="noStrike" spc="-1" dirty="0">
                <a:solidFill>
                  <a:srgbClr val="FF0000"/>
                </a:solidFill>
                <a:latin typeface="Calibri"/>
              </a:rPr>
              <a:t> condition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(number);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if (!ok)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throw new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ArgumentException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return number;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}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//вызов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</a:rPr>
              <a:t>number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</a:rPr>
              <a:t>ReadIntNumbers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("Введите целое число от -10 до 10", </a:t>
            </a:r>
            <a:r>
              <a:rPr lang="ru-RU" sz="3200" b="1" strike="noStrike" spc="-1" dirty="0">
                <a:solidFill>
                  <a:srgbClr val="FF0000"/>
                </a:solidFill>
                <a:latin typeface="Calibri"/>
              </a:rPr>
              <a:t>x =&gt; x &gt;= -10 &amp;&amp; x &lt;= 10);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b="1" strike="noStrike" spc="-1" dirty="0">
                <a:solidFill>
                  <a:srgbClr val="000000"/>
                </a:solidFill>
                <a:latin typeface="Calibri"/>
              </a:rPr>
              <a:t>Методы расширения</a:t>
            </a:r>
            <a:endParaRPr lang="ru-RU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000" lnSpcReduction="1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Методы расширения позволяют существующим скомпилированным типам (классам, структурам или реализациям интерфейсов) получать новую функциональность без необходимости в непосредственном изменении расширяемого типа.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В качестве первого параметра такого метода используется ключевое слово 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this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, которое  и помечает расширяемый тип.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Кроме того, расширяющие методы должны всегда определяться внутри статического класса, а потому объявляться с использованием ключевого слова 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static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AC0E18-8ACA-48D6-A1EF-1530A591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2" y="1485018"/>
            <a:ext cx="8030696" cy="5029902"/>
          </a:xfrm>
          <a:prstGeom prst="rect">
            <a:avLst/>
          </a:prstGeom>
        </p:spPr>
      </p:pic>
      <p:sp>
        <p:nvSpPr>
          <p:cNvPr id="188" name="Заголовок 1"/>
          <p:cNvSpPr txBox="1"/>
          <p:nvPr/>
        </p:nvSpPr>
        <p:spPr>
          <a:xfrm>
            <a:off x="353344" y="264949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 dirty="0">
                <a:solidFill>
                  <a:srgbClr val="000000"/>
                </a:solidFill>
                <a:latin typeface="Calibri"/>
              </a:rPr>
              <a:t>Методы расширения</a:t>
            </a:r>
            <a:endParaRPr lang="ru-RU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F105B7-90DF-4DCB-87B8-57F18E73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83" y="5922619"/>
            <a:ext cx="2276793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 dirty="0">
                <a:solidFill>
                  <a:srgbClr val="000000"/>
                </a:solidFill>
                <a:latin typeface="Calibri"/>
              </a:rPr>
              <a:t>Методы расширения</a:t>
            </a:r>
            <a:endParaRPr lang="ru-RU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56AABE-0DA7-4AE8-8F49-F168EB05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20" y="1417320"/>
            <a:ext cx="7525800" cy="50489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E61F7B-14F5-4066-A6ED-0F3A94AF3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93" y="5983577"/>
            <a:ext cx="1857634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Объект 3"/>
          <p:cNvGraphicFramePr/>
          <p:nvPr>
            <p:extLst>
              <p:ext uri="{D42A27DB-BD31-4B8C-83A1-F6EECF244321}">
                <p14:modId xmlns:p14="http://schemas.microsoft.com/office/powerpoint/2010/main" val="1478500314"/>
              </p:ext>
            </p:extLst>
          </p:nvPr>
        </p:nvGraphicFramePr>
        <p:xfrm>
          <a:off x="611640" y="1296720"/>
          <a:ext cx="8229240" cy="5394960"/>
        </p:xfrm>
        <a:graphic>
          <a:graphicData uri="http://schemas.openxmlformats.org/drawingml/2006/table">
            <a:tbl>
              <a:tblPr/>
              <a:tblGrid>
                <a:gridCol w="260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Методы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Агрегация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Agregate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Average, Min, Max, Count, Sum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Преобразование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AsEnumerable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Cast, 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OfType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ToArray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ToDictionary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ToList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Конкатенация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Concat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1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Элемент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DefaultEmpty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ElementAt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ElementAtOrDefault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First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,FirstOrDefault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Last,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LastOrDefault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Single, 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SingleOrDefault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Множество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Except, Distinct, Intersect, Union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Генерация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Empty, Range, Repeat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62DD57-4656-42DD-B39C-64AAE224C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90" y="194400"/>
            <a:ext cx="965610" cy="96561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E93C129-2129-45E8-A9B0-58C25F5A908B}"/>
              </a:ext>
            </a:extLst>
          </p:cNvPr>
          <p:cNvSpPr txBox="1"/>
          <p:nvPr/>
        </p:nvSpPr>
        <p:spPr>
          <a:xfrm>
            <a:off x="457380" y="71685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Методы расширения для стандартных коллекций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Методы расширения для стандартных коллекций</a:t>
            </a:r>
          </a:p>
        </p:txBody>
      </p:sp>
      <p:graphicFrame>
        <p:nvGraphicFramePr>
          <p:cNvPr id="197" name="Объект 3"/>
          <p:cNvGraphicFramePr/>
          <p:nvPr>
            <p:extLst>
              <p:ext uri="{D42A27DB-BD31-4B8C-83A1-F6EECF244321}">
                <p14:modId xmlns:p14="http://schemas.microsoft.com/office/powerpoint/2010/main" val="1216564617"/>
              </p:ext>
            </p:extLst>
          </p:nvPr>
        </p:nvGraphicFramePr>
        <p:xfrm>
          <a:off x="623070" y="2020860"/>
          <a:ext cx="8229240" cy="4480560"/>
        </p:xfrm>
        <a:graphic>
          <a:graphicData uri="http://schemas.openxmlformats.org/drawingml/2006/table">
            <a:tbl>
              <a:tblPr/>
              <a:tblGrid>
                <a:gridCol w="260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Методы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Группирование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GroupBy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Соединение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Join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GroupJoin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Упорядочивание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OrderBy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OrderByDescending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ThenBy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ThenByDescending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Reverse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Проекция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Select, </a:t>
                      </a: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SelectMany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Разбиение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Skip, SkipWhile, Take, TakeWhile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Ограничение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Where</a:t>
                      </a:r>
                      <a:endParaRPr lang="ru-RU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Квантификатор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Any, All</a:t>
                      </a: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, Contains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Эквивалентность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SequanceEqual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C1589E-A5E5-474D-ABF2-296EBE4A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29" y="270674"/>
            <a:ext cx="1146645" cy="1146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FD85CE-921B-4EA4-A5F2-F4F5C999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8040222" cy="359142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3C177-6492-4BE7-8E29-29BE6194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расширения: пример</a:t>
            </a:r>
          </a:p>
        </p:txBody>
      </p:sp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5C4B7632-D96E-4E16-A588-FD321B49600F}"/>
              </a:ext>
            </a:extLst>
          </p:cNvPr>
          <p:cNvSpPr/>
          <p:nvPr/>
        </p:nvSpPr>
        <p:spPr>
          <a:xfrm>
            <a:off x="49950" y="3040647"/>
            <a:ext cx="1227551" cy="657616"/>
          </a:xfrm>
          <a:prstGeom prst="wedgeRectCallout">
            <a:avLst>
              <a:gd name="adj1" fmla="val 68725"/>
              <a:gd name="adj2" fmla="val -6963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Метод расширения</a:t>
            </a:r>
          </a:p>
        </p:txBody>
      </p:sp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162C1A42-1702-4798-AC4E-3A346693187A}"/>
              </a:ext>
            </a:extLst>
          </p:cNvPr>
          <p:cNvSpPr/>
          <p:nvPr/>
        </p:nvSpPr>
        <p:spPr>
          <a:xfrm>
            <a:off x="7364560" y="3369455"/>
            <a:ext cx="1227551" cy="657616"/>
          </a:xfrm>
          <a:prstGeom prst="wedgeRectCallout">
            <a:avLst>
              <a:gd name="adj1" fmla="val -319233"/>
              <a:gd name="adj2" fmla="val -1294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Лямбда выражение</a:t>
            </a:r>
          </a:p>
        </p:txBody>
      </p:sp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AAA89131-DF93-403D-A3C0-85347D014422}"/>
              </a:ext>
            </a:extLst>
          </p:cNvPr>
          <p:cNvSpPr/>
          <p:nvPr/>
        </p:nvSpPr>
        <p:spPr>
          <a:xfrm>
            <a:off x="5220088" y="4783064"/>
            <a:ext cx="1227551" cy="657616"/>
          </a:xfrm>
          <a:prstGeom prst="wedgeRectCallout">
            <a:avLst>
              <a:gd name="adj1" fmla="val -308402"/>
              <a:gd name="adj2" fmla="val -29406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Метод расширения</a:t>
            </a: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1667EEBD-CA63-47BF-914A-5330A3654342}"/>
              </a:ext>
            </a:extLst>
          </p:cNvPr>
          <p:cNvSpPr/>
          <p:nvPr/>
        </p:nvSpPr>
        <p:spPr>
          <a:xfrm>
            <a:off x="7677121" y="4487487"/>
            <a:ext cx="1227551" cy="657616"/>
          </a:xfrm>
          <a:prstGeom prst="wedgeRectCallout">
            <a:avLst>
              <a:gd name="adj1" fmla="val -417001"/>
              <a:gd name="adj2" fmla="val -25804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Лямбда выражение</a:t>
            </a:r>
          </a:p>
        </p:txBody>
      </p:sp>
      <p:sp>
        <p:nvSpPr>
          <p:cNvPr id="15" name="Облачко с текстом: прямоугольное 14">
            <a:extLst>
              <a:ext uri="{FF2B5EF4-FFF2-40B4-BE49-F238E27FC236}">
                <a16:creationId xmlns:a16="http://schemas.microsoft.com/office/drawing/2014/main" id="{F281B968-5C86-405E-B712-CF132CBF7D5E}"/>
              </a:ext>
            </a:extLst>
          </p:cNvPr>
          <p:cNvSpPr/>
          <p:nvPr/>
        </p:nvSpPr>
        <p:spPr>
          <a:xfrm>
            <a:off x="5726793" y="2410809"/>
            <a:ext cx="1227551" cy="657616"/>
          </a:xfrm>
          <a:prstGeom prst="wedgeRectCallout">
            <a:avLst>
              <a:gd name="adj1" fmla="val -166446"/>
              <a:gd name="adj2" fmla="val -392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Коллекция</a:t>
            </a:r>
          </a:p>
        </p:txBody>
      </p:sp>
    </p:spTree>
    <p:extLst>
      <p:ext uri="{BB962C8B-B14F-4D97-AF65-F5344CB8AC3E}">
        <p14:creationId xmlns:p14="http://schemas.microsoft.com/office/powerpoint/2010/main" val="1414558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2E11B-9BEB-41C5-A0F4-4EED1486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pc="-1" dirty="0">
                <a:solidFill>
                  <a:srgbClr val="000000"/>
                </a:solidFill>
                <a:latin typeface="Calibri"/>
              </a:rPr>
              <a:t>Методы расширения и з</a:t>
            </a: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апросы LINQ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8CE57C-6C74-4D92-BFDC-EC0D0E63A28D}"/>
              </a:ext>
            </a:extLst>
          </p:cNvPr>
          <p:cNvSpPr/>
          <p:nvPr/>
        </p:nvSpPr>
        <p:spPr>
          <a:xfrm>
            <a:off x="820934" y="295909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134F19-2FE6-4A40-A4C4-1BBA8D31BEC5}"/>
              </a:ext>
            </a:extLst>
          </p:cNvPr>
          <p:cNvSpPr/>
          <p:nvPr/>
        </p:nvSpPr>
        <p:spPr>
          <a:xfrm>
            <a:off x="2045070" y="295909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7FC28A-2E02-400C-8FBD-D922E21E5320}"/>
              </a:ext>
            </a:extLst>
          </p:cNvPr>
          <p:cNvSpPr/>
          <p:nvPr/>
        </p:nvSpPr>
        <p:spPr>
          <a:xfrm>
            <a:off x="3269206" y="295909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9FB2289-0E83-4061-B69B-F30C4E52BD2E}"/>
              </a:ext>
            </a:extLst>
          </p:cNvPr>
          <p:cNvSpPr/>
          <p:nvPr/>
        </p:nvSpPr>
        <p:spPr>
          <a:xfrm>
            <a:off x="4493342" y="295909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73A654-B67F-4FDA-9A04-0855E7DD4B93}"/>
              </a:ext>
            </a:extLst>
          </p:cNvPr>
          <p:cNvSpPr/>
          <p:nvPr/>
        </p:nvSpPr>
        <p:spPr>
          <a:xfrm>
            <a:off x="5717478" y="295909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низ 10">
            <a:extLst>
              <a:ext uri="{FF2B5EF4-FFF2-40B4-BE49-F238E27FC236}">
                <a16:creationId xmlns:a16="http://schemas.microsoft.com/office/drawing/2014/main" id="{D651AFD7-BB89-4047-AD5F-73AC094EF8B5}"/>
              </a:ext>
            </a:extLst>
          </p:cNvPr>
          <p:cNvSpPr/>
          <p:nvPr/>
        </p:nvSpPr>
        <p:spPr>
          <a:xfrm>
            <a:off x="1252982" y="2239012"/>
            <a:ext cx="576064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E6AE6-D4F9-47CD-A5A5-4413D5E19904}"/>
              </a:ext>
            </a:extLst>
          </p:cNvPr>
          <p:cNvSpPr txBox="1"/>
          <p:nvPr/>
        </p:nvSpPr>
        <p:spPr>
          <a:xfrm>
            <a:off x="820934" y="3895196"/>
            <a:ext cx="5832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Коллекция</a:t>
            </a:r>
            <a:r>
              <a:rPr lang="en-US" sz="2800" dirty="0"/>
              <a:t> (</a:t>
            </a:r>
            <a:r>
              <a:rPr lang="ru-RU" sz="2800" dirty="0"/>
              <a:t>перечислимый объект)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5D14C-C12C-47AD-9B32-D8553A9EFEB8}"/>
              </a:ext>
            </a:extLst>
          </p:cNvPr>
          <p:cNvSpPr txBox="1"/>
          <p:nvPr/>
        </p:nvSpPr>
        <p:spPr>
          <a:xfrm>
            <a:off x="1252982" y="1717459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item</a:t>
            </a:r>
            <a:endParaRPr lang="ru-RU" sz="2400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5C90ABD-6143-4E3F-8C83-B4FE48F19972}"/>
              </a:ext>
            </a:extLst>
          </p:cNvPr>
          <p:cNvSpPr txBox="1"/>
          <p:nvPr/>
        </p:nvSpPr>
        <p:spPr>
          <a:xfrm>
            <a:off x="575280" y="5034131"/>
            <a:ext cx="8318199" cy="96444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20000"/>
          </a:bodyPr>
          <a:lstStyle/>
          <a:p>
            <a:pPr>
              <a:spcBef>
                <a:spcPts val="561"/>
              </a:spcBef>
              <a:tabLst>
                <a:tab pos="0" algn="l"/>
              </a:tabLst>
            </a:pPr>
            <a:r>
              <a:rPr lang="en-US" sz="3600" b="1" spc="-1" dirty="0">
                <a:solidFill>
                  <a:srgbClr val="000000"/>
                </a:solidFill>
                <a:latin typeface="Calibri"/>
              </a:rPr>
              <a:t>var</a:t>
            </a:r>
            <a:r>
              <a:rPr lang="en-US" sz="3600" spc="-1" dirty="0">
                <a:solidFill>
                  <a:srgbClr val="000000"/>
                </a:solidFill>
                <a:latin typeface="Calibri"/>
              </a:rPr>
              <a:t> result =</a:t>
            </a:r>
            <a:r>
              <a:rPr lang="en-US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0" strike="noStrike" spc="-1" dirty="0" err="1">
                <a:solidFill>
                  <a:srgbClr val="000000"/>
                </a:solidFill>
                <a:latin typeface="Calibri"/>
              </a:rPr>
              <a:t>collection</a:t>
            </a:r>
            <a:r>
              <a:rPr lang="en-US" sz="3600" spc="-1" dirty="0" err="1">
                <a:solidFill>
                  <a:srgbClr val="000000"/>
                </a:solidFill>
                <a:latin typeface="Calibri"/>
              </a:rPr>
              <a:t>.</a:t>
            </a:r>
            <a:r>
              <a:rPr lang="en-US" sz="3600" b="1" spc="-1" dirty="0" err="1">
                <a:solidFill>
                  <a:srgbClr val="000000"/>
                </a:solidFill>
                <a:latin typeface="Calibri"/>
              </a:rPr>
              <a:t>Select</a:t>
            </a:r>
            <a:r>
              <a:rPr lang="en-US" sz="3600" spc="-1" dirty="0">
                <a:solidFill>
                  <a:srgbClr val="000000"/>
                </a:solidFill>
                <a:latin typeface="Calibri"/>
              </a:rPr>
              <a:t>(x=&gt;x);</a:t>
            </a:r>
            <a:endParaRPr lang="ru-RU" sz="36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var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0" strike="noStrike" spc="-1" dirty="0">
                <a:solidFill>
                  <a:srgbClr val="000000"/>
                </a:solidFill>
                <a:latin typeface="Calibri"/>
              </a:rPr>
              <a:t>result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= </a:t>
            </a: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from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spc="-1" dirty="0">
                <a:solidFill>
                  <a:srgbClr val="000000"/>
                </a:solidFill>
                <a:latin typeface="Calibri"/>
              </a:rPr>
              <a:t>item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in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0" strike="noStrike" spc="-1" dirty="0">
                <a:solidFill>
                  <a:srgbClr val="000000"/>
                </a:solidFill>
                <a:latin typeface="Calibri"/>
              </a:rPr>
              <a:t>collection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1" strike="noStrike" spc="-1" dirty="0">
                <a:solidFill>
                  <a:srgbClr val="000000"/>
                </a:solidFill>
                <a:latin typeface="Calibri"/>
              </a:rPr>
              <a:t>select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600" b="0" strike="noStrike" spc="-1" dirty="0">
                <a:solidFill>
                  <a:srgbClr val="000000"/>
                </a:solidFill>
                <a:latin typeface="Calibri"/>
              </a:rPr>
              <a:t>item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</p:txBody>
      </p:sp>
      <p:sp>
        <p:nvSpPr>
          <p:cNvPr id="13" name="Облачко с текстом: прямоугольное 12">
            <a:extLst>
              <a:ext uri="{FF2B5EF4-FFF2-40B4-BE49-F238E27FC236}">
                <a16:creationId xmlns:a16="http://schemas.microsoft.com/office/drawing/2014/main" id="{B3E1DDE5-C3CF-4A76-9712-DA818C37DB59}"/>
              </a:ext>
            </a:extLst>
          </p:cNvPr>
          <p:cNvSpPr/>
          <p:nvPr/>
        </p:nvSpPr>
        <p:spPr>
          <a:xfrm>
            <a:off x="7341169" y="4612909"/>
            <a:ext cx="1227551" cy="657616"/>
          </a:xfrm>
          <a:prstGeom prst="wedgeRectCallout">
            <a:avLst>
              <a:gd name="adj1" fmla="val -127339"/>
              <a:gd name="adj2" fmla="val 3893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Метод расширения</a:t>
            </a: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EA87B3C4-9B04-4FDB-9F25-85AB16EFF4A5}"/>
              </a:ext>
            </a:extLst>
          </p:cNvPr>
          <p:cNvSpPr/>
          <p:nvPr/>
        </p:nvSpPr>
        <p:spPr>
          <a:xfrm>
            <a:off x="7340833" y="5967868"/>
            <a:ext cx="1227551" cy="657616"/>
          </a:xfrm>
          <a:prstGeom prst="wedgeRectCallout">
            <a:avLst>
              <a:gd name="adj1" fmla="val -327530"/>
              <a:gd name="adj2" fmla="val -4797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LINQ </a:t>
            </a:r>
            <a:r>
              <a:rPr lang="ru-RU" sz="1400" dirty="0"/>
              <a:t>запрос</a:t>
            </a:r>
          </a:p>
        </p:txBody>
      </p:sp>
    </p:spTree>
    <p:extLst>
      <p:ext uri="{BB962C8B-B14F-4D97-AF65-F5344CB8AC3E}">
        <p14:creationId xmlns:p14="http://schemas.microsoft.com/office/powerpoint/2010/main" val="4254867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Запросы LINQ</a:t>
            </a:r>
          </a:p>
        </p:txBody>
      </p:sp>
      <p:graphicFrame>
        <p:nvGraphicFramePr>
          <p:cNvPr id="200" name="Объект 4"/>
          <p:cNvGraphicFramePr/>
          <p:nvPr>
            <p:extLst>
              <p:ext uri="{D42A27DB-BD31-4B8C-83A1-F6EECF244321}">
                <p14:modId xmlns:p14="http://schemas.microsoft.com/office/powerpoint/2010/main" val="1374032537"/>
              </p:ext>
            </p:extLst>
          </p:nvPr>
        </p:nvGraphicFramePr>
        <p:xfrm>
          <a:off x="395280" y="1417686"/>
          <a:ext cx="8291160" cy="5015888"/>
        </p:xfrm>
        <a:graphic>
          <a:graphicData uri="http://schemas.openxmlformats.org/drawingml/2006/table">
            <a:tbl>
              <a:tblPr/>
              <a:tblGrid>
                <a:gridCol w="237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216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</a:pPr>
                      <a:r>
                        <a:rPr lang="en-US" sz="2000" b="1" strike="noStrike" spc="-1" dirty="0" err="1">
                          <a:solidFill>
                            <a:srgbClr val="FFFFFF"/>
                          </a:solidFill>
                          <a:latin typeface="Times New Roman"/>
                          <a:ea typeface="Calibri"/>
                        </a:rPr>
                        <a:t>Операции</a:t>
                      </a:r>
                      <a:r>
                        <a:rPr lang="en-US" sz="2000" b="1" strike="noStrike" spc="-1" dirty="0">
                          <a:solidFill>
                            <a:srgbClr val="FFFFFF"/>
                          </a:solidFill>
                          <a:latin typeface="Times New Roman"/>
                          <a:ea typeface="Calibri"/>
                        </a:rPr>
                        <a:t> </a:t>
                      </a:r>
                      <a:r>
                        <a:rPr lang="en-US" sz="2000" b="1" strike="noStrike" spc="-1" dirty="0" err="1">
                          <a:solidFill>
                            <a:srgbClr val="FFFFFF"/>
                          </a:solidFill>
                          <a:latin typeface="Times New Roman"/>
                          <a:ea typeface="Calibri"/>
                        </a:rPr>
                        <a:t>запросов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</a:pPr>
                      <a:r>
                        <a:rPr lang="en-US" sz="2000" b="1" strike="noStrike" spc="-1" dirty="0" err="1">
                          <a:solidFill>
                            <a:srgbClr val="FFFFFF"/>
                          </a:solidFill>
                          <a:latin typeface="Times New Roman"/>
                          <a:ea typeface="Calibri"/>
                        </a:rPr>
                        <a:t>Назначение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from, in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Используется для определения любого запроса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12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where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Используется для определения ограничений о том, т.е. какие  элементы должны извлекаться из контейнера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12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select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Используется для выбора последовательности из контейнера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12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join, on, equals, into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Выполняет соединения на основе указанного ключа.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12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orderby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Позволяет упорядочить результирующий набор в порядке возрастания или убывания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group, by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</a:rPr>
                        <a:t>Группирует данные по указанному значению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LINQ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Объект 2"/>
          <p:cNvSpPr txBox="1"/>
          <p:nvPr/>
        </p:nvSpPr>
        <p:spPr>
          <a:xfrm>
            <a:off x="457200" y="1417320"/>
            <a:ext cx="8229240" cy="1737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</a:rPr>
              <a:t>LINQ включает в себя около 50 стандартных операций запросов, разделяемых на 2 большие группы - </a:t>
            </a:r>
            <a:r>
              <a:rPr lang="ru-RU" sz="2400" b="1" strike="noStrike" spc="-1" dirty="0">
                <a:solidFill>
                  <a:srgbClr val="000000"/>
                </a:solidFill>
                <a:latin typeface="Calibri"/>
              </a:rPr>
              <a:t>отложенные операции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</a:rPr>
              <a:t> (выполняются не во время инициализации, а только при их вызове) и </a:t>
            </a:r>
            <a:r>
              <a:rPr lang="ru-RU" sz="2400" b="1" strike="noStrike" spc="-1" dirty="0">
                <a:solidFill>
                  <a:srgbClr val="000000"/>
                </a:solidFill>
                <a:latin typeface="Calibri"/>
              </a:rPr>
              <a:t>не отложенные (немедленные) операции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</a:rPr>
              <a:t> (выполняются сразу). </a:t>
            </a: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312983518"/>
              </p:ext>
            </p:extLst>
          </p:nvPr>
        </p:nvGraphicFramePr>
        <p:xfrm>
          <a:off x="1524060" y="3429000"/>
          <a:ext cx="6095520" cy="32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 1</a:t>
            </a:r>
          </a:p>
        </p:txBody>
      </p:sp>
      <p:sp>
        <p:nvSpPr>
          <p:cNvPr id="202" name="Объект 2"/>
          <p:cNvSpPr txBox="1"/>
          <p:nvPr/>
        </p:nvSpPr>
        <p:spPr>
          <a:xfrm>
            <a:off x="457200" y="1600200"/>
            <a:ext cx="5698440" cy="4852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Найти в коллекции элементов  максимальный возраст.</a:t>
            </a: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List&lt;Person&gt; list = 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MakeList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(10);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            foreach (Person p in list)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                </a:t>
            </a: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(p);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	            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int 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 = list[0].Age;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nn-NO" sz="2800" b="0" i="1" strike="noStrike" spc="-1" dirty="0">
                <a:solidFill>
                  <a:srgbClr val="000000"/>
                </a:solidFill>
                <a:latin typeface="Calibri"/>
              </a:rPr>
              <a:t>            for (int i = 1; i &lt; list.Count; i++)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		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if (list[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].Age &gt; 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)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				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 = list[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].Age;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            </a:t>
            </a:r>
            <a:r>
              <a:rPr lang="ru-RU" sz="2800" b="0" i="1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(“</a:t>
            </a:r>
            <a:r>
              <a:rPr lang="en-US" sz="2800" b="0" i="1" strike="noStrike" spc="-1" dirty="0">
                <a:solidFill>
                  <a:srgbClr val="000000"/>
                </a:solidFill>
                <a:latin typeface="Calibri"/>
              </a:rPr>
              <a:t>C</a:t>
            </a:r>
            <a:r>
              <a:rPr lang="ru-RU" sz="2800" b="0" i="1" strike="noStrike" spc="-1" dirty="0" err="1">
                <a:solidFill>
                  <a:srgbClr val="000000"/>
                </a:solidFill>
                <a:latin typeface="Calibri"/>
              </a:rPr>
              <a:t>амый</a:t>
            </a: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 большой возраст:" + </a:t>
            </a:r>
            <a:r>
              <a:rPr lang="ru-RU" sz="28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ru-RU" sz="2800" b="0" i="1" strike="noStrike" spc="-1" dirty="0">
                <a:solidFill>
                  <a:srgbClr val="000000"/>
                </a:solidFill>
                <a:latin typeface="Calibri"/>
              </a:rPr>
              <a:t>);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2"/>
          <a:stretch/>
        </p:blipFill>
        <p:spPr>
          <a:xfrm>
            <a:off x="6516360" y="3960"/>
            <a:ext cx="1816200" cy="685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 1</a:t>
            </a:r>
          </a:p>
        </p:txBody>
      </p:sp>
      <p:sp>
        <p:nvSpPr>
          <p:cNvPr id="205" name="Объект 2"/>
          <p:cNvSpPr txBox="1"/>
          <p:nvPr/>
        </p:nvSpPr>
        <p:spPr>
          <a:xfrm>
            <a:off x="457200" y="1600200"/>
            <a:ext cx="8229240" cy="5068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5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//метод расширения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list.Max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&lt;Person&gt;(x =&gt; 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x.Age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i="1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ru-RU" sz="3200" b="0" i="1" strike="noStrike" spc="-1" dirty="0">
                <a:solidFill>
                  <a:srgbClr val="000000"/>
                </a:solidFill>
                <a:latin typeface="Calibri"/>
              </a:rPr>
              <a:t>(«Самый большой возраст:" + </a:t>
            </a:r>
            <a:r>
              <a:rPr lang="ru-RU" sz="32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ru-RU" sz="3200" b="0" i="1" strike="noStrike" spc="-1" dirty="0">
                <a:solidFill>
                  <a:srgbClr val="000000"/>
                </a:solidFill>
                <a:latin typeface="Calibri"/>
              </a:rPr>
              <a:t>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//LINQ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запрос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 = (from p in list select 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p.Age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).Max();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i="1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ru-RU" sz="3200" b="0" i="1" strike="noStrike" spc="-1" dirty="0">
                <a:solidFill>
                  <a:srgbClr val="000000"/>
                </a:solidFill>
                <a:latin typeface="Calibri"/>
              </a:rPr>
              <a:t>("Человек с самый большой возраст:" + </a:t>
            </a:r>
            <a:r>
              <a:rPr lang="ru-RU" sz="3200" b="0" i="1" strike="noStrike" spc="-1" dirty="0" err="1">
                <a:solidFill>
                  <a:srgbClr val="000000"/>
                </a:solidFill>
                <a:latin typeface="Calibri"/>
              </a:rPr>
              <a:t>maxAge</a:t>
            </a:r>
            <a:r>
              <a:rPr lang="ru-RU" sz="3200" b="0" i="1" strike="noStrike" spc="-1" dirty="0">
                <a:solidFill>
                  <a:srgbClr val="000000"/>
                </a:solidFill>
                <a:latin typeface="Calibri"/>
              </a:rPr>
              <a:t>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0000"/>
                </a:solidFill>
                <a:latin typeface="Calibri"/>
              </a:rPr>
              <a:t>Как найти самый большой рейтинг?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 1</a:t>
            </a:r>
          </a:p>
        </p:txBody>
      </p:sp>
      <p:sp>
        <p:nvSpPr>
          <p:cNvPr id="205" name="Объект 2"/>
          <p:cNvSpPr txBox="1"/>
          <p:nvPr/>
        </p:nvSpPr>
        <p:spPr>
          <a:xfrm>
            <a:off x="215900" y="1600200"/>
            <a:ext cx="8807450" cy="5068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5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0000"/>
                </a:solidFill>
                <a:latin typeface="Calibri"/>
              </a:rPr>
              <a:t>Как найти самый большой рейтинг?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double 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maxRating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list.Max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&lt;Person&gt;(x =&gt; { if (x is Student)return ((Student)x).</a:t>
            </a: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Rating;else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 return 0; });</a:t>
            </a:r>
            <a:endParaRPr lang="ru-RU" sz="3200" b="0" i="1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i="1" strike="noStrike" spc="-1" dirty="0" err="1">
                <a:solidFill>
                  <a:srgbClr val="000000"/>
                </a:solidFill>
                <a:latin typeface="Calibri"/>
              </a:rPr>
              <a:t>maxRating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 = (from p in list where p is Student </a:t>
            </a:r>
            <a:endParaRPr lang="ru-RU" sz="3200" b="0" i="1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i="1" spc="-1" dirty="0">
                <a:solidFill>
                  <a:srgbClr val="000000"/>
                </a:solidFill>
                <a:latin typeface="Calibri"/>
              </a:rPr>
              <a:t>			     </a:t>
            </a:r>
            <a:r>
              <a:rPr lang="en-US" sz="3200" b="0" i="1" strike="noStrike" spc="-1" dirty="0">
                <a:solidFill>
                  <a:srgbClr val="000000"/>
                </a:solidFill>
                <a:latin typeface="Calibri"/>
              </a:rPr>
              <a:t>select ((Student)p).Rating).Max();</a:t>
            </a:r>
            <a:endParaRPr lang="ru-RU" sz="3200" b="0" i="1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457200">
              <a:spcBef>
                <a:spcPts val="64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0000"/>
                </a:solidFill>
                <a:latin typeface="Calibri"/>
              </a:rPr>
              <a:t>Найти средний возраст.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76147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 1</a:t>
            </a:r>
          </a:p>
        </p:txBody>
      </p:sp>
      <p:sp>
        <p:nvSpPr>
          <p:cNvPr id="207" name="Объект 2"/>
          <p:cNvSpPr txBox="1"/>
          <p:nvPr/>
        </p:nvSpPr>
        <p:spPr>
          <a:xfrm>
            <a:off x="457200" y="1600200"/>
            <a:ext cx="850680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FF0000"/>
                </a:solidFill>
                <a:latin typeface="Calibri"/>
              </a:rPr>
              <a:t>Найти средний возраст.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double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avAge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list.Average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(x =&gt;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x.Age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Средний возраст:" +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avAge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avAge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= (from p in list select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p.Age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).Average();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Средний возраст:" +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avAge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 dirty="0">
                <a:solidFill>
                  <a:srgbClr val="000000"/>
                </a:solidFill>
                <a:latin typeface="Calibri"/>
              </a:rPr>
              <a:t>Неявная типизация</a:t>
            </a:r>
            <a:endParaRPr lang="ru-RU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Объект 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При получении результатов запроса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LINQ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следует применять неявную типизацию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(var)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В большинстве случаев  реальное возвращенное значение имеет тип, реализующий интерфейс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IEnumerable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Какой именно тип кроется за этим не важно, и определять его не обязательно.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Отложенное выполнение запросов</a:t>
            </a:r>
          </a:p>
        </p:txBody>
      </p:sp>
      <p:sp>
        <p:nvSpPr>
          <p:cNvPr id="218" name="Объект 3"/>
          <p:cNvSpPr txBox="1"/>
          <p:nvPr/>
        </p:nvSpPr>
        <p:spPr>
          <a:xfrm>
            <a:off x="457200" y="1384639"/>
            <a:ext cx="8229240" cy="1449888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LINQ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запросы не выполняются до тех пор, пока не будет начата итерация по последовательности. Это называется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отложенным выполнением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8F401F-0518-462E-9CF6-1C3A031D3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0341"/>
            <a:ext cx="6652837" cy="26062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22E18-73E5-48B3-8DAA-6014F4CFE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134" y="4706531"/>
            <a:ext cx="4625741" cy="1653683"/>
          </a:xfrm>
          <a:prstGeom prst="rect">
            <a:avLst/>
          </a:prstGeom>
        </p:spPr>
      </p:pic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7F174B04-D829-4D42-ACEA-01C43818FF9F}"/>
              </a:ext>
            </a:extLst>
          </p:cNvPr>
          <p:cNvSpPr/>
          <p:nvPr/>
        </p:nvSpPr>
        <p:spPr>
          <a:xfrm>
            <a:off x="6081386" y="2624203"/>
            <a:ext cx="1703540" cy="382044"/>
          </a:xfrm>
          <a:prstGeom prst="wedgeRectCallout">
            <a:avLst>
              <a:gd name="adj1" fmla="val -32598"/>
              <a:gd name="adj2" fmla="val 9856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Запрос</a:t>
            </a:r>
          </a:p>
        </p:txBody>
      </p:sp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D2629C42-0F21-4523-AEC2-BD1FC4A02785}"/>
              </a:ext>
            </a:extLst>
          </p:cNvPr>
          <p:cNvSpPr/>
          <p:nvPr/>
        </p:nvSpPr>
        <p:spPr>
          <a:xfrm>
            <a:off x="3544864" y="3429000"/>
            <a:ext cx="2323579" cy="382044"/>
          </a:xfrm>
          <a:prstGeom prst="wedgeRectCallout">
            <a:avLst>
              <a:gd name="adj1" fmla="val -72304"/>
              <a:gd name="adj2" fmla="val 840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Вывод результата</a:t>
            </a:r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98CD81C1-00C5-4CD4-8835-73F059756F48}"/>
              </a:ext>
            </a:extLst>
          </p:cNvPr>
          <p:cNvSpPr/>
          <p:nvPr/>
        </p:nvSpPr>
        <p:spPr>
          <a:xfrm>
            <a:off x="6172957" y="3947933"/>
            <a:ext cx="2645366" cy="382044"/>
          </a:xfrm>
          <a:prstGeom prst="wedgeRectCallout">
            <a:avLst>
              <a:gd name="adj1" fmla="val -77986"/>
              <a:gd name="adj2" fmla="val 280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Изменение коллекции</a:t>
            </a:r>
          </a:p>
        </p:txBody>
      </p:sp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C2899B87-6056-424A-A08F-479FAACD5812}"/>
              </a:ext>
            </a:extLst>
          </p:cNvPr>
          <p:cNvSpPr/>
          <p:nvPr/>
        </p:nvSpPr>
        <p:spPr>
          <a:xfrm>
            <a:off x="1460039" y="5270344"/>
            <a:ext cx="2323579" cy="382044"/>
          </a:xfrm>
          <a:prstGeom prst="wedgeRectCallout">
            <a:avLst>
              <a:gd name="adj1" fmla="val -35108"/>
              <a:gd name="adj2" fmla="val -9159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Вывод результата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2F0A45-173C-462D-8213-1B117E742B57}"/>
              </a:ext>
            </a:extLst>
          </p:cNvPr>
          <p:cNvSpPr/>
          <p:nvPr/>
        </p:nvSpPr>
        <p:spPr>
          <a:xfrm>
            <a:off x="4058433" y="6006230"/>
            <a:ext cx="4985359" cy="5260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Немедленное выполнение запросов</a:t>
            </a:r>
          </a:p>
        </p:txBody>
      </p:sp>
      <p:sp>
        <p:nvSpPr>
          <p:cNvPr id="223" name="Объект 2"/>
          <p:cNvSpPr txBox="1"/>
          <p:nvPr/>
        </p:nvSpPr>
        <p:spPr>
          <a:xfrm>
            <a:off x="538619" y="1249471"/>
            <a:ext cx="8229240" cy="1305838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Чтобы выполнить запрос за пределами логики итерации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</a:rPr>
              <a:t>foreach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, можно вызвать любое количество расширяющих методов, определенных типом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, таких как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ToArray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ToDictionary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TSource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TKey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&gt;() и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ToList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&gt;().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81B0FA-00B7-43A2-AB98-CC4308506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9" y="2392111"/>
            <a:ext cx="7422523" cy="25910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74A34B-2ED9-408A-8697-30A7F538D362}"/>
              </a:ext>
            </a:extLst>
          </p:cNvPr>
          <p:cNvSpPr/>
          <p:nvPr/>
        </p:nvSpPr>
        <p:spPr>
          <a:xfrm>
            <a:off x="6739004" y="2705622"/>
            <a:ext cx="826718" cy="5260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0D30F8-7EFF-4C55-BFFF-6FFF7EF22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696" y="4246322"/>
            <a:ext cx="3202230" cy="20730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F6ECC-237A-4168-A78C-94FD7163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0" strike="noStrike" spc="-1" dirty="0">
                <a:solidFill>
                  <a:srgbClr val="000000"/>
                </a:solidFill>
                <a:latin typeface="Calibri"/>
              </a:rPr>
              <a:t>Немедленное выполнение запросов</a:t>
            </a:r>
            <a:endParaRPr lang="ru-RU" sz="4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D8ADE5-FDFA-49EE-8488-CEFE78A1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4" y="3044156"/>
            <a:ext cx="4366638" cy="7696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6F89AA-1993-46BD-95D4-89C51B307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4" y="1417320"/>
            <a:ext cx="7125317" cy="15012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F96A6B-159F-4F6E-8014-C11CD628D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54" y="5767909"/>
            <a:ext cx="4305673" cy="8154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842343E-6848-44B4-B7F9-D51522CDE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02" y="4010241"/>
            <a:ext cx="7369179" cy="163082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0B0FA5D-F2DD-4705-B5D8-5DB352C568BF}"/>
              </a:ext>
            </a:extLst>
          </p:cNvPr>
          <p:cNvSpPr/>
          <p:nvPr/>
        </p:nvSpPr>
        <p:spPr>
          <a:xfrm>
            <a:off x="6814160" y="1641862"/>
            <a:ext cx="826718" cy="52609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0642D3C-830E-40A9-821B-CE74D0BA5163}"/>
              </a:ext>
            </a:extLst>
          </p:cNvPr>
          <p:cNvSpPr/>
          <p:nvPr/>
        </p:nvSpPr>
        <p:spPr>
          <a:xfrm>
            <a:off x="621034" y="5160723"/>
            <a:ext cx="6756798" cy="31846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068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Ограничения, связанные с использованием var</a:t>
            </a:r>
          </a:p>
        </p:txBody>
      </p:sp>
      <p:sp>
        <p:nvSpPr>
          <p:cNvPr id="228" name="Объект 2"/>
          <p:cNvSpPr txBox="1"/>
          <p:nvPr/>
        </p:nvSpPr>
        <p:spPr>
          <a:xfrm>
            <a:off x="297180" y="1680210"/>
            <a:ext cx="872109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Нельзя использовать неявную типизацию для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поля класса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или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структуры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Нельзя использовать неявно типизированные  переменные для определения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параметров, возвращаемых значений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методов. 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6DA71B-4CC7-4134-A5DC-E78506ADE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7550"/>
            <a:ext cx="9144000" cy="168557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D4CF95-22CC-4154-8260-024FFF6FC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02" y="5649740"/>
            <a:ext cx="7640116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Ограничения, связанные с использованием var</a:t>
            </a:r>
          </a:p>
        </p:txBody>
      </p:sp>
      <p:sp>
        <p:nvSpPr>
          <p:cNvPr id="228" name="Объект 2"/>
          <p:cNvSpPr txBox="1"/>
          <p:nvPr/>
        </p:nvSpPr>
        <p:spPr>
          <a:xfrm>
            <a:off x="297180" y="1680210"/>
            <a:ext cx="872109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Нельзя использовать неявную типизацию для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поля класса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или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структуры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Нельзя использовать неявно типизированные  переменные для определения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параметров, возвращаемых значений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методов. 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D4CF95-22CC-4154-8260-024FFF6F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" y="5649740"/>
            <a:ext cx="7640116" cy="9335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C9091D-B855-4320-879A-976C4F443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" y="3257550"/>
            <a:ext cx="816406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1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b="0" strike="noStrike" spc="-1">
                <a:solidFill>
                  <a:srgbClr val="000000"/>
                </a:solidFill>
                <a:latin typeface="Calibri"/>
              </a:rPr>
              <a:t>Применение запросов LINQ к необобщенным коллекциям</a:t>
            </a:r>
          </a:p>
        </p:txBody>
      </p:sp>
      <p:sp>
        <p:nvSpPr>
          <p:cNvPr id="234" name="Объект 2"/>
          <p:cNvSpPr txBox="1"/>
          <p:nvPr/>
        </p:nvSpPr>
        <p:spPr>
          <a:xfrm>
            <a:off x="457200" y="1600200"/>
            <a:ext cx="800280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Операции запросов LINQ предназначены для работы с любым  типом, реализующим IEnumerable&lt;T&gt;, поэтому для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необобщенных коллекций их применять нельзя. </a:t>
            </a: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Для необобщенных коллекций, например,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ArrayList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 используют обобщенный расширяющий метод </a:t>
            </a:r>
            <a:r>
              <a:rPr lang="ru-RU" sz="2800" b="1" strike="noStrike" spc="-1" dirty="0" err="1">
                <a:solidFill>
                  <a:srgbClr val="000000"/>
                </a:solidFill>
                <a:latin typeface="Calibri"/>
              </a:rPr>
              <a:t>Enumerable.OfType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</a:rPr>
              <a:t>&lt;T&gt;()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который выполняет фильтрацию элементов по заданному типу.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Применение запросов LINQ к необобщенным коллекциям</a:t>
            </a:r>
          </a:p>
        </p:txBody>
      </p:sp>
      <p:sp>
        <p:nvSpPr>
          <p:cNvPr id="236" name="Объект 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//необобщенная коллекция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ArrayList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myCars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new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ArrayList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 ()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{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new Car { Name = "Henry",  Color = "Silver", Speed = 100, Make = "BMW"},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 . .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}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// Трансформировать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ArrayList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в тип, совместимый с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IEnumerable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&gt;. 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myCarsEnum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myCars.OfType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&lt;Car&gt;();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// Создать выражение запроса, нацеленное на  совместимый с //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IEnumerable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&lt;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&gt; тип. 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var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fastCars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= from с in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myCarsEnum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where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с.Speed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&gt; 55 select c;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foreach (var car in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fastCars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{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("{0} is going too fast!",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car.Name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); 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}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Заголовок 1_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Внутреннее представление операторов запросов LINQ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Объект 2_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5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Компилятор С# на этапе компиляции транслирует все операции С# LINQ в вызовы методов класса 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Класс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предоставляет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набор </a:t>
            </a:r>
            <a:r>
              <a:rPr lang="ru-RU" sz="3200" b="1" spc="-1" dirty="0">
                <a:solidFill>
                  <a:srgbClr val="000000"/>
                </a:solidFill>
                <a:latin typeface="Calibri"/>
              </a:rPr>
              <a:t>статических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методов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для выполнения запросов к объектам, реализующим интерфейс IEnumerable&lt;T&gt;.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Большинство методов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 принимают в качестве аргументов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делегаты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3200" strike="noStrike" spc="-1" dirty="0">
                <a:solidFill>
                  <a:srgbClr val="000000"/>
                </a:solidFill>
                <a:latin typeface="Calibri"/>
              </a:rPr>
              <a:t>и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</a:rPr>
              <a:t> определены как методы расширения для 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IEnumerable&lt;T&gt;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Они могут вызываться для любых объектов, реализующих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IEnumerable&lt;T&gt;.</a:t>
            </a: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</a:rPr>
              <a:t>Можно либо вручную создать новый тип делегата и разработать для него необходимые целевые методы, либо воспользоваться анонимным методом С#, либо  определить подходящее лямбда-выражение.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Заголовок 1_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9EE81A-DF49-4758-9555-E945533B0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92" y="1417320"/>
            <a:ext cx="7868748" cy="12288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78739D-BB2A-492B-9BB5-3C616905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1785"/>
            <a:ext cx="9144000" cy="845244"/>
          </a:xfrm>
          <a:prstGeom prst="rect">
            <a:avLst/>
          </a:prstGeom>
        </p:spPr>
      </p:pic>
      <p:sp>
        <p:nvSpPr>
          <p:cNvPr id="9" name="Стрелка: изогнутая влево 8">
            <a:extLst>
              <a:ext uri="{FF2B5EF4-FFF2-40B4-BE49-F238E27FC236}">
                <a16:creationId xmlns:a16="http://schemas.microsoft.com/office/drawing/2014/main" id="{75A5BE88-DD96-4865-A232-6260837EA6DF}"/>
              </a:ext>
            </a:extLst>
          </p:cNvPr>
          <p:cNvSpPr/>
          <p:nvPr/>
        </p:nvSpPr>
        <p:spPr>
          <a:xfrm>
            <a:off x="5052060" y="1931670"/>
            <a:ext cx="1280160" cy="24574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трелка: изогнутая вправо 9">
            <a:extLst>
              <a:ext uri="{FF2B5EF4-FFF2-40B4-BE49-F238E27FC236}">
                <a16:creationId xmlns:a16="http://schemas.microsoft.com/office/drawing/2014/main" id="{7FBF573F-F595-4A38-B48F-5D7807DB862F}"/>
              </a:ext>
            </a:extLst>
          </p:cNvPr>
          <p:cNvSpPr/>
          <p:nvPr/>
        </p:nvSpPr>
        <p:spPr>
          <a:xfrm>
            <a:off x="1177290" y="2228850"/>
            <a:ext cx="685800" cy="2457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трелка: изогнутая вправо 14">
            <a:extLst>
              <a:ext uri="{FF2B5EF4-FFF2-40B4-BE49-F238E27FC236}">
                <a16:creationId xmlns:a16="http://schemas.microsoft.com/office/drawing/2014/main" id="{69C86E67-6A32-467D-B73E-BFA61534C5D3}"/>
              </a:ext>
            </a:extLst>
          </p:cNvPr>
          <p:cNvSpPr/>
          <p:nvPr/>
        </p:nvSpPr>
        <p:spPr>
          <a:xfrm>
            <a:off x="245745" y="2508696"/>
            <a:ext cx="571947" cy="2457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8145DC-6BE3-4067-8EF3-23871AFE42BF}"/>
              </a:ext>
            </a:extLst>
          </p:cNvPr>
          <p:cNvSpPr txBox="1"/>
          <p:nvPr/>
        </p:nvSpPr>
        <p:spPr>
          <a:xfrm>
            <a:off x="937260" y="5954689"/>
            <a:ext cx="678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(student=&gt;student) –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выражение тождества</a:t>
            </a:r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5A117-0601-4255-82E4-F7424121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7E7BA7-276B-44EA-84EA-A2B659DF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0" y="1584632"/>
            <a:ext cx="9144000" cy="3740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E394CE-2031-4C88-B7F1-71C0135DB324}"/>
              </a:ext>
            </a:extLst>
          </p:cNvPr>
          <p:cNvSpPr txBox="1"/>
          <p:nvPr/>
        </p:nvSpPr>
        <p:spPr>
          <a:xfrm>
            <a:off x="525600" y="3737610"/>
            <a:ext cx="8092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Вызов расширяющего метода </a:t>
            </a:r>
            <a:r>
              <a:rPr lang="ru-RU" sz="1800" b="1" strike="noStrike" spc="-1" dirty="0" err="1">
                <a:solidFill>
                  <a:srgbClr val="000000"/>
                </a:solidFill>
                <a:latin typeface="Calibri"/>
              </a:rPr>
              <a:t>Where</a:t>
            </a:r>
            <a:r>
              <a:rPr lang="ru-RU" sz="1800" b="1" strike="noStrike" spc="-1" dirty="0">
                <a:solidFill>
                  <a:srgbClr val="000000"/>
                </a:solidFill>
                <a:latin typeface="Calibri"/>
              </a:rPr>
              <a:t>(). </a:t>
            </a:r>
            <a:endParaRPr lang="en-US" sz="1800" b="1" strike="noStrike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Класс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List&lt;T&gt;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 получает метод 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Where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от класса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IEnumerable.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Метод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Enumerable.Where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() принимает в качестве параметра делегат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Func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&lt;&gt;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-1" dirty="0">
                <a:solidFill>
                  <a:srgbClr val="000000"/>
                </a:solidFill>
                <a:latin typeface="Calibri"/>
              </a:rPr>
              <a:t>Целевой метод делегата задается как лямбда-выражение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endParaRPr lang="ru-RU" sz="18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FAEC7074-9E23-4CBD-81A0-15979E766E34}"/>
              </a:ext>
            </a:extLst>
          </p:cNvPr>
          <p:cNvSpPr/>
          <p:nvPr/>
        </p:nvSpPr>
        <p:spPr>
          <a:xfrm>
            <a:off x="5200650" y="2125980"/>
            <a:ext cx="2103120" cy="948690"/>
          </a:xfrm>
          <a:prstGeom prst="wedgeRectCallout">
            <a:avLst>
              <a:gd name="adj1" fmla="val -41633"/>
              <a:gd name="adj2" fmla="val -688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Вызов расширяющего метода </a:t>
            </a:r>
            <a:r>
              <a:rPr lang="ru-RU" sz="1800" b="1" strike="noStrike" spc="-1">
                <a:solidFill>
                  <a:srgbClr val="000000"/>
                </a:solidFill>
                <a:latin typeface="Calibri"/>
              </a:rPr>
              <a:t>Where()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176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5A117-0601-4255-82E4-F7424121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7E7BA7-276B-44EA-84EA-A2B659DF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0" y="1584632"/>
            <a:ext cx="9144000" cy="3740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E394CE-2031-4C88-B7F1-71C0135DB324}"/>
              </a:ext>
            </a:extLst>
          </p:cNvPr>
          <p:cNvSpPr txBox="1"/>
          <p:nvPr/>
        </p:nvSpPr>
        <p:spPr>
          <a:xfrm>
            <a:off x="525600" y="3737610"/>
            <a:ext cx="809244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Класс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List&lt;T&gt;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 получает метод 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Where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от класса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IEnumerable.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Метод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Enumerable.Where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() принимает в качестве параметра делегат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Func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&lt;&gt;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6110" indent="-28575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С его помощью производится передача всех элементов по очереди через  соответствующее лямбда-выражение.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-1" dirty="0">
                <a:solidFill>
                  <a:srgbClr val="000000"/>
                </a:solidFill>
                <a:latin typeface="Calibri"/>
              </a:rPr>
              <a:t>Целевой метод делегата задается как лямбда-выражение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endParaRPr lang="ru-RU" sz="18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FAEC7074-9E23-4CBD-81A0-15979E766E34}"/>
              </a:ext>
            </a:extLst>
          </p:cNvPr>
          <p:cNvSpPr/>
          <p:nvPr/>
        </p:nvSpPr>
        <p:spPr>
          <a:xfrm>
            <a:off x="5200650" y="2125980"/>
            <a:ext cx="2103120" cy="948690"/>
          </a:xfrm>
          <a:prstGeom prst="wedgeRectCallout">
            <a:avLst>
              <a:gd name="adj1" fmla="val -41633"/>
              <a:gd name="adj2" fmla="val -688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Вызов расширяющего метода </a:t>
            </a:r>
            <a:r>
              <a:rPr lang="ru-RU" sz="1800" b="1" strike="noStrike" spc="-1">
                <a:solidFill>
                  <a:srgbClr val="000000"/>
                </a:solidFill>
                <a:latin typeface="Calibri"/>
              </a:rPr>
              <a:t>Where()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585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5A117-0601-4255-82E4-F7424121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394CE-2031-4C88-B7F1-71C0135DB324}"/>
              </a:ext>
            </a:extLst>
          </p:cNvPr>
          <p:cNvSpPr txBox="1"/>
          <p:nvPr/>
        </p:nvSpPr>
        <p:spPr>
          <a:xfrm>
            <a:off x="594000" y="3271123"/>
            <a:ext cx="8092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Класс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List&lt;T&gt;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 получает метод </a:t>
            </a:r>
            <a:r>
              <a:rPr lang="en-US" spc="-1" dirty="0" err="1">
                <a:solidFill>
                  <a:srgbClr val="000000"/>
                </a:solidFill>
                <a:latin typeface="Calibri"/>
              </a:rPr>
              <a:t>OrderBy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от класса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IEnumerable.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Метод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</a:rPr>
              <a:t>OrderBy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() принимает в качестве параметра делегат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Func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&lt;&gt;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С его помощью производится передача всех элементов по очереди через  соответствующее лямбда-выражение. 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-1" dirty="0">
                <a:solidFill>
                  <a:srgbClr val="000000"/>
                </a:solidFill>
                <a:latin typeface="Calibri"/>
              </a:rPr>
              <a:t>Целевой метод делегата задается как лямбда-выражение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endParaRPr lang="ru-RU" sz="18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FAEC7074-9E23-4CBD-81A0-15979E766E34}"/>
              </a:ext>
            </a:extLst>
          </p:cNvPr>
          <p:cNvSpPr/>
          <p:nvPr/>
        </p:nvSpPr>
        <p:spPr>
          <a:xfrm>
            <a:off x="5200650" y="2125980"/>
            <a:ext cx="2103120" cy="948690"/>
          </a:xfrm>
          <a:prstGeom prst="wedgeRectCallout">
            <a:avLst>
              <a:gd name="adj1" fmla="val -41633"/>
              <a:gd name="adj2" fmla="val -688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Вызов расширяющего метода </a:t>
            </a:r>
            <a:r>
              <a:rPr lang="en-US" b="1" spc="-1" dirty="0" err="1">
                <a:solidFill>
                  <a:srgbClr val="000000"/>
                </a:solidFill>
                <a:latin typeface="Calibri"/>
              </a:rPr>
              <a:t>OrderBy</a:t>
            </a:r>
            <a:r>
              <a:rPr lang="ru-RU" sz="1800" b="1" strike="noStrike" spc="-1" dirty="0">
                <a:solidFill>
                  <a:srgbClr val="000000"/>
                </a:solidFill>
                <a:latin typeface="Calibri"/>
              </a:rPr>
              <a:t>()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11CB3E-12B2-41F6-94BB-851A7B6FD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8976"/>
            <a:ext cx="9144000" cy="2455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152404-D4DD-465E-871F-220D81C81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90110"/>
            <a:ext cx="2619741" cy="2857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1A2E39-777A-47B8-8BE1-20AF0ADA1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121" y="5129670"/>
            <a:ext cx="4826319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2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5A117-0601-4255-82E4-F7424121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394CE-2031-4C88-B7F1-71C0135DB324}"/>
              </a:ext>
            </a:extLst>
          </p:cNvPr>
          <p:cNvSpPr txBox="1"/>
          <p:nvPr/>
        </p:nvSpPr>
        <p:spPr>
          <a:xfrm>
            <a:off x="594000" y="3271123"/>
            <a:ext cx="8092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Класс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List&lt;T&gt;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 получает метод 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Select()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от класса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расширяет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</a:rPr>
              <a:t>IEnumreable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&lt;T&gt;, List&lt;T&gt;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реализует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IEnumerable.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Метод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Enumerable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Select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() принимает в качестве параметра делегат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alibri"/>
              </a:rPr>
              <a:t>Func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&lt;&gt;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С его помощью производится передача всех элементов по очереди через  соответствующее лямбда-выражение. 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-1" dirty="0">
                <a:solidFill>
                  <a:srgbClr val="000000"/>
                </a:solidFill>
                <a:latin typeface="Calibri"/>
              </a:rPr>
              <a:t>Целевой метод делегата задается как лямбда-выражение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endParaRPr lang="ru-RU" sz="18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FAEC7074-9E23-4CBD-81A0-15979E766E34}"/>
              </a:ext>
            </a:extLst>
          </p:cNvPr>
          <p:cNvSpPr/>
          <p:nvPr/>
        </p:nvSpPr>
        <p:spPr>
          <a:xfrm>
            <a:off x="5803221" y="2015598"/>
            <a:ext cx="2103120" cy="948690"/>
          </a:xfrm>
          <a:prstGeom prst="wedgeRectCallout">
            <a:avLst>
              <a:gd name="adj1" fmla="val -41633"/>
              <a:gd name="adj2" fmla="val -688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strike="noStrike" spc="-1" dirty="0">
                <a:solidFill>
                  <a:srgbClr val="000000"/>
                </a:solidFill>
                <a:latin typeface="Calibri"/>
              </a:rPr>
              <a:t>Вызов расширяющего метода </a:t>
            </a:r>
            <a:r>
              <a:rPr lang="en-US" b="1" spc="-1" dirty="0">
                <a:solidFill>
                  <a:srgbClr val="000000"/>
                </a:solidFill>
                <a:latin typeface="Calibri"/>
              </a:rPr>
              <a:t>Select</a:t>
            </a:r>
            <a:r>
              <a:rPr lang="ru-RU" sz="1800" b="1" strike="noStrike" spc="-1" dirty="0">
                <a:solidFill>
                  <a:srgbClr val="000000"/>
                </a:solidFill>
                <a:latin typeface="Calibri"/>
              </a:rPr>
              <a:t>()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152404-D4DD-465E-871F-220D81C81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9" y="5553592"/>
            <a:ext cx="2619741" cy="2857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B2F6BC-1A5D-410E-8DA4-3FB203326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203" y="5438537"/>
            <a:ext cx="5172797" cy="11336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E0C6A2-EB2E-4338-B184-BFB579608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0" y="1368050"/>
            <a:ext cx="9144000" cy="34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39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pic>
        <p:nvPicPr>
          <p:cNvPr id="261" name="Picture 3"/>
          <p:cNvPicPr/>
          <p:nvPr/>
        </p:nvPicPr>
        <p:blipFill>
          <a:blip r:embed="rId2"/>
          <a:stretch/>
        </p:blipFill>
        <p:spPr>
          <a:xfrm>
            <a:off x="1187640" y="1196640"/>
            <a:ext cx="6072120" cy="5252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493B6-5C9D-44C7-A265-3988290F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Коллекция коллекций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2044FB-6131-4B45-88B1-89185F6FA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98" y="1622080"/>
            <a:ext cx="7259063" cy="39058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5C61A13-7EB2-462F-8287-05BAE5AF0A4C}"/>
              </a:ext>
            </a:extLst>
          </p:cNvPr>
          <p:cNvSpPr/>
          <p:nvPr/>
        </p:nvSpPr>
        <p:spPr>
          <a:xfrm>
            <a:off x="902970" y="2297430"/>
            <a:ext cx="9144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8F1C2E-8501-4BE3-80EF-4927B2763463}"/>
              </a:ext>
            </a:extLst>
          </p:cNvPr>
          <p:cNvSpPr/>
          <p:nvPr/>
        </p:nvSpPr>
        <p:spPr>
          <a:xfrm>
            <a:off x="1817370" y="2297430"/>
            <a:ext cx="9144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B2FAECD-AF45-47C4-BDEA-8E5504CB8CA3}"/>
              </a:ext>
            </a:extLst>
          </p:cNvPr>
          <p:cNvSpPr/>
          <p:nvPr/>
        </p:nvSpPr>
        <p:spPr>
          <a:xfrm>
            <a:off x="2731770" y="2297430"/>
            <a:ext cx="9144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D9A2AB1-74D6-4B8D-B0F3-AA04AC95237D}"/>
              </a:ext>
            </a:extLst>
          </p:cNvPr>
          <p:cNvSpPr/>
          <p:nvPr/>
        </p:nvSpPr>
        <p:spPr>
          <a:xfrm>
            <a:off x="3646170" y="2297430"/>
            <a:ext cx="9144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8EA07DB-3E40-4743-A26E-297B9D1A52E6}"/>
              </a:ext>
            </a:extLst>
          </p:cNvPr>
          <p:cNvGrpSpPr/>
          <p:nvPr/>
        </p:nvGrpSpPr>
        <p:grpSpPr>
          <a:xfrm>
            <a:off x="457200" y="4012910"/>
            <a:ext cx="1463040" cy="444790"/>
            <a:chOff x="1817370" y="4321520"/>
            <a:chExt cx="1463040" cy="44479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6B8AB00E-5552-42B8-B119-CA4FA7A782C3}"/>
                </a:ext>
              </a:extLst>
            </p:cNvPr>
            <p:cNvSpPr/>
            <p:nvPr/>
          </p:nvSpPr>
          <p:spPr>
            <a:xfrm>
              <a:off x="181737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C71247D-0658-44F8-A7C3-4370B8BA1D5E}"/>
                </a:ext>
              </a:extLst>
            </p:cNvPr>
            <p:cNvSpPr/>
            <p:nvPr/>
          </p:nvSpPr>
          <p:spPr>
            <a:xfrm>
              <a:off x="218313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C372349-6A6F-47AA-8382-5191BCC15B1D}"/>
                </a:ext>
              </a:extLst>
            </p:cNvPr>
            <p:cNvSpPr/>
            <p:nvPr/>
          </p:nvSpPr>
          <p:spPr>
            <a:xfrm>
              <a:off x="254889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0F6604B-774C-48CF-9507-EEE2A985F1EF}"/>
                </a:ext>
              </a:extLst>
            </p:cNvPr>
            <p:cNvSpPr/>
            <p:nvPr/>
          </p:nvSpPr>
          <p:spPr>
            <a:xfrm>
              <a:off x="291465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17B1DCF-692F-4450-BEC3-51F05B98C880}"/>
              </a:ext>
            </a:extLst>
          </p:cNvPr>
          <p:cNvGrpSpPr/>
          <p:nvPr/>
        </p:nvGrpSpPr>
        <p:grpSpPr>
          <a:xfrm>
            <a:off x="2114550" y="4001480"/>
            <a:ext cx="1463040" cy="444790"/>
            <a:chOff x="1817370" y="4321520"/>
            <a:chExt cx="1463040" cy="44479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72A362D3-0005-4AFD-8F59-C1EB01C249F0}"/>
                </a:ext>
              </a:extLst>
            </p:cNvPr>
            <p:cNvSpPr/>
            <p:nvPr/>
          </p:nvSpPr>
          <p:spPr>
            <a:xfrm>
              <a:off x="181737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591337B3-B8B0-4DC2-B0CD-5BF312D4FFE5}"/>
                </a:ext>
              </a:extLst>
            </p:cNvPr>
            <p:cNvSpPr/>
            <p:nvPr/>
          </p:nvSpPr>
          <p:spPr>
            <a:xfrm>
              <a:off x="218313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DBE00EE5-83CF-40BC-B143-DE2E2B734942}"/>
                </a:ext>
              </a:extLst>
            </p:cNvPr>
            <p:cNvSpPr/>
            <p:nvPr/>
          </p:nvSpPr>
          <p:spPr>
            <a:xfrm>
              <a:off x="254889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CD1CA01-0718-4D24-A3FE-9192B67F0007}"/>
                </a:ext>
              </a:extLst>
            </p:cNvPr>
            <p:cNvSpPr/>
            <p:nvPr/>
          </p:nvSpPr>
          <p:spPr>
            <a:xfrm>
              <a:off x="291465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F0D8FBF-C49D-42A0-B28F-833381DBB907}"/>
              </a:ext>
            </a:extLst>
          </p:cNvPr>
          <p:cNvGrpSpPr/>
          <p:nvPr/>
        </p:nvGrpSpPr>
        <p:grpSpPr>
          <a:xfrm>
            <a:off x="3829050" y="4012910"/>
            <a:ext cx="1463040" cy="444790"/>
            <a:chOff x="1817370" y="4321520"/>
            <a:chExt cx="1463040" cy="444790"/>
          </a:xfrm>
        </p:grpSpPr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D6A7C-2E79-4AD8-8985-6A549D7B3C1C}"/>
                </a:ext>
              </a:extLst>
            </p:cNvPr>
            <p:cNvSpPr/>
            <p:nvPr/>
          </p:nvSpPr>
          <p:spPr>
            <a:xfrm>
              <a:off x="181737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2D63845-4332-405F-B160-528231BE2E09}"/>
                </a:ext>
              </a:extLst>
            </p:cNvPr>
            <p:cNvSpPr/>
            <p:nvPr/>
          </p:nvSpPr>
          <p:spPr>
            <a:xfrm>
              <a:off x="218313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A0A0225C-481F-4440-827F-200A6BB963D6}"/>
                </a:ext>
              </a:extLst>
            </p:cNvPr>
            <p:cNvSpPr/>
            <p:nvPr/>
          </p:nvSpPr>
          <p:spPr>
            <a:xfrm>
              <a:off x="254889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033536D6-8E31-489C-933C-560E1CC00564}"/>
                </a:ext>
              </a:extLst>
            </p:cNvPr>
            <p:cNvSpPr/>
            <p:nvPr/>
          </p:nvSpPr>
          <p:spPr>
            <a:xfrm>
              <a:off x="291465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FA5E5681-4E1B-438C-8D32-B1600B03A3E3}"/>
              </a:ext>
            </a:extLst>
          </p:cNvPr>
          <p:cNvGrpSpPr/>
          <p:nvPr/>
        </p:nvGrpSpPr>
        <p:grpSpPr>
          <a:xfrm>
            <a:off x="5703570" y="4001480"/>
            <a:ext cx="1463040" cy="444790"/>
            <a:chOff x="1817370" y="4321520"/>
            <a:chExt cx="1463040" cy="44479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ACB9D656-5616-4ADB-8A2C-DA367A7BE7A1}"/>
                </a:ext>
              </a:extLst>
            </p:cNvPr>
            <p:cNvSpPr/>
            <p:nvPr/>
          </p:nvSpPr>
          <p:spPr>
            <a:xfrm>
              <a:off x="181737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FD84BD31-C1DC-416C-A083-745643A6F210}"/>
                </a:ext>
              </a:extLst>
            </p:cNvPr>
            <p:cNvSpPr/>
            <p:nvPr/>
          </p:nvSpPr>
          <p:spPr>
            <a:xfrm>
              <a:off x="218313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1D6C9DDD-BDA5-43AC-87A0-326F0CDA4618}"/>
                </a:ext>
              </a:extLst>
            </p:cNvPr>
            <p:cNvSpPr/>
            <p:nvPr/>
          </p:nvSpPr>
          <p:spPr>
            <a:xfrm>
              <a:off x="254889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D25869D-904F-4A36-B380-4117F506B787}"/>
                </a:ext>
              </a:extLst>
            </p:cNvPr>
            <p:cNvSpPr/>
            <p:nvPr/>
          </p:nvSpPr>
          <p:spPr>
            <a:xfrm>
              <a:off x="2914650" y="4321520"/>
              <a:ext cx="365760" cy="4447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DC5342E3-7940-4D84-858A-011CB274277E}"/>
              </a:ext>
            </a:extLst>
          </p:cNvPr>
          <p:cNvCxnSpPr>
            <a:cxnSpLocks/>
          </p:cNvCxnSpPr>
          <p:nvPr/>
        </p:nvCxnSpPr>
        <p:spPr>
          <a:xfrm flipH="1">
            <a:off x="725298" y="2813740"/>
            <a:ext cx="629665" cy="108389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CBE5BFFB-8205-4705-8E9A-6273F7F8EA8A}"/>
              </a:ext>
            </a:extLst>
          </p:cNvPr>
          <p:cNvCxnSpPr>
            <a:cxnSpLocks/>
          </p:cNvCxnSpPr>
          <p:nvPr/>
        </p:nvCxnSpPr>
        <p:spPr>
          <a:xfrm>
            <a:off x="2383662" y="2754630"/>
            <a:ext cx="0" cy="124685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B5A09AC-7199-4DE1-990D-5DD51C4AEA73}"/>
              </a:ext>
            </a:extLst>
          </p:cNvPr>
          <p:cNvCxnSpPr>
            <a:cxnSpLocks/>
          </p:cNvCxnSpPr>
          <p:nvPr/>
        </p:nvCxnSpPr>
        <p:spPr>
          <a:xfrm>
            <a:off x="3211829" y="2813740"/>
            <a:ext cx="737744" cy="113581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73322977-9700-41B9-8098-87592D95DB7E}"/>
              </a:ext>
            </a:extLst>
          </p:cNvPr>
          <p:cNvCxnSpPr>
            <a:cxnSpLocks/>
          </p:cNvCxnSpPr>
          <p:nvPr/>
        </p:nvCxnSpPr>
        <p:spPr>
          <a:xfrm>
            <a:off x="4194810" y="2845090"/>
            <a:ext cx="1609026" cy="105254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447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Примеры запросов</a:t>
            </a:r>
            <a:r>
              <a:rPr lang="en-US" sz="44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ru-RU" sz="4400" spc="-1" dirty="0">
                <a:solidFill>
                  <a:srgbClr val="000000"/>
                </a:solidFill>
                <a:latin typeface="Calibri"/>
              </a:rPr>
              <a:t>Фильтрация</a:t>
            </a:r>
            <a:endParaRPr lang="ru-RU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FC2F19-FEEE-47DB-BF9C-A4842D7D0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03" y="1691552"/>
            <a:ext cx="8659433" cy="12574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5DBBF2-8A82-4259-9FD4-3659CBBBC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" y="4040437"/>
            <a:ext cx="8411749" cy="97168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Примеры запросов</a:t>
            </a: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ru-RU" sz="4400" b="0" strike="noStrike" spc="-1" dirty="0">
                <a:solidFill>
                  <a:srgbClr val="000000"/>
                </a:solidFill>
                <a:latin typeface="Calibri"/>
              </a:rPr>
              <a:t>Фильтрация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3B8757-A5F0-435D-992A-0D03FEE93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8" y="4081370"/>
            <a:ext cx="8326012" cy="13241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0BF700-213D-41E9-96AC-99A5B17AD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0" y="1733207"/>
            <a:ext cx="9144000" cy="11532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73" name="Объект 2"/>
          <p:cNvSpPr txBox="1"/>
          <p:nvPr/>
        </p:nvSpPr>
        <p:spPr>
          <a:xfrm>
            <a:off x="457200" y="1600200"/>
            <a:ext cx="8229240" cy="499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u="sng" strike="noStrike" spc="-1">
                <a:solidFill>
                  <a:srgbClr val="000000"/>
                </a:solidFill>
                <a:uFillTx/>
                <a:latin typeface="Calibri"/>
              </a:rPr>
              <a:t>Проекция: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позволяет спроектировать из текущего типа выборки какой-то другой тип. 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Для проекции используется оператор select.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from el in c where el is Employee select new { Name = el.Name, Salary =((Employee) el).Salary };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c.Where(e=&gt;e is Employee). Select(el =&gt; new { Name = el.Name, Salary = ((Employee)el).Salary });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76" name="Объект 3"/>
          <p:cNvSpPr txBox="1"/>
          <p:nvPr/>
        </p:nvSpPr>
        <p:spPr>
          <a:xfrm>
            <a:off x="395640" y="1628640"/>
            <a:ext cx="8352720" cy="48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5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Если требуется вернуть проекцию, как результат метода, то ее нужно преобразовать в массив с помощью метода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ToArray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():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static 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Array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NewTypeArray(ICollection&lt;Person&gt; c)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{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c.Where(e=&gt;e is Employee). Select(el =&gt; new { Name = el.Name,  Salary = ((Employee)el).Salary });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return 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res.ToArray();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}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Вызвать метод, который возвращает проекцию можно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следующим образом: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</a:rPr>
              <a:t>Array arr=NewTypeArray(faculty1);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foreach (var x in arr)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               Console.WriteLine(x);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78" name="Объект 2"/>
          <p:cNvSpPr txBox="1"/>
          <p:nvPr/>
        </p:nvSpPr>
        <p:spPr>
          <a:xfrm>
            <a:off x="179640" y="1600200"/>
            <a:ext cx="87847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u="sng" strike="noStrike" spc="-1">
                <a:solidFill>
                  <a:srgbClr val="000000"/>
                </a:solidFill>
                <a:uFillTx/>
                <a:latin typeface="Calibri"/>
              </a:rPr>
              <a:t>Дополнительные вычисления</a:t>
            </a:r>
            <a:r>
              <a:rPr lang="en-US" sz="3200" b="1" u="sng" strike="noStrike" spc="-1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с помощью оператора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let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</a:t>
            </a:r>
            <a:r>
              <a:rPr lang="en-US" sz="3200" b="0" u="sng" strike="noStrike" spc="-1">
                <a:solidFill>
                  <a:srgbClr val="000000"/>
                </a:solidFill>
                <a:uFillTx/>
                <a:latin typeface="Calibri"/>
              </a:rPr>
              <a:t>from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el in list </a:t>
            </a:r>
            <a:r>
              <a:rPr lang="en-US" sz="3200" b="0" u="sng" strike="noStrike" spc="-1">
                <a:solidFill>
                  <a:srgbClr val="000000"/>
                </a:solidFill>
                <a:uFillTx/>
                <a:latin typeface="Calibri"/>
              </a:rPr>
              <a:t>where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el is Teacher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u="sng" strike="noStrike" spc="-1">
                <a:solidFill>
                  <a:srgbClr val="FF0000"/>
                </a:solidFill>
                <a:uFillTx/>
                <a:latin typeface="Calibri"/>
              </a:rPr>
              <a:t>let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 totalSalary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= ((Teacher)el).Salary + ((Teacher)el).Salary * ((Teacher)el).Bonus </a:t>
            </a:r>
            <a:r>
              <a:rPr lang="en-US" sz="3200" b="0" u="sng" strike="noStrike" spc="-1">
                <a:solidFill>
                  <a:srgbClr val="000000"/>
                </a:solidFill>
                <a:uFillTx/>
                <a:latin typeface="Calibri"/>
              </a:rPr>
              <a:t>select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new { Name = el.Name, TotalSalary = </a:t>
            </a: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totalSalary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};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9" name="Picture 2"/>
          <p:cNvPicPr/>
          <p:nvPr/>
        </p:nvPicPr>
        <p:blipFill>
          <a:blip r:embed="rId2"/>
          <a:stretch/>
        </p:blipFill>
        <p:spPr>
          <a:xfrm>
            <a:off x="672210" y="4884390"/>
            <a:ext cx="7181640" cy="161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81" name="Объект 2"/>
          <p:cNvSpPr txBox="1"/>
          <p:nvPr/>
        </p:nvSpPr>
        <p:spPr>
          <a:xfrm>
            <a:off x="107640" y="1600200"/>
            <a:ext cx="88567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сортировки элементов в подмножестве по заданному значению используется операция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</a:rPr>
              <a:t>orderby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. 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По умолчанию принят порядок по возрастанию, поэтому упорядочение строк производится в алфавитном порядке, числовых значений — от меньшего к  большему, и т.д. 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Чтобы отсортировать в обратном порядке, используется операция 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</a:rPr>
              <a:t>descending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83" name="Объект 2"/>
          <p:cNvSpPr txBox="1"/>
          <p:nvPr/>
        </p:nvSpPr>
        <p:spPr>
          <a:xfrm>
            <a:off x="179640" y="1600200"/>
            <a:ext cx="8784720" cy="5140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u="sng" strike="noStrike" spc="-1">
                <a:solidFill>
                  <a:srgbClr val="000000"/>
                </a:solidFill>
                <a:uFillTx/>
                <a:latin typeface="Calibri"/>
              </a:rPr>
              <a:t>Сортировка</a:t>
            </a:r>
            <a:r>
              <a:rPr lang="en-US" sz="3200" b="1" u="sng" strike="noStrike" spc="-1">
                <a:solidFill>
                  <a:srgbClr val="000000"/>
                </a:solidFill>
                <a:uFillTx/>
                <a:latin typeface="Calibri"/>
              </a:rPr>
              <a:t>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from el in list orderby  el.Name select el;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</a:rPr>
              <a:t>var res = list.OrderBy (el =&gt; el.Name).Select(el=&gt;el);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//по убыванию ключа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from el in list orderby  el.Name descending select el;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</a:rPr>
              <a:t>var res = list.OrderByDescending(el =&gt; el.Name).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</a:rPr>
              <a:t>Select(el=&gt;el);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//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множественные критерии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from el in list orderby  el.Name,el.Age select el;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</a:rPr>
              <a:t>var res = list.OrderBy(el =&gt; el.Name).ThenBy(el=&gt;el.Age).Select(el=&gt;el);</a:t>
            </a: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           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00" lnSpcReduction="1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Объединение, разность, конкатенация и пересечение данных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Объект 2"/>
          <p:cNvSpPr txBox="1"/>
          <p:nvPr/>
        </p:nvSpPr>
        <p:spPr>
          <a:xfrm>
            <a:off x="286920" y="1917000"/>
            <a:ext cx="88567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Класс Enumerable поддерживает набор расширяющих методов, которые позволяют использовать два (или более) запроса LINQ в качестве основы для нахождения объединений, разностей, конкатенации и пересечений данных.</a:t>
            </a: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87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//Объединение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res1 = (from el in faculty1 select el).Union(from el in faculty2 select el);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//разность 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res2 = (from el in faculty1 select el).Except(from el in faculty2 select el);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//пересечение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res3 = (from el in faculty1 select el).Intersect( from el in faculty2 select el);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//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сцепление и удаление дубликатов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res4 = (from el in faculty1 select el).Concat(from el in faculty2 select el).Distinct();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Заголовок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</a:rPr>
              <a:t>Агрегатные операции LINQ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Объект 5"/>
          <p:cNvSpPr txBox="1"/>
          <p:nvPr/>
        </p:nvSpPr>
        <p:spPr>
          <a:xfrm>
            <a:off x="467640" y="1340640"/>
            <a:ext cx="8229240" cy="51123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Для получение среднего, максимума, минимума или суммы используются  методы Мах(), Min(), Average(), Sum().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//максимальное значение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(from f in university from el in f where el is Employee select ((Employee)el).Salary).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Max();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university.SelectMany(f =&gt; f).Select(e =&gt; e).Where(e =&gt; e is Student).Select(el =&gt; ((Employee)el).Salary). Max();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//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среднее значение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(from f in university from el in f where el is Employee select ((Employee)el).Salary).Average();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university.SelectMany(f =&gt; f).Select(e =&gt; e).Where(e =&gt; e is Student).Select(el =&gt; ((Employee)el).Salary).Average();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Группировка</a:t>
            </a:r>
          </a:p>
        </p:txBody>
      </p:sp>
      <p:sp>
        <p:nvSpPr>
          <p:cNvPr id="291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Для группировки данных по определенным параметрам применяется оператор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group by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или метод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GroupBy()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Результатом оператора group является выборка, которая состоит из групп.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Каждая группа представляет объект IGrouping&lt;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T1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T2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&gt;: параметр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T1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указывает на тип ключа, а параметр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T2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- на тип сгруппированных объектов.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Каждая группа имеет ключ, который мы можем получить через свойство Key: g.Key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Все элементы группы можно получить с помощью дополнительной итерации. 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93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Console.WriteLine("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Группировка по возрасту");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from el in faculty1 group el by el.Age; 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foreach (IGrouping&lt;int, Person&gt; g in res)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{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	Console.WriteLine(g.Key);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	foreach (var e in g)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		Console.WriteLine(e);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}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96" name="Объект 2"/>
          <p:cNvSpPr txBox="1"/>
          <p:nvPr/>
        </p:nvSpPr>
        <p:spPr>
          <a:xfrm>
            <a:off x="179640" y="1600200"/>
            <a:ext cx="864072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grRes = from el in faculty1 group el by el.Age into gr select new { Name = gr.Key, Count = gr.Count() };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foreach (var g in grRes)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           Console.WriteLine($"{g.Name} - {g.Count}");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299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00" lnSpcReduction="200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Аналогичные запросы можно построить с помощью метода расширения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GroupBy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: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var res = faculty1.GroupBy(el =&gt; el.Age);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foreach (IGrouping&lt;int, Person&gt; g in res)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{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Console.WriteLine(g.Key);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foreach (var e in g)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	Console.WriteLine(e);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301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Аналогичные запросы можно построить с помощью метода расширения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GroupBy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: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grRes = faculty1.GroupBy(el =&gt; el.Age).Select(gr =&gt; new { Name = gr.Key, Count = gr.Count() });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sv-SE" sz="3200" b="0" strike="noStrike" spc="-1">
                <a:solidFill>
                  <a:srgbClr val="000000"/>
                </a:solidFill>
                <a:latin typeface="Calibri"/>
              </a:rPr>
              <a:t>foreach (var g in grRes)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Console.WriteLine($"{g.Name} - {g.Count}");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Методы All и Any</a:t>
            </a:r>
          </a:p>
        </p:txBody>
      </p:sp>
      <p:sp>
        <p:nvSpPr>
          <p:cNvPr id="303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Методы All, Any и Contains позволяют определить, соответствует ли коллекция определенному условию, и в зависимости от результата они возвращают true или false.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Метод All проверяет, соответствуют ли все элементы условию.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Метод Any позволяет узнать, соответствует ли хотя бы один элемент коллекции определенному условию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305" name="Объект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var res = (from f in faculty1 where f is Student &amp;&amp; ((Student)f).Rating &lt; 4 select f).Any();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var res = (faculty1.Where(f =&gt; f is Student &amp;&amp; ((Student)f).Rating &gt; 4).Select(f =&gt; f)).All();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B9995-2A21-4E34-A52A-D71A2963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 </a:t>
            </a:r>
            <a:r>
              <a:rPr lang="en-US" dirty="0"/>
              <a:t>Join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599081-B5F3-4FC4-B8C6-C0D11A74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44" y="1600200"/>
            <a:ext cx="4520496" cy="3041988"/>
          </a:xfrm>
          <a:prstGeom prst="rect">
            <a:avLst/>
          </a:prstGeom>
        </p:spPr>
      </p:pic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5E2BBE34-9E40-420E-85A7-AE6A8FBC8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827964"/>
              </p:ext>
            </p:extLst>
          </p:nvPr>
        </p:nvGraphicFramePr>
        <p:xfrm>
          <a:off x="4855612" y="3799543"/>
          <a:ext cx="404622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3068775218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1883861019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117498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br>
                        <a:rPr lang="en-US" dirty="0"/>
                      </a:br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ИАУП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2335"/>
                  </a:ext>
                </a:extLst>
              </a:tr>
            </a:tbl>
          </a:graphicData>
        </a:graphic>
      </p:graphicFrame>
      <p:graphicFrame>
        <p:nvGraphicFramePr>
          <p:cNvPr id="6" name="Таблица 3">
            <a:extLst>
              <a:ext uri="{FF2B5EF4-FFF2-40B4-BE49-F238E27FC236}">
                <a16:creationId xmlns:a16="http://schemas.microsoft.com/office/drawing/2014/main" id="{648F81ED-73EE-4CA3-AA7C-131A461BC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106324"/>
              </p:ext>
            </p:extLst>
          </p:nvPr>
        </p:nvGraphicFramePr>
        <p:xfrm>
          <a:off x="4772226" y="1621790"/>
          <a:ext cx="391421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154">
                  <a:extLst>
                    <a:ext uri="{9D8B030D-6E8A-4147-A177-3AD203B41FA5}">
                      <a16:colId xmlns:a16="http://schemas.microsoft.com/office/drawing/2014/main" val="306877521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883861019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11749816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460729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Pr. Name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Сидоров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2335"/>
                  </a:ext>
                </a:extLst>
              </a:tr>
            </a:tbl>
          </a:graphicData>
        </a:graphic>
      </p:graphicFrame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368D596A-2904-40DF-8070-53074029B32A}"/>
              </a:ext>
            </a:extLst>
          </p:cNvPr>
          <p:cNvSpPr/>
          <p:nvPr/>
        </p:nvSpPr>
        <p:spPr>
          <a:xfrm>
            <a:off x="7338060" y="1280160"/>
            <a:ext cx="1627796" cy="2320290"/>
          </a:xfrm>
          <a:custGeom>
            <a:avLst/>
            <a:gdLst>
              <a:gd name="connsiteX0" fmla="*/ 1211580 w 1627796"/>
              <a:gd name="connsiteY0" fmla="*/ 45720 h 2320290"/>
              <a:gd name="connsiteX1" fmla="*/ 1211580 w 1627796"/>
              <a:gd name="connsiteY1" fmla="*/ 45720 h 2320290"/>
              <a:gd name="connsiteX2" fmla="*/ 1097280 w 1627796"/>
              <a:gd name="connsiteY2" fmla="*/ 22860 h 2320290"/>
              <a:gd name="connsiteX3" fmla="*/ 994410 w 1627796"/>
              <a:gd name="connsiteY3" fmla="*/ 11430 h 2320290"/>
              <a:gd name="connsiteX4" fmla="*/ 914400 w 1627796"/>
              <a:gd name="connsiteY4" fmla="*/ 0 h 2320290"/>
              <a:gd name="connsiteX5" fmla="*/ 777240 w 1627796"/>
              <a:gd name="connsiteY5" fmla="*/ 11430 h 2320290"/>
              <a:gd name="connsiteX6" fmla="*/ 605790 w 1627796"/>
              <a:gd name="connsiteY6" fmla="*/ 91440 h 2320290"/>
              <a:gd name="connsiteX7" fmla="*/ 548640 w 1627796"/>
              <a:gd name="connsiteY7" fmla="*/ 102870 h 2320290"/>
              <a:gd name="connsiteX8" fmla="*/ 445770 w 1627796"/>
              <a:gd name="connsiteY8" fmla="*/ 137160 h 2320290"/>
              <a:gd name="connsiteX9" fmla="*/ 365760 w 1627796"/>
              <a:gd name="connsiteY9" fmla="*/ 205740 h 2320290"/>
              <a:gd name="connsiteX10" fmla="*/ 320040 w 1627796"/>
              <a:gd name="connsiteY10" fmla="*/ 217170 h 2320290"/>
              <a:gd name="connsiteX11" fmla="*/ 240030 w 1627796"/>
              <a:gd name="connsiteY11" fmla="*/ 365760 h 2320290"/>
              <a:gd name="connsiteX12" fmla="*/ 125730 w 1627796"/>
              <a:gd name="connsiteY12" fmla="*/ 685800 h 2320290"/>
              <a:gd name="connsiteX13" fmla="*/ 80010 w 1627796"/>
              <a:gd name="connsiteY13" fmla="*/ 891540 h 2320290"/>
              <a:gd name="connsiteX14" fmla="*/ 0 w 1627796"/>
              <a:gd name="connsiteY14" fmla="*/ 1177290 h 2320290"/>
              <a:gd name="connsiteX15" fmla="*/ 22860 w 1627796"/>
              <a:gd name="connsiteY15" fmla="*/ 1440180 h 2320290"/>
              <a:gd name="connsiteX16" fmla="*/ 102870 w 1627796"/>
              <a:gd name="connsiteY16" fmla="*/ 1588770 h 2320290"/>
              <a:gd name="connsiteX17" fmla="*/ 217170 w 1627796"/>
              <a:gd name="connsiteY17" fmla="*/ 1783080 h 2320290"/>
              <a:gd name="connsiteX18" fmla="*/ 274320 w 1627796"/>
              <a:gd name="connsiteY18" fmla="*/ 1954530 h 2320290"/>
              <a:gd name="connsiteX19" fmla="*/ 297180 w 1627796"/>
              <a:gd name="connsiteY19" fmla="*/ 2045970 h 2320290"/>
              <a:gd name="connsiteX20" fmla="*/ 331470 w 1627796"/>
              <a:gd name="connsiteY20" fmla="*/ 2160270 h 2320290"/>
              <a:gd name="connsiteX21" fmla="*/ 354330 w 1627796"/>
              <a:gd name="connsiteY21" fmla="*/ 2217420 h 2320290"/>
              <a:gd name="connsiteX22" fmla="*/ 422910 w 1627796"/>
              <a:gd name="connsiteY22" fmla="*/ 2274570 h 2320290"/>
              <a:gd name="connsiteX23" fmla="*/ 457200 w 1627796"/>
              <a:gd name="connsiteY23" fmla="*/ 2297430 h 2320290"/>
              <a:gd name="connsiteX24" fmla="*/ 560070 w 1627796"/>
              <a:gd name="connsiteY24" fmla="*/ 2308860 h 2320290"/>
              <a:gd name="connsiteX25" fmla="*/ 617220 w 1627796"/>
              <a:gd name="connsiteY25" fmla="*/ 2320290 h 2320290"/>
              <a:gd name="connsiteX26" fmla="*/ 788670 w 1627796"/>
              <a:gd name="connsiteY26" fmla="*/ 2308860 h 2320290"/>
              <a:gd name="connsiteX27" fmla="*/ 834390 w 1627796"/>
              <a:gd name="connsiteY27" fmla="*/ 2286000 h 2320290"/>
              <a:gd name="connsiteX28" fmla="*/ 1131570 w 1627796"/>
              <a:gd name="connsiteY28" fmla="*/ 2263140 h 2320290"/>
              <a:gd name="connsiteX29" fmla="*/ 1280160 w 1627796"/>
              <a:gd name="connsiteY29" fmla="*/ 2160270 h 2320290"/>
              <a:gd name="connsiteX30" fmla="*/ 1314450 w 1627796"/>
              <a:gd name="connsiteY30" fmla="*/ 2068830 h 2320290"/>
              <a:gd name="connsiteX31" fmla="*/ 1383030 w 1627796"/>
              <a:gd name="connsiteY31" fmla="*/ 1897380 h 2320290"/>
              <a:gd name="connsiteX32" fmla="*/ 1405890 w 1627796"/>
              <a:gd name="connsiteY32" fmla="*/ 1783080 h 2320290"/>
              <a:gd name="connsiteX33" fmla="*/ 1463040 w 1627796"/>
              <a:gd name="connsiteY33" fmla="*/ 1577340 h 2320290"/>
              <a:gd name="connsiteX34" fmla="*/ 1485900 w 1627796"/>
              <a:gd name="connsiteY34" fmla="*/ 1463040 h 2320290"/>
              <a:gd name="connsiteX35" fmla="*/ 1520190 w 1627796"/>
              <a:gd name="connsiteY35" fmla="*/ 1234440 h 2320290"/>
              <a:gd name="connsiteX36" fmla="*/ 1577340 w 1627796"/>
              <a:gd name="connsiteY36" fmla="*/ 1085850 h 2320290"/>
              <a:gd name="connsiteX37" fmla="*/ 1588770 w 1627796"/>
              <a:gd name="connsiteY37" fmla="*/ 857250 h 2320290"/>
              <a:gd name="connsiteX38" fmla="*/ 1577340 w 1627796"/>
              <a:gd name="connsiteY38" fmla="*/ 354330 h 2320290"/>
              <a:gd name="connsiteX39" fmla="*/ 1485900 w 1627796"/>
              <a:gd name="connsiteY39" fmla="*/ 217170 h 2320290"/>
              <a:gd name="connsiteX40" fmla="*/ 1394460 w 1627796"/>
              <a:gd name="connsiteY40" fmla="*/ 68580 h 2320290"/>
              <a:gd name="connsiteX41" fmla="*/ 1211580 w 1627796"/>
              <a:gd name="connsiteY41" fmla="*/ 34290 h 2320290"/>
              <a:gd name="connsiteX42" fmla="*/ 1154430 w 1627796"/>
              <a:gd name="connsiteY42" fmla="*/ 11430 h 2320290"/>
              <a:gd name="connsiteX43" fmla="*/ 1143000 w 1627796"/>
              <a:gd name="connsiteY43" fmla="*/ 22860 h 2320290"/>
              <a:gd name="connsiteX44" fmla="*/ 1143000 w 1627796"/>
              <a:gd name="connsiteY44" fmla="*/ 22860 h 232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627796" h="2320290">
                <a:moveTo>
                  <a:pt x="1211580" y="45720"/>
                </a:moveTo>
                <a:lnTo>
                  <a:pt x="1211580" y="45720"/>
                </a:lnTo>
                <a:cubicBezTo>
                  <a:pt x="1173480" y="38100"/>
                  <a:pt x="1135659" y="28920"/>
                  <a:pt x="1097280" y="22860"/>
                </a:cubicBezTo>
                <a:cubicBezTo>
                  <a:pt x="1063201" y="17479"/>
                  <a:pt x="1028645" y="15709"/>
                  <a:pt x="994410" y="11430"/>
                </a:cubicBezTo>
                <a:cubicBezTo>
                  <a:pt x="967677" y="8088"/>
                  <a:pt x="941070" y="3810"/>
                  <a:pt x="914400" y="0"/>
                </a:cubicBezTo>
                <a:cubicBezTo>
                  <a:pt x="868680" y="3810"/>
                  <a:pt x="822134" y="1979"/>
                  <a:pt x="777240" y="11430"/>
                </a:cubicBezTo>
                <a:cubicBezTo>
                  <a:pt x="739100" y="19459"/>
                  <a:pt x="637222" y="79351"/>
                  <a:pt x="605790" y="91440"/>
                </a:cubicBezTo>
                <a:cubicBezTo>
                  <a:pt x="587658" y="98414"/>
                  <a:pt x="567320" y="97533"/>
                  <a:pt x="548640" y="102870"/>
                </a:cubicBezTo>
                <a:cubicBezTo>
                  <a:pt x="513886" y="112800"/>
                  <a:pt x="480060" y="125730"/>
                  <a:pt x="445770" y="137160"/>
                </a:cubicBezTo>
                <a:cubicBezTo>
                  <a:pt x="419100" y="160020"/>
                  <a:pt x="395395" y="186881"/>
                  <a:pt x="365760" y="205740"/>
                </a:cubicBezTo>
                <a:cubicBezTo>
                  <a:pt x="352507" y="214174"/>
                  <a:pt x="332823" y="208039"/>
                  <a:pt x="320040" y="217170"/>
                </a:cubicBezTo>
                <a:cubicBezTo>
                  <a:pt x="286133" y="241389"/>
                  <a:pt x="248383" y="346965"/>
                  <a:pt x="240030" y="365760"/>
                </a:cubicBezTo>
                <a:cubicBezTo>
                  <a:pt x="180051" y="665657"/>
                  <a:pt x="247519" y="415159"/>
                  <a:pt x="125730" y="685800"/>
                </a:cubicBezTo>
                <a:cubicBezTo>
                  <a:pt x="100724" y="741369"/>
                  <a:pt x="93156" y="838955"/>
                  <a:pt x="80010" y="891540"/>
                </a:cubicBezTo>
                <a:cubicBezTo>
                  <a:pt x="56020" y="987500"/>
                  <a:pt x="0" y="1177290"/>
                  <a:pt x="0" y="1177290"/>
                </a:cubicBezTo>
                <a:cubicBezTo>
                  <a:pt x="7620" y="1264920"/>
                  <a:pt x="8854" y="1353342"/>
                  <a:pt x="22860" y="1440180"/>
                </a:cubicBezTo>
                <a:cubicBezTo>
                  <a:pt x="41082" y="1553155"/>
                  <a:pt x="55276" y="1507180"/>
                  <a:pt x="102870" y="1588770"/>
                </a:cubicBezTo>
                <a:cubicBezTo>
                  <a:pt x="269468" y="1874367"/>
                  <a:pt x="-62180" y="1384009"/>
                  <a:pt x="217170" y="1783080"/>
                </a:cubicBezTo>
                <a:cubicBezTo>
                  <a:pt x="280754" y="2037414"/>
                  <a:pt x="196543" y="1721199"/>
                  <a:pt x="274320" y="1954530"/>
                </a:cubicBezTo>
                <a:cubicBezTo>
                  <a:pt x="284255" y="1984336"/>
                  <a:pt x="288771" y="2015698"/>
                  <a:pt x="297180" y="2045970"/>
                </a:cubicBezTo>
                <a:cubicBezTo>
                  <a:pt x="307826" y="2084296"/>
                  <a:pt x="318891" y="2122534"/>
                  <a:pt x="331470" y="2160270"/>
                </a:cubicBezTo>
                <a:cubicBezTo>
                  <a:pt x="337958" y="2179735"/>
                  <a:pt x="341513" y="2201399"/>
                  <a:pt x="354330" y="2217420"/>
                </a:cubicBezTo>
                <a:cubicBezTo>
                  <a:pt x="372919" y="2240656"/>
                  <a:pt x="399421" y="2256301"/>
                  <a:pt x="422910" y="2274570"/>
                </a:cubicBezTo>
                <a:cubicBezTo>
                  <a:pt x="433753" y="2283004"/>
                  <a:pt x="443873" y="2294098"/>
                  <a:pt x="457200" y="2297430"/>
                </a:cubicBezTo>
                <a:cubicBezTo>
                  <a:pt x="490671" y="2305798"/>
                  <a:pt x="525916" y="2303981"/>
                  <a:pt x="560070" y="2308860"/>
                </a:cubicBezTo>
                <a:cubicBezTo>
                  <a:pt x="579302" y="2311607"/>
                  <a:pt x="598170" y="2316480"/>
                  <a:pt x="617220" y="2320290"/>
                </a:cubicBezTo>
                <a:cubicBezTo>
                  <a:pt x="674370" y="2316480"/>
                  <a:pt x="732094" y="2317793"/>
                  <a:pt x="788670" y="2308860"/>
                </a:cubicBezTo>
                <a:cubicBezTo>
                  <a:pt x="805500" y="2306203"/>
                  <a:pt x="817501" y="2288252"/>
                  <a:pt x="834390" y="2286000"/>
                </a:cubicBezTo>
                <a:cubicBezTo>
                  <a:pt x="932871" y="2272869"/>
                  <a:pt x="1131570" y="2263140"/>
                  <a:pt x="1131570" y="2263140"/>
                </a:cubicBezTo>
                <a:cubicBezTo>
                  <a:pt x="1187937" y="2234956"/>
                  <a:pt x="1240709" y="2215501"/>
                  <a:pt x="1280160" y="2160270"/>
                </a:cubicBezTo>
                <a:cubicBezTo>
                  <a:pt x="1299081" y="2133781"/>
                  <a:pt x="1302056" y="2098931"/>
                  <a:pt x="1314450" y="2068830"/>
                </a:cubicBezTo>
                <a:cubicBezTo>
                  <a:pt x="1341851" y="2002284"/>
                  <a:pt x="1366352" y="1964093"/>
                  <a:pt x="1383030" y="1897380"/>
                </a:cubicBezTo>
                <a:cubicBezTo>
                  <a:pt x="1392454" y="1859686"/>
                  <a:pt x="1396002" y="1820655"/>
                  <a:pt x="1405890" y="1783080"/>
                </a:cubicBezTo>
                <a:cubicBezTo>
                  <a:pt x="1481204" y="1496885"/>
                  <a:pt x="1403266" y="1861269"/>
                  <a:pt x="1463040" y="1577340"/>
                </a:cubicBezTo>
                <a:cubicBezTo>
                  <a:pt x="1471044" y="1539319"/>
                  <a:pt x="1479840" y="1501419"/>
                  <a:pt x="1485900" y="1463040"/>
                </a:cubicBezTo>
                <a:cubicBezTo>
                  <a:pt x="1500078" y="1373249"/>
                  <a:pt x="1493574" y="1325695"/>
                  <a:pt x="1520190" y="1234440"/>
                </a:cubicBezTo>
                <a:cubicBezTo>
                  <a:pt x="1535049" y="1183496"/>
                  <a:pt x="1558290" y="1135380"/>
                  <a:pt x="1577340" y="1085850"/>
                </a:cubicBezTo>
                <a:cubicBezTo>
                  <a:pt x="1581150" y="1009650"/>
                  <a:pt x="1581649" y="933212"/>
                  <a:pt x="1588770" y="857250"/>
                </a:cubicBezTo>
                <a:cubicBezTo>
                  <a:pt x="1611438" y="615455"/>
                  <a:pt x="1669648" y="723563"/>
                  <a:pt x="1577340" y="354330"/>
                </a:cubicBezTo>
                <a:cubicBezTo>
                  <a:pt x="1564013" y="301022"/>
                  <a:pt x="1515242" y="263628"/>
                  <a:pt x="1485900" y="217170"/>
                </a:cubicBezTo>
                <a:cubicBezTo>
                  <a:pt x="1484124" y="214358"/>
                  <a:pt x="1405722" y="72334"/>
                  <a:pt x="1394460" y="68580"/>
                </a:cubicBezTo>
                <a:cubicBezTo>
                  <a:pt x="1312629" y="41303"/>
                  <a:pt x="1372078" y="58982"/>
                  <a:pt x="1211580" y="34290"/>
                </a:cubicBezTo>
                <a:lnTo>
                  <a:pt x="1154430" y="11430"/>
                </a:lnTo>
                <a:lnTo>
                  <a:pt x="1143000" y="22860"/>
                </a:lnTo>
                <a:lnTo>
                  <a:pt x="1143000" y="22860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BCFDFEE9-9284-44FF-BEBF-2F4135479413}"/>
              </a:ext>
            </a:extLst>
          </p:cNvPr>
          <p:cNvSpPr/>
          <p:nvPr/>
        </p:nvSpPr>
        <p:spPr>
          <a:xfrm>
            <a:off x="4571820" y="3595073"/>
            <a:ext cx="1627796" cy="2320290"/>
          </a:xfrm>
          <a:custGeom>
            <a:avLst/>
            <a:gdLst>
              <a:gd name="connsiteX0" fmla="*/ 1211580 w 1627796"/>
              <a:gd name="connsiteY0" fmla="*/ 45720 h 2320290"/>
              <a:gd name="connsiteX1" fmla="*/ 1211580 w 1627796"/>
              <a:gd name="connsiteY1" fmla="*/ 45720 h 2320290"/>
              <a:gd name="connsiteX2" fmla="*/ 1097280 w 1627796"/>
              <a:gd name="connsiteY2" fmla="*/ 22860 h 2320290"/>
              <a:gd name="connsiteX3" fmla="*/ 994410 w 1627796"/>
              <a:gd name="connsiteY3" fmla="*/ 11430 h 2320290"/>
              <a:gd name="connsiteX4" fmla="*/ 914400 w 1627796"/>
              <a:gd name="connsiteY4" fmla="*/ 0 h 2320290"/>
              <a:gd name="connsiteX5" fmla="*/ 777240 w 1627796"/>
              <a:gd name="connsiteY5" fmla="*/ 11430 h 2320290"/>
              <a:gd name="connsiteX6" fmla="*/ 605790 w 1627796"/>
              <a:gd name="connsiteY6" fmla="*/ 91440 h 2320290"/>
              <a:gd name="connsiteX7" fmla="*/ 548640 w 1627796"/>
              <a:gd name="connsiteY7" fmla="*/ 102870 h 2320290"/>
              <a:gd name="connsiteX8" fmla="*/ 445770 w 1627796"/>
              <a:gd name="connsiteY8" fmla="*/ 137160 h 2320290"/>
              <a:gd name="connsiteX9" fmla="*/ 365760 w 1627796"/>
              <a:gd name="connsiteY9" fmla="*/ 205740 h 2320290"/>
              <a:gd name="connsiteX10" fmla="*/ 320040 w 1627796"/>
              <a:gd name="connsiteY10" fmla="*/ 217170 h 2320290"/>
              <a:gd name="connsiteX11" fmla="*/ 240030 w 1627796"/>
              <a:gd name="connsiteY11" fmla="*/ 365760 h 2320290"/>
              <a:gd name="connsiteX12" fmla="*/ 125730 w 1627796"/>
              <a:gd name="connsiteY12" fmla="*/ 685800 h 2320290"/>
              <a:gd name="connsiteX13" fmla="*/ 80010 w 1627796"/>
              <a:gd name="connsiteY13" fmla="*/ 891540 h 2320290"/>
              <a:gd name="connsiteX14" fmla="*/ 0 w 1627796"/>
              <a:gd name="connsiteY14" fmla="*/ 1177290 h 2320290"/>
              <a:gd name="connsiteX15" fmla="*/ 22860 w 1627796"/>
              <a:gd name="connsiteY15" fmla="*/ 1440180 h 2320290"/>
              <a:gd name="connsiteX16" fmla="*/ 102870 w 1627796"/>
              <a:gd name="connsiteY16" fmla="*/ 1588770 h 2320290"/>
              <a:gd name="connsiteX17" fmla="*/ 217170 w 1627796"/>
              <a:gd name="connsiteY17" fmla="*/ 1783080 h 2320290"/>
              <a:gd name="connsiteX18" fmla="*/ 274320 w 1627796"/>
              <a:gd name="connsiteY18" fmla="*/ 1954530 h 2320290"/>
              <a:gd name="connsiteX19" fmla="*/ 297180 w 1627796"/>
              <a:gd name="connsiteY19" fmla="*/ 2045970 h 2320290"/>
              <a:gd name="connsiteX20" fmla="*/ 331470 w 1627796"/>
              <a:gd name="connsiteY20" fmla="*/ 2160270 h 2320290"/>
              <a:gd name="connsiteX21" fmla="*/ 354330 w 1627796"/>
              <a:gd name="connsiteY21" fmla="*/ 2217420 h 2320290"/>
              <a:gd name="connsiteX22" fmla="*/ 422910 w 1627796"/>
              <a:gd name="connsiteY22" fmla="*/ 2274570 h 2320290"/>
              <a:gd name="connsiteX23" fmla="*/ 457200 w 1627796"/>
              <a:gd name="connsiteY23" fmla="*/ 2297430 h 2320290"/>
              <a:gd name="connsiteX24" fmla="*/ 560070 w 1627796"/>
              <a:gd name="connsiteY24" fmla="*/ 2308860 h 2320290"/>
              <a:gd name="connsiteX25" fmla="*/ 617220 w 1627796"/>
              <a:gd name="connsiteY25" fmla="*/ 2320290 h 2320290"/>
              <a:gd name="connsiteX26" fmla="*/ 788670 w 1627796"/>
              <a:gd name="connsiteY26" fmla="*/ 2308860 h 2320290"/>
              <a:gd name="connsiteX27" fmla="*/ 834390 w 1627796"/>
              <a:gd name="connsiteY27" fmla="*/ 2286000 h 2320290"/>
              <a:gd name="connsiteX28" fmla="*/ 1131570 w 1627796"/>
              <a:gd name="connsiteY28" fmla="*/ 2263140 h 2320290"/>
              <a:gd name="connsiteX29" fmla="*/ 1280160 w 1627796"/>
              <a:gd name="connsiteY29" fmla="*/ 2160270 h 2320290"/>
              <a:gd name="connsiteX30" fmla="*/ 1314450 w 1627796"/>
              <a:gd name="connsiteY30" fmla="*/ 2068830 h 2320290"/>
              <a:gd name="connsiteX31" fmla="*/ 1383030 w 1627796"/>
              <a:gd name="connsiteY31" fmla="*/ 1897380 h 2320290"/>
              <a:gd name="connsiteX32" fmla="*/ 1405890 w 1627796"/>
              <a:gd name="connsiteY32" fmla="*/ 1783080 h 2320290"/>
              <a:gd name="connsiteX33" fmla="*/ 1463040 w 1627796"/>
              <a:gd name="connsiteY33" fmla="*/ 1577340 h 2320290"/>
              <a:gd name="connsiteX34" fmla="*/ 1485900 w 1627796"/>
              <a:gd name="connsiteY34" fmla="*/ 1463040 h 2320290"/>
              <a:gd name="connsiteX35" fmla="*/ 1520190 w 1627796"/>
              <a:gd name="connsiteY35" fmla="*/ 1234440 h 2320290"/>
              <a:gd name="connsiteX36" fmla="*/ 1577340 w 1627796"/>
              <a:gd name="connsiteY36" fmla="*/ 1085850 h 2320290"/>
              <a:gd name="connsiteX37" fmla="*/ 1588770 w 1627796"/>
              <a:gd name="connsiteY37" fmla="*/ 857250 h 2320290"/>
              <a:gd name="connsiteX38" fmla="*/ 1577340 w 1627796"/>
              <a:gd name="connsiteY38" fmla="*/ 354330 h 2320290"/>
              <a:gd name="connsiteX39" fmla="*/ 1485900 w 1627796"/>
              <a:gd name="connsiteY39" fmla="*/ 217170 h 2320290"/>
              <a:gd name="connsiteX40" fmla="*/ 1394460 w 1627796"/>
              <a:gd name="connsiteY40" fmla="*/ 68580 h 2320290"/>
              <a:gd name="connsiteX41" fmla="*/ 1211580 w 1627796"/>
              <a:gd name="connsiteY41" fmla="*/ 34290 h 2320290"/>
              <a:gd name="connsiteX42" fmla="*/ 1154430 w 1627796"/>
              <a:gd name="connsiteY42" fmla="*/ 11430 h 2320290"/>
              <a:gd name="connsiteX43" fmla="*/ 1143000 w 1627796"/>
              <a:gd name="connsiteY43" fmla="*/ 22860 h 2320290"/>
              <a:gd name="connsiteX44" fmla="*/ 1143000 w 1627796"/>
              <a:gd name="connsiteY44" fmla="*/ 22860 h 232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627796" h="2320290">
                <a:moveTo>
                  <a:pt x="1211580" y="45720"/>
                </a:moveTo>
                <a:lnTo>
                  <a:pt x="1211580" y="45720"/>
                </a:lnTo>
                <a:cubicBezTo>
                  <a:pt x="1173480" y="38100"/>
                  <a:pt x="1135659" y="28920"/>
                  <a:pt x="1097280" y="22860"/>
                </a:cubicBezTo>
                <a:cubicBezTo>
                  <a:pt x="1063201" y="17479"/>
                  <a:pt x="1028645" y="15709"/>
                  <a:pt x="994410" y="11430"/>
                </a:cubicBezTo>
                <a:cubicBezTo>
                  <a:pt x="967677" y="8088"/>
                  <a:pt x="941070" y="3810"/>
                  <a:pt x="914400" y="0"/>
                </a:cubicBezTo>
                <a:cubicBezTo>
                  <a:pt x="868680" y="3810"/>
                  <a:pt x="822134" y="1979"/>
                  <a:pt x="777240" y="11430"/>
                </a:cubicBezTo>
                <a:cubicBezTo>
                  <a:pt x="739100" y="19459"/>
                  <a:pt x="637222" y="79351"/>
                  <a:pt x="605790" y="91440"/>
                </a:cubicBezTo>
                <a:cubicBezTo>
                  <a:pt x="587658" y="98414"/>
                  <a:pt x="567320" y="97533"/>
                  <a:pt x="548640" y="102870"/>
                </a:cubicBezTo>
                <a:cubicBezTo>
                  <a:pt x="513886" y="112800"/>
                  <a:pt x="480060" y="125730"/>
                  <a:pt x="445770" y="137160"/>
                </a:cubicBezTo>
                <a:cubicBezTo>
                  <a:pt x="419100" y="160020"/>
                  <a:pt x="395395" y="186881"/>
                  <a:pt x="365760" y="205740"/>
                </a:cubicBezTo>
                <a:cubicBezTo>
                  <a:pt x="352507" y="214174"/>
                  <a:pt x="332823" y="208039"/>
                  <a:pt x="320040" y="217170"/>
                </a:cubicBezTo>
                <a:cubicBezTo>
                  <a:pt x="286133" y="241389"/>
                  <a:pt x="248383" y="346965"/>
                  <a:pt x="240030" y="365760"/>
                </a:cubicBezTo>
                <a:cubicBezTo>
                  <a:pt x="180051" y="665657"/>
                  <a:pt x="247519" y="415159"/>
                  <a:pt x="125730" y="685800"/>
                </a:cubicBezTo>
                <a:cubicBezTo>
                  <a:pt x="100724" y="741369"/>
                  <a:pt x="93156" y="838955"/>
                  <a:pt x="80010" y="891540"/>
                </a:cubicBezTo>
                <a:cubicBezTo>
                  <a:pt x="56020" y="987500"/>
                  <a:pt x="0" y="1177290"/>
                  <a:pt x="0" y="1177290"/>
                </a:cubicBezTo>
                <a:cubicBezTo>
                  <a:pt x="7620" y="1264920"/>
                  <a:pt x="8854" y="1353342"/>
                  <a:pt x="22860" y="1440180"/>
                </a:cubicBezTo>
                <a:cubicBezTo>
                  <a:pt x="41082" y="1553155"/>
                  <a:pt x="55276" y="1507180"/>
                  <a:pt x="102870" y="1588770"/>
                </a:cubicBezTo>
                <a:cubicBezTo>
                  <a:pt x="269468" y="1874367"/>
                  <a:pt x="-62180" y="1384009"/>
                  <a:pt x="217170" y="1783080"/>
                </a:cubicBezTo>
                <a:cubicBezTo>
                  <a:pt x="280754" y="2037414"/>
                  <a:pt x="196543" y="1721199"/>
                  <a:pt x="274320" y="1954530"/>
                </a:cubicBezTo>
                <a:cubicBezTo>
                  <a:pt x="284255" y="1984336"/>
                  <a:pt x="288771" y="2015698"/>
                  <a:pt x="297180" y="2045970"/>
                </a:cubicBezTo>
                <a:cubicBezTo>
                  <a:pt x="307826" y="2084296"/>
                  <a:pt x="318891" y="2122534"/>
                  <a:pt x="331470" y="2160270"/>
                </a:cubicBezTo>
                <a:cubicBezTo>
                  <a:pt x="337958" y="2179735"/>
                  <a:pt x="341513" y="2201399"/>
                  <a:pt x="354330" y="2217420"/>
                </a:cubicBezTo>
                <a:cubicBezTo>
                  <a:pt x="372919" y="2240656"/>
                  <a:pt x="399421" y="2256301"/>
                  <a:pt x="422910" y="2274570"/>
                </a:cubicBezTo>
                <a:cubicBezTo>
                  <a:pt x="433753" y="2283004"/>
                  <a:pt x="443873" y="2294098"/>
                  <a:pt x="457200" y="2297430"/>
                </a:cubicBezTo>
                <a:cubicBezTo>
                  <a:pt x="490671" y="2305798"/>
                  <a:pt x="525916" y="2303981"/>
                  <a:pt x="560070" y="2308860"/>
                </a:cubicBezTo>
                <a:cubicBezTo>
                  <a:pt x="579302" y="2311607"/>
                  <a:pt x="598170" y="2316480"/>
                  <a:pt x="617220" y="2320290"/>
                </a:cubicBezTo>
                <a:cubicBezTo>
                  <a:pt x="674370" y="2316480"/>
                  <a:pt x="732094" y="2317793"/>
                  <a:pt x="788670" y="2308860"/>
                </a:cubicBezTo>
                <a:cubicBezTo>
                  <a:pt x="805500" y="2306203"/>
                  <a:pt x="817501" y="2288252"/>
                  <a:pt x="834390" y="2286000"/>
                </a:cubicBezTo>
                <a:cubicBezTo>
                  <a:pt x="932871" y="2272869"/>
                  <a:pt x="1131570" y="2263140"/>
                  <a:pt x="1131570" y="2263140"/>
                </a:cubicBezTo>
                <a:cubicBezTo>
                  <a:pt x="1187937" y="2234956"/>
                  <a:pt x="1240709" y="2215501"/>
                  <a:pt x="1280160" y="2160270"/>
                </a:cubicBezTo>
                <a:cubicBezTo>
                  <a:pt x="1299081" y="2133781"/>
                  <a:pt x="1302056" y="2098931"/>
                  <a:pt x="1314450" y="2068830"/>
                </a:cubicBezTo>
                <a:cubicBezTo>
                  <a:pt x="1341851" y="2002284"/>
                  <a:pt x="1366352" y="1964093"/>
                  <a:pt x="1383030" y="1897380"/>
                </a:cubicBezTo>
                <a:cubicBezTo>
                  <a:pt x="1392454" y="1859686"/>
                  <a:pt x="1396002" y="1820655"/>
                  <a:pt x="1405890" y="1783080"/>
                </a:cubicBezTo>
                <a:cubicBezTo>
                  <a:pt x="1481204" y="1496885"/>
                  <a:pt x="1403266" y="1861269"/>
                  <a:pt x="1463040" y="1577340"/>
                </a:cubicBezTo>
                <a:cubicBezTo>
                  <a:pt x="1471044" y="1539319"/>
                  <a:pt x="1479840" y="1501419"/>
                  <a:pt x="1485900" y="1463040"/>
                </a:cubicBezTo>
                <a:cubicBezTo>
                  <a:pt x="1500078" y="1373249"/>
                  <a:pt x="1493574" y="1325695"/>
                  <a:pt x="1520190" y="1234440"/>
                </a:cubicBezTo>
                <a:cubicBezTo>
                  <a:pt x="1535049" y="1183496"/>
                  <a:pt x="1558290" y="1135380"/>
                  <a:pt x="1577340" y="1085850"/>
                </a:cubicBezTo>
                <a:cubicBezTo>
                  <a:pt x="1581150" y="1009650"/>
                  <a:pt x="1581649" y="933212"/>
                  <a:pt x="1588770" y="857250"/>
                </a:cubicBezTo>
                <a:cubicBezTo>
                  <a:pt x="1611438" y="615455"/>
                  <a:pt x="1669648" y="723563"/>
                  <a:pt x="1577340" y="354330"/>
                </a:cubicBezTo>
                <a:cubicBezTo>
                  <a:pt x="1564013" y="301022"/>
                  <a:pt x="1515242" y="263628"/>
                  <a:pt x="1485900" y="217170"/>
                </a:cubicBezTo>
                <a:cubicBezTo>
                  <a:pt x="1484124" y="214358"/>
                  <a:pt x="1405722" y="72334"/>
                  <a:pt x="1394460" y="68580"/>
                </a:cubicBezTo>
                <a:cubicBezTo>
                  <a:pt x="1312629" y="41303"/>
                  <a:pt x="1372078" y="58982"/>
                  <a:pt x="1211580" y="34290"/>
                </a:cubicBezTo>
                <a:lnTo>
                  <a:pt x="1154430" y="11430"/>
                </a:lnTo>
                <a:lnTo>
                  <a:pt x="1143000" y="22860"/>
                </a:lnTo>
                <a:lnTo>
                  <a:pt x="1143000" y="22860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3">
            <a:extLst>
              <a:ext uri="{FF2B5EF4-FFF2-40B4-BE49-F238E27FC236}">
                <a16:creationId xmlns:a16="http://schemas.microsoft.com/office/drawing/2014/main" id="{42A98F31-5D94-4BBC-8833-55B666259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12025"/>
              </p:ext>
            </p:extLst>
          </p:nvPr>
        </p:nvGraphicFramePr>
        <p:xfrm>
          <a:off x="153744" y="4830720"/>
          <a:ext cx="4418075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244">
                  <a:extLst>
                    <a:ext uri="{9D8B030D-6E8A-4147-A177-3AD203B41FA5}">
                      <a16:colId xmlns:a16="http://schemas.microsoft.com/office/drawing/2014/main" val="3068775218"/>
                    </a:ext>
                  </a:extLst>
                </a:gridCol>
                <a:gridCol w="664063">
                  <a:extLst>
                    <a:ext uri="{9D8B030D-6E8A-4147-A177-3AD203B41FA5}">
                      <a16:colId xmlns:a16="http://schemas.microsoft.com/office/drawing/2014/main" val="1883861019"/>
                    </a:ext>
                  </a:extLst>
                </a:gridCol>
                <a:gridCol w="909256">
                  <a:extLst>
                    <a:ext uri="{9D8B030D-6E8A-4147-A177-3AD203B41FA5}">
                      <a16:colId xmlns:a16="http://schemas.microsoft.com/office/drawing/2014/main" val="460729637"/>
                    </a:ext>
                  </a:extLst>
                </a:gridCol>
                <a:gridCol w="909256">
                  <a:extLst>
                    <a:ext uri="{9D8B030D-6E8A-4147-A177-3AD203B41FA5}">
                      <a16:colId xmlns:a16="http://schemas.microsoft.com/office/drawing/2014/main" val="3572437894"/>
                    </a:ext>
                  </a:extLst>
                </a:gridCol>
                <a:gridCol w="909256">
                  <a:extLst>
                    <a:ext uri="{9D8B030D-6E8A-4147-A177-3AD203B41FA5}">
                      <a16:colId xmlns:a16="http://schemas.microsoft.com/office/drawing/2014/main" val="2089800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Pr. 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Сидоров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2335"/>
                  </a:ext>
                </a:extLst>
              </a:tr>
            </a:tbl>
          </a:graphicData>
        </a:graphic>
      </p:graphicFrame>
      <p:sp>
        <p:nvSpPr>
          <p:cNvPr id="5" name="Стрелка: изогнутая 4">
            <a:extLst>
              <a:ext uri="{FF2B5EF4-FFF2-40B4-BE49-F238E27FC236}">
                <a16:creationId xmlns:a16="http://schemas.microsoft.com/office/drawing/2014/main" id="{CD1493F3-7005-4B06-A60A-D641FBBF42AA}"/>
              </a:ext>
            </a:extLst>
          </p:cNvPr>
          <p:cNvSpPr/>
          <p:nvPr/>
        </p:nvSpPr>
        <p:spPr>
          <a:xfrm rot="10800000">
            <a:off x="5966460" y="5751235"/>
            <a:ext cx="1371600" cy="98103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0011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D9F606D-1065-4179-BCAB-DC546697237D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FF0000"/>
                </a:solidFill>
              </a:rPr>
              <a:t>item1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collection1</a:t>
            </a:r>
            <a:r>
              <a:rPr lang="en-US" dirty="0"/>
              <a:t> join </a:t>
            </a:r>
            <a:r>
              <a:rPr lang="en-US" dirty="0">
                <a:solidFill>
                  <a:srgbClr val="FF0000"/>
                </a:solidFill>
              </a:rPr>
              <a:t>item2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collection2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item1.attribute </a:t>
            </a:r>
            <a:r>
              <a:rPr lang="en-US" dirty="0"/>
              <a:t>equals </a:t>
            </a:r>
            <a:r>
              <a:rPr lang="en-US" dirty="0">
                <a:solidFill>
                  <a:srgbClr val="FF0000"/>
                </a:solidFill>
              </a:rPr>
              <a:t>item2.attrubute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/>
              <a:t>select new { </a:t>
            </a:r>
            <a:r>
              <a:rPr lang="en-US" dirty="0">
                <a:solidFill>
                  <a:srgbClr val="FF0000"/>
                </a:solidFill>
              </a:rPr>
              <a:t>. . . . </a:t>
            </a:r>
            <a:r>
              <a:rPr lang="en-US" dirty="0"/>
              <a:t>} 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12628-53B5-4822-A7C9-38FF1B7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 </a:t>
            </a:r>
            <a:r>
              <a:rPr lang="en-US" dirty="0"/>
              <a:t>Join</a:t>
            </a:r>
            <a:endParaRPr lang="ru-RU" dirty="0"/>
          </a:p>
        </p:txBody>
      </p:sp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3613B0F8-0443-47C6-B22D-181E1D9C6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15445"/>
              </p:ext>
            </p:extLst>
          </p:nvPr>
        </p:nvGraphicFramePr>
        <p:xfrm>
          <a:off x="4855612" y="3799543"/>
          <a:ext cx="404622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3068775218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1883861019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117498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br>
                        <a:rPr lang="en-US" dirty="0"/>
                      </a:br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ИАУП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2335"/>
                  </a:ext>
                </a:extLst>
              </a:tr>
            </a:tbl>
          </a:graphicData>
        </a:graphic>
      </p:graphicFrame>
      <p:graphicFrame>
        <p:nvGraphicFramePr>
          <p:cNvPr id="6" name="Таблица 3">
            <a:extLst>
              <a:ext uri="{FF2B5EF4-FFF2-40B4-BE49-F238E27FC236}">
                <a16:creationId xmlns:a16="http://schemas.microsoft.com/office/drawing/2014/main" id="{53A47B31-7419-4BA0-966D-4334FC03A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193982"/>
              </p:ext>
            </p:extLst>
          </p:nvPr>
        </p:nvGraphicFramePr>
        <p:xfrm>
          <a:off x="4772226" y="1621790"/>
          <a:ext cx="391421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154">
                  <a:extLst>
                    <a:ext uri="{9D8B030D-6E8A-4147-A177-3AD203B41FA5}">
                      <a16:colId xmlns:a16="http://schemas.microsoft.com/office/drawing/2014/main" val="306877521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883861019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11749816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460729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Pr. Name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Сидоров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23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5E137E0-BD16-4AFA-8636-8C6540DAA168}"/>
              </a:ext>
            </a:extLst>
          </p:cNvPr>
          <p:cNvSpPr txBox="1"/>
          <p:nvPr/>
        </p:nvSpPr>
        <p:spPr>
          <a:xfrm>
            <a:off x="4772226" y="11966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collection1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6E93B-1B39-4C6E-A6C7-DED6E84BFB28}"/>
              </a:ext>
            </a:extLst>
          </p:cNvPr>
          <p:cNvSpPr txBox="1"/>
          <p:nvPr/>
        </p:nvSpPr>
        <p:spPr>
          <a:xfrm>
            <a:off x="4772226" y="3440199"/>
            <a:ext cx="467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collection2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89D96-7DB0-4335-95AE-D941552866D9}"/>
              </a:ext>
            </a:extLst>
          </p:cNvPr>
          <p:cNvSpPr txBox="1"/>
          <p:nvPr/>
        </p:nvSpPr>
        <p:spPr>
          <a:xfrm>
            <a:off x="3790917" y="3903589"/>
            <a:ext cx="1364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attribute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1C33B-4055-4D5B-BE7C-F2637BA9284B}"/>
              </a:ext>
            </a:extLst>
          </p:cNvPr>
          <p:cNvSpPr txBox="1"/>
          <p:nvPr/>
        </p:nvSpPr>
        <p:spPr>
          <a:xfrm>
            <a:off x="7475035" y="1121191"/>
            <a:ext cx="1364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attribute</a:t>
            </a:r>
            <a:endParaRPr lang="ru-RU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37C81D51-F1FC-47A7-AA2D-E6F5E6B98C80}"/>
              </a:ext>
            </a:extLst>
          </p:cNvPr>
          <p:cNvSpPr/>
          <p:nvPr/>
        </p:nvSpPr>
        <p:spPr>
          <a:xfrm>
            <a:off x="4586763" y="3728887"/>
            <a:ext cx="1627796" cy="2300206"/>
          </a:xfrm>
          <a:custGeom>
            <a:avLst/>
            <a:gdLst>
              <a:gd name="connsiteX0" fmla="*/ 1211580 w 1627796"/>
              <a:gd name="connsiteY0" fmla="*/ 45720 h 2320290"/>
              <a:gd name="connsiteX1" fmla="*/ 1211580 w 1627796"/>
              <a:gd name="connsiteY1" fmla="*/ 45720 h 2320290"/>
              <a:gd name="connsiteX2" fmla="*/ 1097280 w 1627796"/>
              <a:gd name="connsiteY2" fmla="*/ 22860 h 2320290"/>
              <a:gd name="connsiteX3" fmla="*/ 994410 w 1627796"/>
              <a:gd name="connsiteY3" fmla="*/ 11430 h 2320290"/>
              <a:gd name="connsiteX4" fmla="*/ 914400 w 1627796"/>
              <a:gd name="connsiteY4" fmla="*/ 0 h 2320290"/>
              <a:gd name="connsiteX5" fmla="*/ 777240 w 1627796"/>
              <a:gd name="connsiteY5" fmla="*/ 11430 h 2320290"/>
              <a:gd name="connsiteX6" fmla="*/ 605790 w 1627796"/>
              <a:gd name="connsiteY6" fmla="*/ 91440 h 2320290"/>
              <a:gd name="connsiteX7" fmla="*/ 548640 w 1627796"/>
              <a:gd name="connsiteY7" fmla="*/ 102870 h 2320290"/>
              <a:gd name="connsiteX8" fmla="*/ 445770 w 1627796"/>
              <a:gd name="connsiteY8" fmla="*/ 137160 h 2320290"/>
              <a:gd name="connsiteX9" fmla="*/ 365760 w 1627796"/>
              <a:gd name="connsiteY9" fmla="*/ 205740 h 2320290"/>
              <a:gd name="connsiteX10" fmla="*/ 320040 w 1627796"/>
              <a:gd name="connsiteY10" fmla="*/ 217170 h 2320290"/>
              <a:gd name="connsiteX11" fmla="*/ 240030 w 1627796"/>
              <a:gd name="connsiteY11" fmla="*/ 365760 h 2320290"/>
              <a:gd name="connsiteX12" fmla="*/ 125730 w 1627796"/>
              <a:gd name="connsiteY12" fmla="*/ 685800 h 2320290"/>
              <a:gd name="connsiteX13" fmla="*/ 80010 w 1627796"/>
              <a:gd name="connsiteY13" fmla="*/ 891540 h 2320290"/>
              <a:gd name="connsiteX14" fmla="*/ 0 w 1627796"/>
              <a:gd name="connsiteY14" fmla="*/ 1177290 h 2320290"/>
              <a:gd name="connsiteX15" fmla="*/ 22860 w 1627796"/>
              <a:gd name="connsiteY15" fmla="*/ 1440180 h 2320290"/>
              <a:gd name="connsiteX16" fmla="*/ 102870 w 1627796"/>
              <a:gd name="connsiteY16" fmla="*/ 1588770 h 2320290"/>
              <a:gd name="connsiteX17" fmla="*/ 217170 w 1627796"/>
              <a:gd name="connsiteY17" fmla="*/ 1783080 h 2320290"/>
              <a:gd name="connsiteX18" fmla="*/ 274320 w 1627796"/>
              <a:gd name="connsiteY18" fmla="*/ 1954530 h 2320290"/>
              <a:gd name="connsiteX19" fmla="*/ 297180 w 1627796"/>
              <a:gd name="connsiteY19" fmla="*/ 2045970 h 2320290"/>
              <a:gd name="connsiteX20" fmla="*/ 331470 w 1627796"/>
              <a:gd name="connsiteY20" fmla="*/ 2160270 h 2320290"/>
              <a:gd name="connsiteX21" fmla="*/ 354330 w 1627796"/>
              <a:gd name="connsiteY21" fmla="*/ 2217420 h 2320290"/>
              <a:gd name="connsiteX22" fmla="*/ 422910 w 1627796"/>
              <a:gd name="connsiteY22" fmla="*/ 2274570 h 2320290"/>
              <a:gd name="connsiteX23" fmla="*/ 457200 w 1627796"/>
              <a:gd name="connsiteY23" fmla="*/ 2297430 h 2320290"/>
              <a:gd name="connsiteX24" fmla="*/ 560070 w 1627796"/>
              <a:gd name="connsiteY24" fmla="*/ 2308860 h 2320290"/>
              <a:gd name="connsiteX25" fmla="*/ 617220 w 1627796"/>
              <a:gd name="connsiteY25" fmla="*/ 2320290 h 2320290"/>
              <a:gd name="connsiteX26" fmla="*/ 788670 w 1627796"/>
              <a:gd name="connsiteY26" fmla="*/ 2308860 h 2320290"/>
              <a:gd name="connsiteX27" fmla="*/ 834390 w 1627796"/>
              <a:gd name="connsiteY27" fmla="*/ 2286000 h 2320290"/>
              <a:gd name="connsiteX28" fmla="*/ 1131570 w 1627796"/>
              <a:gd name="connsiteY28" fmla="*/ 2263140 h 2320290"/>
              <a:gd name="connsiteX29" fmla="*/ 1280160 w 1627796"/>
              <a:gd name="connsiteY29" fmla="*/ 2160270 h 2320290"/>
              <a:gd name="connsiteX30" fmla="*/ 1314450 w 1627796"/>
              <a:gd name="connsiteY30" fmla="*/ 2068830 h 2320290"/>
              <a:gd name="connsiteX31" fmla="*/ 1383030 w 1627796"/>
              <a:gd name="connsiteY31" fmla="*/ 1897380 h 2320290"/>
              <a:gd name="connsiteX32" fmla="*/ 1405890 w 1627796"/>
              <a:gd name="connsiteY32" fmla="*/ 1783080 h 2320290"/>
              <a:gd name="connsiteX33" fmla="*/ 1463040 w 1627796"/>
              <a:gd name="connsiteY33" fmla="*/ 1577340 h 2320290"/>
              <a:gd name="connsiteX34" fmla="*/ 1485900 w 1627796"/>
              <a:gd name="connsiteY34" fmla="*/ 1463040 h 2320290"/>
              <a:gd name="connsiteX35" fmla="*/ 1520190 w 1627796"/>
              <a:gd name="connsiteY35" fmla="*/ 1234440 h 2320290"/>
              <a:gd name="connsiteX36" fmla="*/ 1577340 w 1627796"/>
              <a:gd name="connsiteY36" fmla="*/ 1085850 h 2320290"/>
              <a:gd name="connsiteX37" fmla="*/ 1588770 w 1627796"/>
              <a:gd name="connsiteY37" fmla="*/ 857250 h 2320290"/>
              <a:gd name="connsiteX38" fmla="*/ 1577340 w 1627796"/>
              <a:gd name="connsiteY38" fmla="*/ 354330 h 2320290"/>
              <a:gd name="connsiteX39" fmla="*/ 1485900 w 1627796"/>
              <a:gd name="connsiteY39" fmla="*/ 217170 h 2320290"/>
              <a:gd name="connsiteX40" fmla="*/ 1394460 w 1627796"/>
              <a:gd name="connsiteY40" fmla="*/ 68580 h 2320290"/>
              <a:gd name="connsiteX41" fmla="*/ 1211580 w 1627796"/>
              <a:gd name="connsiteY41" fmla="*/ 34290 h 2320290"/>
              <a:gd name="connsiteX42" fmla="*/ 1154430 w 1627796"/>
              <a:gd name="connsiteY42" fmla="*/ 11430 h 2320290"/>
              <a:gd name="connsiteX43" fmla="*/ 1143000 w 1627796"/>
              <a:gd name="connsiteY43" fmla="*/ 22860 h 2320290"/>
              <a:gd name="connsiteX44" fmla="*/ 1143000 w 1627796"/>
              <a:gd name="connsiteY44" fmla="*/ 22860 h 232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627796" h="2320290">
                <a:moveTo>
                  <a:pt x="1211580" y="45720"/>
                </a:moveTo>
                <a:lnTo>
                  <a:pt x="1211580" y="45720"/>
                </a:lnTo>
                <a:cubicBezTo>
                  <a:pt x="1173480" y="38100"/>
                  <a:pt x="1135659" y="28920"/>
                  <a:pt x="1097280" y="22860"/>
                </a:cubicBezTo>
                <a:cubicBezTo>
                  <a:pt x="1063201" y="17479"/>
                  <a:pt x="1028645" y="15709"/>
                  <a:pt x="994410" y="11430"/>
                </a:cubicBezTo>
                <a:cubicBezTo>
                  <a:pt x="967677" y="8088"/>
                  <a:pt x="941070" y="3810"/>
                  <a:pt x="914400" y="0"/>
                </a:cubicBezTo>
                <a:cubicBezTo>
                  <a:pt x="868680" y="3810"/>
                  <a:pt x="822134" y="1979"/>
                  <a:pt x="777240" y="11430"/>
                </a:cubicBezTo>
                <a:cubicBezTo>
                  <a:pt x="739100" y="19459"/>
                  <a:pt x="637222" y="79351"/>
                  <a:pt x="605790" y="91440"/>
                </a:cubicBezTo>
                <a:cubicBezTo>
                  <a:pt x="587658" y="98414"/>
                  <a:pt x="567320" y="97533"/>
                  <a:pt x="548640" y="102870"/>
                </a:cubicBezTo>
                <a:cubicBezTo>
                  <a:pt x="513886" y="112800"/>
                  <a:pt x="480060" y="125730"/>
                  <a:pt x="445770" y="137160"/>
                </a:cubicBezTo>
                <a:cubicBezTo>
                  <a:pt x="419100" y="160020"/>
                  <a:pt x="395395" y="186881"/>
                  <a:pt x="365760" y="205740"/>
                </a:cubicBezTo>
                <a:cubicBezTo>
                  <a:pt x="352507" y="214174"/>
                  <a:pt x="332823" y="208039"/>
                  <a:pt x="320040" y="217170"/>
                </a:cubicBezTo>
                <a:cubicBezTo>
                  <a:pt x="286133" y="241389"/>
                  <a:pt x="248383" y="346965"/>
                  <a:pt x="240030" y="365760"/>
                </a:cubicBezTo>
                <a:cubicBezTo>
                  <a:pt x="180051" y="665657"/>
                  <a:pt x="247519" y="415159"/>
                  <a:pt x="125730" y="685800"/>
                </a:cubicBezTo>
                <a:cubicBezTo>
                  <a:pt x="100724" y="741369"/>
                  <a:pt x="93156" y="838955"/>
                  <a:pt x="80010" y="891540"/>
                </a:cubicBezTo>
                <a:cubicBezTo>
                  <a:pt x="56020" y="987500"/>
                  <a:pt x="0" y="1177290"/>
                  <a:pt x="0" y="1177290"/>
                </a:cubicBezTo>
                <a:cubicBezTo>
                  <a:pt x="7620" y="1264920"/>
                  <a:pt x="8854" y="1353342"/>
                  <a:pt x="22860" y="1440180"/>
                </a:cubicBezTo>
                <a:cubicBezTo>
                  <a:pt x="41082" y="1553155"/>
                  <a:pt x="55276" y="1507180"/>
                  <a:pt x="102870" y="1588770"/>
                </a:cubicBezTo>
                <a:cubicBezTo>
                  <a:pt x="269468" y="1874367"/>
                  <a:pt x="-62180" y="1384009"/>
                  <a:pt x="217170" y="1783080"/>
                </a:cubicBezTo>
                <a:cubicBezTo>
                  <a:pt x="280754" y="2037414"/>
                  <a:pt x="196543" y="1721199"/>
                  <a:pt x="274320" y="1954530"/>
                </a:cubicBezTo>
                <a:cubicBezTo>
                  <a:pt x="284255" y="1984336"/>
                  <a:pt x="288771" y="2015698"/>
                  <a:pt x="297180" y="2045970"/>
                </a:cubicBezTo>
                <a:cubicBezTo>
                  <a:pt x="307826" y="2084296"/>
                  <a:pt x="318891" y="2122534"/>
                  <a:pt x="331470" y="2160270"/>
                </a:cubicBezTo>
                <a:cubicBezTo>
                  <a:pt x="337958" y="2179735"/>
                  <a:pt x="341513" y="2201399"/>
                  <a:pt x="354330" y="2217420"/>
                </a:cubicBezTo>
                <a:cubicBezTo>
                  <a:pt x="372919" y="2240656"/>
                  <a:pt x="399421" y="2256301"/>
                  <a:pt x="422910" y="2274570"/>
                </a:cubicBezTo>
                <a:cubicBezTo>
                  <a:pt x="433753" y="2283004"/>
                  <a:pt x="443873" y="2294098"/>
                  <a:pt x="457200" y="2297430"/>
                </a:cubicBezTo>
                <a:cubicBezTo>
                  <a:pt x="490671" y="2305798"/>
                  <a:pt x="525916" y="2303981"/>
                  <a:pt x="560070" y="2308860"/>
                </a:cubicBezTo>
                <a:cubicBezTo>
                  <a:pt x="579302" y="2311607"/>
                  <a:pt x="598170" y="2316480"/>
                  <a:pt x="617220" y="2320290"/>
                </a:cubicBezTo>
                <a:cubicBezTo>
                  <a:pt x="674370" y="2316480"/>
                  <a:pt x="732094" y="2317793"/>
                  <a:pt x="788670" y="2308860"/>
                </a:cubicBezTo>
                <a:cubicBezTo>
                  <a:pt x="805500" y="2306203"/>
                  <a:pt x="817501" y="2288252"/>
                  <a:pt x="834390" y="2286000"/>
                </a:cubicBezTo>
                <a:cubicBezTo>
                  <a:pt x="932871" y="2272869"/>
                  <a:pt x="1131570" y="2263140"/>
                  <a:pt x="1131570" y="2263140"/>
                </a:cubicBezTo>
                <a:cubicBezTo>
                  <a:pt x="1187937" y="2234956"/>
                  <a:pt x="1240709" y="2215501"/>
                  <a:pt x="1280160" y="2160270"/>
                </a:cubicBezTo>
                <a:cubicBezTo>
                  <a:pt x="1299081" y="2133781"/>
                  <a:pt x="1302056" y="2098931"/>
                  <a:pt x="1314450" y="2068830"/>
                </a:cubicBezTo>
                <a:cubicBezTo>
                  <a:pt x="1341851" y="2002284"/>
                  <a:pt x="1366352" y="1964093"/>
                  <a:pt x="1383030" y="1897380"/>
                </a:cubicBezTo>
                <a:cubicBezTo>
                  <a:pt x="1392454" y="1859686"/>
                  <a:pt x="1396002" y="1820655"/>
                  <a:pt x="1405890" y="1783080"/>
                </a:cubicBezTo>
                <a:cubicBezTo>
                  <a:pt x="1481204" y="1496885"/>
                  <a:pt x="1403266" y="1861269"/>
                  <a:pt x="1463040" y="1577340"/>
                </a:cubicBezTo>
                <a:cubicBezTo>
                  <a:pt x="1471044" y="1539319"/>
                  <a:pt x="1479840" y="1501419"/>
                  <a:pt x="1485900" y="1463040"/>
                </a:cubicBezTo>
                <a:cubicBezTo>
                  <a:pt x="1500078" y="1373249"/>
                  <a:pt x="1493574" y="1325695"/>
                  <a:pt x="1520190" y="1234440"/>
                </a:cubicBezTo>
                <a:cubicBezTo>
                  <a:pt x="1535049" y="1183496"/>
                  <a:pt x="1558290" y="1135380"/>
                  <a:pt x="1577340" y="1085850"/>
                </a:cubicBezTo>
                <a:cubicBezTo>
                  <a:pt x="1581150" y="1009650"/>
                  <a:pt x="1581649" y="933212"/>
                  <a:pt x="1588770" y="857250"/>
                </a:cubicBezTo>
                <a:cubicBezTo>
                  <a:pt x="1611438" y="615455"/>
                  <a:pt x="1669648" y="723563"/>
                  <a:pt x="1577340" y="354330"/>
                </a:cubicBezTo>
                <a:cubicBezTo>
                  <a:pt x="1564013" y="301022"/>
                  <a:pt x="1515242" y="263628"/>
                  <a:pt x="1485900" y="217170"/>
                </a:cubicBezTo>
                <a:cubicBezTo>
                  <a:pt x="1484124" y="214358"/>
                  <a:pt x="1405722" y="72334"/>
                  <a:pt x="1394460" y="68580"/>
                </a:cubicBezTo>
                <a:cubicBezTo>
                  <a:pt x="1312629" y="41303"/>
                  <a:pt x="1372078" y="58982"/>
                  <a:pt x="1211580" y="34290"/>
                </a:cubicBezTo>
                <a:lnTo>
                  <a:pt x="1154430" y="11430"/>
                </a:lnTo>
                <a:lnTo>
                  <a:pt x="1143000" y="22860"/>
                </a:lnTo>
                <a:lnTo>
                  <a:pt x="1143000" y="22860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5A1304A2-12C6-492D-9F8F-32BFC46D1D39}"/>
              </a:ext>
            </a:extLst>
          </p:cNvPr>
          <p:cNvSpPr/>
          <p:nvPr/>
        </p:nvSpPr>
        <p:spPr>
          <a:xfrm>
            <a:off x="7343219" y="1352981"/>
            <a:ext cx="1627796" cy="2300206"/>
          </a:xfrm>
          <a:custGeom>
            <a:avLst/>
            <a:gdLst>
              <a:gd name="connsiteX0" fmla="*/ 1211580 w 1627796"/>
              <a:gd name="connsiteY0" fmla="*/ 45720 h 2320290"/>
              <a:gd name="connsiteX1" fmla="*/ 1211580 w 1627796"/>
              <a:gd name="connsiteY1" fmla="*/ 45720 h 2320290"/>
              <a:gd name="connsiteX2" fmla="*/ 1097280 w 1627796"/>
              <a:gd name="connsiteY2" fmla="*/ 22860 h 2320290"/>
              <a:gd name="connsiteX3" fmla="*/ 994410 w 1627796"/>
              <a:gd name="connsiteY3" fmla="*/ 11430 h 2320290"/>
              <a:gd name="connsiteX4" fmla="*/ 914400 w 1627796"/>
              <a:gd name="connsiteY4" fmla="*/ 0 h 2320290"/>
              <a:gd name="connsiteX5" fmla="*/ 777240 w 1627796"/>
              <a:gd name="connsiteY5" fmla="*/ 11430 h 2320290"/>
              <a:gd name="connsiteX6" fmla="*/ 605790 w 1627796"/>
              <a:gd name="connsiteY6" fmla="*/ 91440 h 2320290"/>
              <a:gd name="connsiteX7" fmla="*/ 548640 w 1627796"/>
              <a:gd name="connsiteY7" fmla="*/ 102870 h 2320290"/>
              <a:gd name="connsiteX8" fmla="*/ 445770 w 1627796"/>
              <a:gd name="connsiteY8" fmla="*/ 137160 h 2320290"/>
              <a:gd name="connsiteX9" fmla="*/ 365760 w 1627796"/>
              <a:gd name="connsiteY9" fmla="*/ 205740 h 2320290"/>
              <a:gd name="connsiteX10" fmla="*/ 320040 w 1627796"/>
              <a:gd name="connsiteY10" fmla="*/ 217170 h 2320290"/>
              <a:gd name="connsiteX11" fmla="*/ 240030 w 1627796"/>
              <a:gd name="connsiteY11" fmla="*/ 365760 h 2320290"/>
              <a:gd name="connsiteX12" fmla="*/ 125730 w 1627796"/>
              <a:gd name="connsiteY12" fmla="*/ 685800 h 2320290"/>
              <a:gd name="connsiteX13" fmla="*/ 80010 w 1627796"/>
              <a:gd name="connsiteY13" fmla="*/ 891540 h 2320290"/>
              <a:gd name="connsiteX14" fmla="*/ 0 w 1627796"/>
              <a:gd name="connsiteY14" fmla="*/ 1177290 h 2320290"/>
              <a:gd name="connsiteX15" fmla="*/ 22860 w 1627796"/>
              <a:gd name="connsiteY15" fmla="*/ 1440180 h 2320290"/>
              <a:gd name="connsiteX16" fmla="*/ 102870 w 1627796"/>
              <a:gd name="connsiteY16" fmla="*/ 1588770 h 2320290"/>
              <a:gd name="connsiteX17" fmla="*/ 217170 w 1627796"/>
              <a:gd name="connsiteY17" fmla="*/ 1783080 h 2320290"/>
              <a:gd name="connsiteX18" fmla="*/ 274320 w 1627796"/>
              <a:gd name="connsiteY18" fmla="*/ 1954530 h 2320290"/>
              <a:gd name="connsiteX19" fmla="*/ 297180 w 1627796"/>
              <a:gd name="connsiteY19" fmla="*/ 2045970 h 2320290"/>
              <a:gd name="connsiteX20" fmla="*/ 331470 w 1627796"/>
              <a:gd name="connsiteY20" fmla="*/ 2160270 h 2320290"/>
              <a:gd name="connsiteX21" fmla="*/ 354330 w 1627796"/>
              <a:gd name="connsiteY21" fmla="*/ 2217420 h 2320290"/>
              <a:gd name="connsiteX22" fmla="*/ 422910 w 1627796"/>
              <a:gd name="connsiteY22" fmla="*/ 2274570 h 2320290"/>
              <a:gd name="connsiteX23" fmla="*/ 457200 w 1627796"/>
              <a:gd name="connsiteY23" fmla="*/ 2297430 h 2320290"/>
              <a:gd name="connsiteX24" fmla="*/ 560070 w 1627796"/>
              <a:gd name="connsiteY24" fmla="*/ 2308860 h 2320290"/>
              <a:gd name="connsiteX25" fmla="*/ 617220 w 1627796"/>
              <a:gd name="connsiteY25" fmla="*/ 2320290 h 2320290"/>
              <a:gd name="connsiteX26" fmla="*/ 788670 w 1627796"/>
              <a:gd name="connsiteY26" fmla="*/ 2308860 h 2320290"/>
              <a:gd name="connsiteX27" fmla="*/ 834390 w 1627796"/>
              <a:gd name="connsiteY27" fmla="*/ 2286000 h 2320290"/>
              <a:gd name="connsiteX28" fmla="*/ 1131570 w 1627796"/>
              <a:gd name="connsiteY28" fmla="*/ 2263140 h 2320290"/>
              <a:gd name="connsiteX29" fmla="*/ 1280160 w 1627796"/>
              <a:gd name="connsiteY29" fmla="*/ 2160270 h 2320290"/>
              <a:gd name="connsiteX30" fmla="*/ 1314450 w 1627796"/>
              <a:gd name="connsiteY30" fmla="*/ 2068830 h 2320290"/>
              <a:gd name="connsiteX31" fmla="*/ 1383030 w 1627796"/>
              <a:gd name="connsiteY31" fmla="*/ 1897380 h 2320290"/>
              <a:gd name="connsiteX32" fmla="*/ 1405890 w 1627796"/>
              <a:gd name="connsiteY32" fmla="*/ 1783080 h 2320290"/>
              <a:gd name="connsiteX33" fmla="*/ 1463040 w 1627796"/>
              <a:gd name="connsiteY33" fmla="*/ 1577340 h 2320290"/>
              <a:gd name="connsiteX34" fmla="*/ 1485900 w 1627796"/>
              <a:gd name="connsiteY34" fmla="*/ 1463040 h 2320290"/>
              <a:gd name="connsiteX35" fmla="*/ 1520190 w 1627796"/>
              <a:gd name="connsiteY35" fmla="*/ 1234440 h 2320290"/>
              <a:gd name="connsiteX36" fmla="*/ 1577340 w 1627796"/>
              <a:gd name="connsiteY36" fmla="*/ 1085850 h 2320290"/>
              <a:gd name="connsiteX37" fmla="*/ 1588770 w 1627796"/>
              <a:gd name="connsiteY37" fmla="*/ 857250 h 2320290"/>
              <a:gd name="connsiteX38" fmla="*/ 1577340 w 1627796"/>
              <a:gd name="connsiteY38" fmla="*/ 354330 h 2320290"/>
              <a:gd name="connsiteX39" fmla="*/ 1485900 w 1627796"/>
              <a:gd name="connsiteY39" fmla="*/ 217170 h 2320290"/>
              <a:gd name="connsiteX40" fmla="*/ 1394460 w 1627796"/>
              <a:gd name="connsiteY40" fmla="*/ 68580 h 2320290"/>
              <a:gd name="connsiteX41" fmla="*/ 1211580 w 1627796"/>
              <a:gd name="connsiteY41" fmla="*/ 34290 h 2320290"/>
              <a:gd name="connsiteX42" fmla="*/ 1154430 w 1627796"/>
              <a:gd name="connsiteY42" fmla="*/ 11430 h 2320290"/>
              <a:gd name="connsiteX43" fmla="*/ 1143000 w 1627796"/>
              <a:gd name="connsiteY43" fmla="*/ 22860 h 2320290"/>
              <a:gd name="connsiteX44" fmla="*/ 1143000 w 1627796"/>
              <a:gd name="connsiteY44" fmla="*/ 22860 h 232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627796" h="2320290">
                <a:moveTo>
                  <a:pt x="1211580" y="45720"/>
                </a:moveTo>
                <a:lnTo>
                  <a:pt x="1211580" y="45720"/>
                </a:lnTo>
                <a:cubicBezTo>
                  <a:pt x="1173480" y="38100"/>
                  <a:pt x="1135659" y="28920"/>
                  <a:pt x="1097280" y="22860"/>
                </a:cubicBezTo>
                <a:cubicBezTo>
                  <a:pt x="1063201" y="17479"/>
                  <a:pt x="1028645" y="15709"/>
                  <a:pt x="994410" y="11430"/>
                </a:cubicBezTo>
                <a:cubicBezTo>
                  <a:pt x="967677" y="8088"/>
                  <a:pt x="941070" y="3810"/>
                  <a:pt x="914400" y="0"/>
                </a:cubicBezTo>
                <a:cubicBezTo>
                  <a:pt x="868680" y="3810"/>
                  <a:pt x="822134" y="1979"/>
                  <a:pt x="777240" y="11430"/>
                </a:cubicBezTo>
                <a:cubicBezTo>
                  <a:pt x="739100" y="19459"/>
                  <a:pt x="637222" y="79351"/>
                  <a:pt x="605790" y="91440"/>
                </a:cubicBezTo>
                <a:cubicBezTo>
                  <a:pt x="587658" y="98414"/>
                  <a:pt x="567320" y="97533"/>
                  <a:pt x="548640" y="102870"/>
                </a:cubicBezTo>
                <a:cubicBezTo>
                  <a:pt x="513886" y="112800"/>
                  <a:pt x="480060" y="125730"/>
                  <a:pt x="445770" y="137160"/>
                </a:cubicBezTo>
                <a:cubicBezTo>
                  <a:pt x="419100" y="160020"/>
                  <a:pt x="395395" y="186881"/>
                  <a:pt x="365760" y="205740"/>
                </a:cubicBezTo>
                <a:cubicBezTo>
                  <a:pt x="352507" y="214174"/>
                  <a:pt x="332823" y="208039"/>
                  <a:pt x="320040" y="217170"/>
                </a:cubicBezTo>
                <a:cubicBezTo>
                  <a:pt x="286133" y="241389"/>
                  <a:pt x="248383" y="346965"/>
                  <a:pt x="240030" y="365760"/>
                </a:cubicBezTo>
                <a:cubicBezTo>
                  <a:pt x="180051" y="665657"/>
                  <a:pt x="247519" y="415159"/>
                  <a:pt x="125730" y="685800"/>
                </a:cubicBezTo>
                <a:cubicBezTo>
                  <a:pt x="100724" y="741369"/>
                  <a:pt x="93156" y="838955"/>
                  <a:pt x="80010" y="891540"/>
                </a:cubicBezTo>
                <a:cubicBezTo>
                  <a:pt x="56020" y="987500"/>
                  <a:pt x="0" y="1177290"/>
                  <a:pt x="0" y="1177290"/>
                </a:cubicBezTo>
                <a:cubicBezTo>
                  <a:pt x="7620" y="1264920"/>
                  <a:pt x="8854" y="1353342"/>
                  <a:pt x="22860" y="1440180"/>
                </a:cubicBezTo>
                <a:cubicBezTo>
                  <a:pt x="41082" y="1553155"/>
                  <a:pt x="55276" y="1507180"/>
                  <a:pt x="102870" y="1588770"/>
                </a:cubicBezTo>
                <a:cubicBezTo>
                  <a:pt x="269468" y="1874367"/>
                  <a:pt x="-62180" y="1384009"/>
                  <a:pt x="217170" y="1783080"/>
                </a:cubicBezTo>
                <a:cubicBezTo>
                  <a:pt x="280754" y="2037414"/>
                  <a:pt x="196543" y="1721199"/>
                  <a:pt x="274320" y="1954530"/>
                </a:cubicBezTo>
                <a:cubicBezTo>
                  <a:pt x="284255" y="1984336"/>
                  <a:pt x="288771" y="2015698"/>
                  <a:pt x="297180" y="2045970"/>
                </a:cubicBezTo>
                <a:cubicBezTo>
                  <a:pt x="307826" y="2084296"/>
                  <a:pt x="318891" y="2122534"/>
                  <a:pt x="331470" y="2160270"/>
                </a:cubicBezTo>
                <a:cubicBezTo>
                  <a:pt x="337958" y="2179735"/>
                  <a:pt x="341513" y="2201399"/>
                  <a:pt x="354330" y="2217420"/>
                </a:cubicBezTo>
                <a:cubicBezTo>
                  <a:pt x="372919" y="2240656"/>
                  <a:pt x="399421" y="2256301"/>
                  <a:pt x="422910" y="2274570"/>
                </a:cubicBezTo>
                <a:cubicBezTo>
                  <a:pt x="433753" y="2283004"/>
                  <a:pt x="443873" y="2294098"/>
                  <a:pt x="457200" y="2297430"/>
                </a:cubicBezTo>
                <a:cubicBezTo>
                  <a:pt x="490671" y="2305798"/>
                  <a:pt x="525916" y="2303981"/>
                  <a:pt x="560070" y="2308860"/>
                </a:cubicBezTo>
                <a:cubicBezTo>
                  <a:pt x="579302" y="2311607"/>
                  <a:pt x="598170" y="2316480"/>
                  <a:pt x="617220" y="2320290"/>
                </a:cubicBezTo>
                <a:cubicBezTo>
                  <a:pt x="674370" y="2316480"/>
                  <a:pt x="732094" y="2317793"/>
                  <a:pt x="788670" y="2308860"/>
                </a:cubicBezTo>
                <a:cubicBezTo>
                  <a:pt x="805500" y="2306203"/>
                  <a:pt x="817501" y="2288252"/>
                  <a:pt x="834390" y="2286000"/>
                </a:cubicBezTo>
                <a:cubicBezTo>
                  <a:pt x="932871" y="2272869"/>
                  <a:pt x="1131570" y="2263140"/>
                  <a:pt x="1131570" y="2263140"/>
                </a:cubicBezTo>
                <a:cubicBezTo>
                  <a:pt x="1187937" y="2234956"/>
                  <a:pt x="1240709" y="2215501"/>
                  <a:pt x="1280160" y="2160270"/>
                </a:cubicBezTo>
                <a:cubicBezTo>
                  <a:pt x="1299081" y="2133781"/>
                  <a:pt x="1302056" y="2098931"/>
                  <a:pt x="1314450" y="2068830"/>
                </a:cubicBezTo>
                <a:cubicBezTo>
                  <a:pt x="1341851" y="2002284"/>
                  <a:pt x="1366352" y="1964093"/>
                  <a:pt x="1383030" y="1897380"/>
                </a:cubicBezTo>
                <a:cubicBezTo>
                  <a:pt x="1392454" y="1859686"/>
                  <a:pt x="1396002" y="1820655"/>
                  <a:pt x="1405890" y="1783080"/>
                </a:cubicBezTo>
                <a:cubicBezTo>
                  <a:pt x="1481204" y="1496885"/>
                  <a:pt x="1403266" y="1861269"/>
                  <a:pt x="1463040" y="1577340"/>
                </a:cubicBezTo>
                <a:cubicBezTo>
                  <a:pt x="1471044" y="1539319"/>
                  <a:pt x="1479840" y="1501419"/>
                  <a:pt x="1485900" y="1463040"/>
                </a:cubicBezTo>
                <a:cubicBezTo>
                  <a:pt x="1500078" y="1373249"/>
                  <a:pt x="1493574" y="1325695"/>
                  <a:pt x="1520190" y="1234440"/>
                </a:cubicBezTo>
                <a:cubicBezTo>
                  <a:pt x="1535049" y="1183496"/>
                  <a:pt x="1558290" y="1135380"/>
                  <a:pt x="1577340" y="1085850"/>
                </a:cubicBezTo>
                <a:cubicBezTo>
                  <a:pt x="1581150" y="1009650"/>
                  <a:pt x="1581649" y="933212"/>
                  <a:pt x="1588770" y="857250"/>
                </a:cubicBezTo>
                <a:cubicBezTo>
                  <a:pt x="1611438" y="615455"/>
                  <a:pt x="1669648" y="723563"/>
                  <a:pt x="1577340" y="354330"/>
                </a:cubicBezTo>
                <a:cubicBezTo>
                  <a:pt x="1564013" y="301022"/>
                  <a:pt x="1515242" y="263628"/>
                  <a:pt x="1485900" y="217170"/>
                </a:cubicBezTo>
                <a:cubicBezTo>
                  <a:pt x="1484124" y="214358"/>
                  <a:pt x="1405722" y="72334"/>
                  <a:pt x="1394460" y="68580"/>
                </a:cubicBezTo>
                <a:cubicBezTo>
                  <a:pt x="1312629" y="41303"/>
                  <a:pt x="1372078" y="58982"/>
                  <a:pt x="1211580" y="34290"/>
                </a:cubicBezTo>
                <a:lnTo>
                  <a:pt x="1154430" y="11430"/>
                </a:lnTo>
                <a:lnTo>
                  <a:pt x="1143000" y="22860"/>
                </a:lnTo>
                <a:lnTo>
                  <a:pt x="1143000" y="22860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C0E13748-D2CE-4CF2-96A6-57E880C5F3CB}"/>
              </a:ext>
            </a:extLst>
          </p:cNvPr>
          <p:cNvSpPr/>
          <p:nvPr/>
        </p:nvSpPr>
        <p:spPr>
          <a:xfrm>
            <a:off x="1040130" y="4878990"/>
            <a:ext cx="1773760" cy="612648"/>
          </a:xfrm>
          <a:prstGeom prst="wedgeRectCallout">
            <a:avLst>
              <a:gd name="adj1" fmla="val -15314"/>
              <a:gd name="adj2" fmla="val -2695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Новый тип</a:t>
            </a:r>
          </a:p>
        </p:txBody>
      </p:sp>
    </p:spTree>
    <p:extLst>
      <p:ext uri="{BB962C8B-B14F-4D97-AF65-F5344CB8AC3E}">
        <p14:creationId xmlns:p14="http://schemas.microsoft.com/office/powerpoint/2010/main" val="76461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D357-B9DF-45D5-BF57-B0C879AC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 </a:t>
            </a:r>
            <a:r>
              <a:rPr lang="en-US" dirty="0"/>
              <a:t>Join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24130D-F9AB-43A5-A114-A4DDFD63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57" y="1816700"/>
            <a:ext cx="8603726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29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2ED52-08D2-4FB2-BC3C-33D5C75F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en-US" dirty="0"/>
              <a:t>Join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F687F7-9363-4CE7-902D-F56F6AFF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5" y="1638145"/>
            <a:ext cx="8649450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1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</TotalTime>
  <Words>3214</Words>
  <Application>Microsoft Office PowerPoint</Application>
  <PresentationFormat>Экран (4:3)</PresentationFormat>
  <Paragraphs>453</Paragraphs>
  <Slides>56</Slides>
  <Notes>19</Notes>
  <HiddenSlides>2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56</vt:i4>
      </vt:variant>
    </vt:vector>
  </HeadingPairs>
  <TitlesOfParts>
    <vt:vector size="60" baseType="lpstr">
      <vt:lpstr>Office Theme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Методы расширения: пример</vt:lpstr>
      <vt:lpstr>Методы расширения и запросы LINQ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Немедленное выполнение запросов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</vt:lpstr>
      <vt:lpstr>Пример</vt:lpstr>
      <vt:lpstr>Пример</vt:lpstr>
      <vt:lpstr>Пример</vt:lpstr>
      <vt:lpstr>Презентация PowerPoint</vt:lpstr>
      <vt:lpstr>Коллекция коллекций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 Join</vt:lpstr>
      <vt:lpstr>Метод Join</vt:lpstr>
      <vt:lpstr>Метод Join</vt:lpstr>
      <vt:lpstr>Метод Join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LINQ to Objects</dc:title>
  <dc:subject/>
  <dc:creator>Ольга</dc:creator>
  <dc:description/>
  <cp:lastModifiedBy>Викентьева Ольга Леонидовна</cp:lastModifiedBy>
  <cp:revision>109</cp:revision>
  <dcterms:created xsi:type="dcterms:W3CDTF">2016-10-01T15:32:08Z</dcterms:created>
  <dcterms:modified xsi:type="dcterms:W3CDTF">2025-05-11T11:20:37Z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(4:3)</vt:lpwstr>
  </property>
  <property fmtid="{D5CDD505-2E9C-101B-9397-08002B2CF9AE}" pid="4" name="Slides">
    <vt:i4>64</vt:i4>
  </property>
</Properties>
</file>
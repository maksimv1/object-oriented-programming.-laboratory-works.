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356" r:id="rId6"/>
    <p:sldId id="355" r:id="rId7"/>
    <p:sldId id="264" r:id="rId8"/>
    <p:sldId id="343" r:id="rId9"/>
    <p:sldId id="344" r:id="rId10"/>
    <p:sldId id="345" r:id="rId11"/>
    <p:sldId id="295" r:id="rId12"/>
    <p:sldId id="293" r:id="rId13"/>
    <p:sldId id="340" r:id="rId14"/>
    <p:sldId id="294" r:id="rId15"/>
    <p:sldId id="308" r:id="rId16"/>
    <p:sldId id="309" r:id="rId17"/>
    <p:sldId id="310" r:id="rId18"/>
    <p:sldId id="312" r:id="rId19"/>
    <p:sldId id="268" r:id="rId20"/>
    <p:sldId id="362" r:id="rId21"/>
    <p:sldId id="276" r:id="rId22"/>
    <p:sldId id="341" r:id="rId23"/>
    <p:sldId id="297" r:id="rId24"/>
    <p:sldId id="359" r:id="rId25"/>
    <p:sldId id="357" r:id="rId26"/>
    <p:sldId id="358" r:id="rId27"/>
    <p:sldId id="296" r:id="rId28"/>
    <p:sldId id="311" r:id="rId29"/>
    <p:sldId id="277" r:id="rId30"/>
    <p:sldId id="368" r:id="rId31"/>
    <p:sldId id="369" r:id="rId32"/>
    <p:sldId id="370" r:id="rId33"/>
    <p:sldId id="371" r:id="rId34"/>
    <p:sldId id="360" r:id="rId35"/>
    <p:sldId id="317" r:id="rId36"/>
    <p:sldId id="299" r:id="rId37"/>
    <p:sldId id="282" r:id="rId38"/>
    <p:sldId id="361" r:id="rId39"/>
    <p:sldId id="286" r:id="rId40"/>
    <p:sldId id="319" r:id="rId41"/>
    <p:sldId id="367" r:id="rId42"/>
    <p:sldId id="372" r:id="rId43"/>
    <p:sldId id="373" r:id="rId44"/>
    <p:sldId id="363" r:id="rId45"/>
    <p:sldId id="364" r:id="rId46"/>
    <p:sldId id="365" r:id="rId47"/>
    <p:sldId id="366" r:id="rId48"/>
    <p:sldId id="287" r:id="rId49"/>
    <p:sldId id="346" r:id="rId50"/>
    <p:sldId id="342" r:id="rId51"/>
    <p:sldId id="320" r:id="rId52"/>
    <p:sldId id="321" r:id="rId53"/>
    <p:sldId id="305" r:id="rId54"/>
    <p:sldId id="374" r:id="rId55"/>
    <p:sldId id="375" r:id="rId56"/>
    <p:sldId id="322" r:id="rId57"/>
    <p:sldId id="323" r:id="rId58"/>
    <p:sldId id="325" r:id="rId59"/>
    <p:sldId id="324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6" r:id="rId69"/>
    <p:sldId id="334" r:id="rId70"/>
    <p:sldId id="338" r:id="rId71"/>
    <p:sldId id="337" r:id="rId72"/>
    <p:sldId id="339" r:id="rId73"/>
    <p:sldId id="347" r:id="rId74"/>
    <p:sldId id="350" r:id="rId75"/>
    <p:sldId id="349" r:id="rId76"/>
    <p:sldId id="348" r:id="rId77"/>
    <p:sldId id="351" r:id="rId78"/>
    <p:sldId id="352" r:id="rId79"/>
    <p:sldId id="353" r:id="rId8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A855F-2A3B-47A0-96E9-FF49238C4A5E}" v="7" dt="2025-03-21T17:50:01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452" autoAdjust="0"/>
  </p:normalViewPr>
  <p:slideViewPr>
    <p:cSldViewPr>
      <p:cViewPr varScale="1">
        <p:scale>
          <a:sx n="118" d="100"/>
          <a:sy n="118" d="100"/>
        </p:scale>
        <p:origin x="30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293BCE-6E44-4013-B703-CA7BBDD16DFF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B52FD41-4B04-459D-AB1E-D0D9688B5D24}">
      <dgm:prSet phldrT="[Текст]"/>
      <dgm:spPr/>
      <dgm:t>
        <a:bodyPr/>
        <a:lstStyle/>
        <a:p>
          <a:r>
            <a:rPr lang="ru-RU" dirty="0"/>
            <a:t>Локальные для ядра</a:t>
          </a:r>
        </a:p>
      </dgm:t>
    </dgm:pt>
    <dgm:pt modelId="{46826C40-C316-4B2E-9968-436DACB0095F}" type="parTrans" cxnId="{5815EF3E-B749-4C20-AE96-94E892E497EF}">
      <dgm:prSet/>
      <dgm:spPr/>
      <dgm:t>
        <a:bodyPr/>
        <a:lstStyle/>
        <a:p>
          <a:endParaRPr lang="ru-RU"/>
        </a:p>
      </dgm:t>
    </dgm:pt>
    <dgm:pt modelId="{4CE913C4-0BAF-42F9-8323-6E01112ED363}" type="sibTrans" cxnId="{5815EF3E-B749-4C20-AE96-94E892E497EF}">
      <dgm:prSet/>
      <dgm:spPr/>
      <dgm:t>
        <a:bodyPr/>
        <a:lstStyle/>
        <a:p>
          <a:endParaRPr lang="ru-RU"/>
        </a:p>
      </dgm:t>
    </dgm:pt>
    <dgm:pt modelId="{7ABAA0C4-E43B-4049-8FAA-C84DB5A937AA}">
      <dgm:prSet phldrT="[Текст]"/>
      <dgm:spPr/>
      <dgm:t>
        <a:bodyPr/>
        <a:lstStyle/>
        <a:p>
          <a:r>
            <a:rPr lang="ru-RU" dirty="0"/>
            <a:t>Регистры </a:t>
          </a:r>
          <a:r>
            <a:rPr lang="en-US" dirty="0"/>
            <a:t>CPU</a:t>
          </a:r>
          <a:endParaRPr lang="ru-RU" dirty="0"/>
        </a:p>
      </dgm:t>
    </dgm:pt>
    <dgm:pt modelId="{25D33C9D-8DF5-40C2-91A9-4AB82C9773CF}" type="parTrans" cxnId="{848BF693-3501-4C23-8546-1DE7149B97FB}">
      <dgm:prSet/>
      <dgm:spPr/>
      <dgm:t>
        <a:bodyPr/>
        <a:lstStyle/>
        <a:p>
          <a:endParaRPr lang="ru-RU"/>
        </a:p>
      </dgm:t>
    </dgm:pt>
    <dgm:pt modelId="{4BC7AC7A-AAF6-4576-81D0-4DF4C5DFA7B4}" type="sibTrans" cxnId="{848BF693-3501-4C23-8546-1DE7149B97FB}">
      <dgm:prSet/>
      <dgm:spPr/>
      <dgm:t>
        <a:bodyPr/>
        <a:lstStyle/>
        <a:p>
          <a:endParaRPr lang="ru-RU"/>
        </a:p>
      </dgm:t>
    </dgm:pt>
    <dgm:pt modelId="{2D6A7CC5-32CB-49BA-B98E-B25907D0132D}">
      <dgm:prSet phldrT="[Текст]"/>
      <dgm:spPr/>
      <dgm:t>
        <a:bodyPr/>
        <a:lstStyle/>
        <a:p>
          <a:r>
            <a:rPr lang="ru-RU" dirty="0"/>
            <a:t>Приватный для каждого ядра</a:t>
          </a:r>
        </a:p>
      </dgm:t>
    </dgm:pt>
    <dgm:pt modelId="{AEA91CAF-91F2-4979-A025-F7341F05E3EE}" type="parTrans" cxnId="{007F42DA-26BB-49E5-9E0A-8C15516C897E}">
      <dgm:prSet/>
      <dgm:spPr/>
      <dgm:t>
        <a:bodyPr/>
        <a:lstStyle/>
        <a:p>
          <a:endParaRPr lang="ru-RU"/>
        </a:p>
      </dgm:t>
    </dgm:pt>
    <dgm:pt modelId="{FEE26FCF-267B-4119-B998-20901EBBBDC8}" type="sibTrans" cxnId="{007F42DA-26BB-49E5-9E0A-8C15516C897E}">
      <dgm:prSet/>
      <dgm:spPr/>
      <dgm:t>
        <a:bodyPr/>
        <a:lstStyle/>
        <a:p>
          <a:endParaRPr lang="ru-RU"/>
        </a:p>
      </dgm:t>
    </dgm:pt>
    <dgm:pt modelId="{07288889-B80E-47C4-9585-CEA03EA9B149}">
      <dgm:prSet phldrT="[Текст]"/>
      <dgm:spPr/>
      <dgm:t>
        <a:bodyPr/>
        <a:lstStyle/>
        <a:p>
          <a:r>
            <a:rPr lang="ru-RU" dirty="0"/>
            <a:t>Кэш 1</a:t>
          </a:r>
        </a:p>
      </dgm:t>
    </dgm:pt>
    <dgm:pt modelId="{56D9250D-4547-4A4C-8206-8912BC38C682}" type="parTrans" cxnId="{F6EA84BD-C49A-4FB6-887A-0F1B6CBAE1DD}">
      <dgm:prSet/>
      <dgm:spPr/>
      <dgm:t>
        <a:bodyPr/>
        <a:lstStyle/>
        <a:p>
          <a:endParaRPr lang="ru-RU"/>
        </a:p>
      </dgm:t>
    </dgm:pt>
    <dgm:pt modelId="{DA133B85-8812-4F4F-B233-EE8C9D67FABA}" type="sibTrans" cxnId="{F6EA84BD-C49A-4FB6-887A-0F1B6CBAE1DD}">
      <dgm:prSet/>
      <dgm:spPr/>
      <dgm:t>
        <a:bodyPr/>
        <a:lstStyle/>
        <a:p>
          <a:endParaRPr lang="ru-RU"/>
        </a:p>
      </dgm:t>
    </dgm:pt>
    <dgm:pt modelId="{D9EB8406-17E5-4042-831E-6A6E4FCCBFF9}">
      <dgm:prSet phldrT="[Текст]"/>
      <dgm:spPr/>
      <dgm:t>
        <a:bodyPr/>
        <a:lstStyle/>
        <a:p>
          <a:r>
            <a:rPr lang="ru-RU" dirty="0"/>
            <a:t>Приватный или общий</a:t>
          </a:r>
        </a:p>
      </dgm:t>
    </dgm:pt>
    <dgm:pt modelId="{1B022A68-F21D-44AD-89F2-D9C5867B1F7F}" type="parTrans" cxnId="{CF6068D1-39C0-4829-B2B0-25FE8A2B6939}">
      <dgm:prSet/>
      <dgm:spPr/>
      <dgm:t>
        <a:bodyPr/>
        <a:lstStyle/>
        <a:p>
          <a:endParaRPr lang="ru-RU"/>
        </a:p>
      </dgm:t>
    </dgm:pt>
    <dgm:pt modelId="{79761549-A3EF-4A23-9BCA-1A446A179A66}" type="sibTrans" cxnId="{CF6068D1-39C0-4829-B2B0-25FE8A2B6939}">
      <dgm:prSet/>
      <dgm:spPr/>
      <dgm:t>
        <a:bodyPr/>
        <a:lstStyle/>
        <a:p>
          <a:endParaRPr lang="ru-RU"/>
        </a:p>
      </dgm:t>
    </dgm:pt>
    <dgm:pt modelId="{5156A936-B06C-46B7-93DB-017D440A9F22}">
      <dgm:prSet phldrT="[Текст]"/>
      <dgm:spPr/>
      <dgm:t>
        <a:bodyPr/>
        <a:lstStyle/>
        <a:p>
          <a:r>
            <a:rPr lang="ru-RU" dirty="0"/>
            <a:t>Кэш 2</a:t>
          </a:r>
        </a:p>
      </dgm:t>
    </dgm:pt>
    <dgm:pt modelId="{C0928585-F2B9-4BD1-8E46-6C7FDDCF4E58}" type="parTrans" cxnId="{B538C2E0-D099-4896-B692-E62476C9F92E}">
      <dgm:prSet/>
      <dgm:spPr/>
      <dgm:t>
        <a:bodyPr/>
        <a:lstStyle/>
        <a:p>
          <a:endParaRPr lang="ru-RU"/>
        </a:p>
      </dgm:t>
    </dgm:pt>
    <dgm:pt modelId="{BC8C512E-3E6A-4B36-9F2B-E8F57D5F42A6}" type="sibTrans" cxnId="{B538C2E0-D099-4896-B692-E62476C9F92E}">
      <dgm:prSet/>
      <dgm:spPr/>
      <dgm:t>
        <a:bodyPr/>
        <a:lstStyle/>
        <a:p>
          <a:endParaRPr lang="ru-RU"/>
        </a:p>
      </dgm:t>
    </dgm:pt>
    <dgm:pt modelId="{CCDF6AC9-4101-4B0E-B995-799188FC8F90}">
      <dgm:prSet phldrT="[Текст]"/>
      <dgm:spPr/>
      <dgm:t>
        <a:bodyPr/>
        <a:lstStyle/>
        <a:p>
          <a:r>
            <a:rPr lang="ru-RU" dirty="0"/>
            <a:t>Общий для всех ядер</a:t>
          </a:r>
        </a:p>
      </dgm:t>
    </dgm:pt>
    <dgm:pt modelId="{B2149D61-3648-478F-B5D7-51E7C14918A9}" type="parTrans" cxnId="{CC5D7956-469F-47C9-B376-12BDA68585F6}">
      <dgm:prSet/>
      <dgm:spPr/>
      <dgm:t>
        <a:bodyPr/>
        <a:lstStyle/>
        <a:p>
          <a:endParaRPr lang="ru-RU"/>
        </a:p>
      </dgm:t>
    </dgm:pt>
    <dgm:pt modelId="{1E431C6F-57BF-419A-B7E3-7DF378555614}" type="sibTrans" cxnId="{CC5D7956-469F-47C9-B376-12BDA68585F6}">
      <dgm:prSet/>
      <dgm:spPr/>
      <dgm:t>
        <a:bodyPr/>
        <a:lstStyle/>
        <a:p>
          <a:endParaRPr lang="ru-RU"/>
        </a:p>
      </dgm:t>
    </dgm:pt>
    <dgm:pt modelId="{3E94DF59-C492-4A2C-A9F8-E7E3D47B55F8}">
      <dgm:prSet phldrT="[Текст]"/>
      <dgm:spPr/>
      <dgm:t>
        <a:bodyPr/>
        <a:lstStyle/>
        <a:p>
          <a:r>
            <a:rPr lang="ru-RU" dirty="0"/>
            <a:t>Кэш3</a:t>
          </a:r>
        </a:p>
      </dgm:t>
    </dgm:pt>
    <dgm:pt modelId="{F24232DC-D034-419E-A6C9-238856E53148}" type="parTrans" cxnId="{0D4A1BEF-D784-42AD-BA05-D9C36B01356F}">
      <dgm:prSet/>
      <dgm:spPr/>
      <dgm:t>
        <a:bodyPr/>
        <a:lstStyle/>
        <a:p>
          <a:endParaRPr lang="ru-RU"/>
        </a:p>
      </dgm:t>
    </dgm:pt>
    <dgm:pt modelId="{41F7A7AD-6279-4AB7-A3F9-87302BFF4A49}" type="sibTrans" cxnId="{0D4A1BEF-D784-42AD-BA05-D9C36B01356F}">
      <dgm:prSet/>
      <dgm:spPr/>
      <dgm:t>
        <a:bodyPr/>
        <a:lstStyle/>
        <a:p>
          <a:endParaRPr lang="ru-RU"/>
        </a:p>
      </dgm:t>
    </dgm:pt>
    <dgm:pt modelId="{ED83A531-53F2-48B5-8DFF-1CB3DCC2E29F}">
      <dgm:prSet phldrT="[Текст]"/>
      <dgm:spPr/>
      <dgm:t>
        <a:bodyPr/>
        <a:lstStyle/>
        <a:p>
          <a:r>
            <a:rPr lang="ru-RU" dirty="0"/>
            <a:t>Общая для всех ядер</a:t>
          </a:r>
        </a:p>
      </dgm:t>
    </dgm:pt>
    <dgm:pt modelId="{D6111EB6-06A1-4A2B-98C5-23E67BED9EC2}" type="parTrans" cxnId="{886C64B5-A5BA-43DF-901A-D28FD10FFEF8}">
      <dgm:prSet/>
      <dgm:spPr/>
      <dgm:t>
        <a:bodyPr/>
        <a:lstStyle/>
        <a:p>
          <a:endParaRPr lang="ru-RU"/>
        </a:p>
      </dgm:t>
    </dgm:pt>
    <dgm:pt modelId="{FE6925F2-550E-4C5E-B2F0-5B1047B680E6}" type="sibTrans" cxnId="{886C64B5-A5BA-43DF-901A-D28FD10FFEF8}">
      <dgm:prSet/>
      <dgm:spPr/>
      <dgm:t>
        <a:bodyPr/>
        <a:lstStyle/>
        <a:p>
          <a:endParaRPr lang="ru-RU"/>
        </a:p>
      </dgm:t>
    </dgm:pt>
    <dgm:pt modelId="{1AB44DCC-F398-4BD7-8851-E933D030FD4A}">
      <dgm:prSet phldrT="[Текст]"/>
      <dgm:spPr/>
      <dgm:t>
        <a:bodyPr/>
        <a:lstStyle/>
        <a:p>
          <a:r>
            <a:rPr lang="ru-RU" dirty="0"/>
            <a:t>Оперативная память</a:t>
          </a:r>
        </a:p>
      </dgm:t>
    </dgm:pt>
    <dgm:pt modelId="{A4783C43-2753-4A42-9C75-E335D8CA3E5C}" type="parTrans" cxnId="{4676D248-29AD-403E-8F29-1CFA284EDD05}">
      <dgm:prSet/>
      <dgm:spPr/>
      <dgm:t>
        <a:bodyPr/>
        <a:lstStyle/>
        <a:p>
          <a:endParaRPr lang="ru-RU"/>
        </a:p>
      </dgm:t>
    </dgm:pt>
    <dgm:pt modelId="{E073C574-0860-4FEA-A736-E12290099ACE}" type="sibTrans" cxnId="{4676D248-29AD-403E-8F29-1CFA284EDD05}">
      <dgm:prSet/>
      <dgm:spPr/>
      <dgm:t>
        <a:bodyPr/>
        <a:lstStyle/>
        <a:p>
          <a:endParaRPr lang="ru-RU"/>
        </a:p>
      </dgm:t>
    </dgm:pt>
    <dgm:pt modelId="{32763B1A-B3D4-4501-B9BE-7D73763B9EDA}" type="pres">
      <dgm:prSet presAssocID="{E8293BCE-6E44-4013-B703-CA7BBDD16DFF}" presName="Name0" presStyleCnt="0">
        <dgm:presLayoutVars>
          <dgm:dir/>
          <dgm:animLvl val="lvl"/>
          <dgm:resizeHandles val="exact"/>
        </dgm:presLayoutVars>
      </dgm:prSet>
      <dgm:spPr/>
    </dgm:pt>
    <dgm:pt modelId="{8FD022DE-9C85-4002-8E04-7ADA21DCD80A}" type="pres">
      <dgm:prSet presAssocID="{ED83A531-53F2-48B5-8DFF-1CB3DCC2E29F}" presName="boxAndChildren" presStyleCnt="0"/>
      <dgm:spPr/>
    </dgm:pt>
    <dgm:pt modelId="{253CE629-20AF-4DB5-A1E6-797AB5A91992}" type="pres">
      <dgm:prSet presAssocID="{ED83A531-53F2-48B5-8DFF-1CB3DCC2E29F}" presName="parentTextBox" presStyleLbl="node1" presStyleIdx="0" presStyleCnt="5"/>
      <dgm:spPr/>
    </dgm:pt>
    <dgm:pt modelId="{49598007-7F0D-4CA6-9E14-AAE007677A76}" type="pres">
      <dgm:prSet presAssocID="{ED83A531-53F2-48B5-8DFF-1CB3DCC2E29F}" presName="entireBox" presStyleLbl="node1" presStyleIdx="0" presStyleCnt="5"/>
      <dgm:spPr/>
    </dgm:pt>
    <dgm:pt modelId="{A446886D-ED6B-4228-91B4-DF110E9ECF7B}" type="pres">
      <dgm:prSet presAssocID="{ED83A531-53F2-48B5-8DFF-1CB3DCC2E29F}" presName="descendantBox" presStyleCnt="0"/>
      <dgm:spPr/>
    </dgm:pt>
    <dgm:pt modelId="{A82875BB-E86C-46A9-8763-04A9E0743633}" type="pres">
      <dgm:prSet presAssocID="{1AB44DCC-F398-4BD7-8851-E933D030FD4A}" presName="childTextBox" presStyleLbl="fgAccFollowNode1" presStyleIdx="0" presStyleCnt="5">
        <dgm:presLayoutVars>
          <dgm:bulletEnabled val="1"/>
        </dgm:presLayoutVars>
      </dgm:prSet>
      <dgm:spPr/>
    </dgm:pt>
    <dgm:pt modelId="{732C520F-4FD1-4EBC-B5A4-FB854B8B63C1}" type="pres">
      <dgm:prSet presAssocID="{1E431C6F-57BF-419A-B7E3-7DF378555614}" presName="sp" presStyleCnt="0"/>
      <dgm:spPr/>
    </dgm:pt>
    <dgm:pt modelId="{888FC999-08E3-485A-AD60-23938CEA6313}" type="pres">
      <dgm:prSet presAssocID="{CCDF6AC9-4101-4B0E-B995-799188FC8F90}" presName="arrowAndChildren" presStyleCnt="0"/>
      <dgm:spPr/>
    </dgm:pt>
    <dgm:pt modelId="{54124FB6-CF3F-4686-AE36-57C3291FC54F}" type="pres">
      <dgm:prSet presAssocID="{CCDF6AC9-4101-4B0E-B995-799188FC8F90}" presName="parentTextArrow" presStyleLbl="node1" presStyleIdx="0" presStyleCnt="5"/>
      <dgm:spPr/>
    </dgm:pt>
    <dgm:pt modelId="{8A24AB85-F359-4737-A66C-AA137B7FE579}" type="pres">
      <dgm:prSet presAssocID="{CCDF6AC9-4101-4B0E-B995-799188FC8F90}" presName="arrow" presStyleLbl="node1" presStyleIdx="1" presStyleCnt="5"/>
      <dgm:spPr/>
    </dgm:pt>
    <dgm:pt modelId="{D658CAD5-3205-41A1-B7E5-4212D37AFECA}" type="pres">
      <dgm:prSet presAssocID="{CCDF6AC9-4101-4B0E-B995-799188FC8F90}" presName="descendantArrow" presStyleCnt="0"/>
      <dgm:spPr/>
    </dgm:pt>
    <dgm:pt modelId="{426B5302-2746-4AC8-9B05-2835FCAFC12B}" type="pres">
      <dgm:prSet presAssocID="{3E94DF59-C492-4A2C-A9F8-E7E3D47B55F8}" presName="childTextArrow" presStyleLbl="fgAccFollowNode1" presStyleIdx="1" presStyleCnt="5">
        <dgm:presLayoutVars>
          <dgm:bulletEnabled val="1"/>
        </dgm:presLayoutVars>
      </dgm:prSet>
      <dgm:spPr/>
    </dgm:pt>
    <dgm:pt modelId="{05B4A4C3-EC48-4154-8F5F-E1757A241793}" type="pres">
      <dgm:prSet presAssocID="{79761549-A3EF-4A23-9BCA-1A446A179A66}" presName="sp" presStyleCnt="0"/>
      <dgm:spPr/>
    </dgm:pt>
    <dgm:pt modelId="{2C8D279E-D024-45C3-9845-629D0CED6292}" type="pres">
      <dgm:prSet presAssocID="{D9EB8406-17E5-4042-831E-6A6E4FCCBFF9}" presName="arrowAndChildren" presStyleCnt="0"/>
      <dgm:spPr/>
    </dgm:pt>
    <dgm:pt modelId="{C5782A46-EFEC-4250-B288-9571254ABE3C}" type="pres">
      <dgm:prSet presAssocID="{D9EB8406-17E5-4042-831E-6A6E4FCCBFF9}" presName="parentTextArrow" presStyleLbl="node1" presStyleIdx="1" presStyleCnt="5"/>
      <dgm:spPr/>
    </dgm:pt>
    <dgm:pt modelId="{E6CBD585-895B-4A99-B879-368A8CB43A0C}" type="pres">
      <dgm:prSet presAssocID="{D9EB8406-17E5-4042-831E-6A6E4FCCBFF9}" presName="arrow" presStyleLbl="node1" presStyleIdx="2" presStyleCnt="5"/>
      <dgm:spPr/>
    </dgm:pt>
    <dgm:pt modelId="{06A7D55C-906F-450E-A342-51CA03DF4CD0}" type="pres">
      <dgm:prSet presAssocID="{D9EB8406-17E5-4042-831E-6A6E4FCCBFF9}" presName="descendantArrow" presStyleCnt="0"/>
      <dgm:spPr/>
    </dgm:pt>
    <dgm:pt modelId="{337B6491-6AC5-4869-BBCF-3910E2BE3DBF}" type="pres">
      <dgm:prSet presAssocID="{5156A936-B06C-46B7-93DB-017D440A9F22}" presName="childTextArrow" presStyleLbl="fgAccFollowNode1" presStyleIdx="2" presStyleCnt="5">
        <dgm:presLayoutVars>
          <dgm:bulletEnabled val="1"/>
        </dgm:presLayoutVars>
      </dgm:prSet>
      <dgm:spPr/>
    </dgm:pt>
    <dgm:pt modelId="{F3D7E856-2463-4D6C-BEAB-541B8FFF818F}" type="pres">
      <dgm:prSet presAssocID="{FEE26FCF-267B-4119-B998-20901EBBBDC8}" presName="sp" presStyleCnt="0"/>
      <dgm:spPr/>
    </dgm:pt>
    <dgm:pt modelId="{FCBD5B62-0C1F-4685-A603-B2280879D9B0}" type="pres">
      <dgm:prSet presAssocID="{2D6A7CC5-32CB-49BA-B98E-B25907D0132D}" presName="arrowAndChildren" presStyleCnt="0"/>
      <dgm:spPr/>
    </dgm:pt>
    <dgm:pt modelId="{6A6B0EE2-815E-436B-9EC5-F8F6DB5B00CB}" type="pres">
      <dgm:prSet presAssocID="{2D6A7CC5-32CB-49BA-B98E-B25907D0132D}" presName="parentTextArrow" presStyleLbl="node1" presStyleIdx="2" presStyleCnt="5"/>
      <dgm:spPr/>
    </dgm:pt>
    <dgm:pt modelId="{A7893638-CBBC-4235-835C-9635E000CFAE}" type="pres">
      <dgm:prSet presAssocID="{2D6A7CC5-32CB-49BA-B98E-B25907D0132D}" presName="arrow" presStyleLbl="node1" presStyleIdx="3" presStyleCnt="5"/>
      <dgm:spPr/>
    </dgm:pt>
    <dgm:pt modelId="{BD9C797E-470A-42FF-99A2-D9CB465AAE46}" type="pres">
      <dgm:prSet presAssocID="{2D6A7CC5-32CB-49BA-B98E-B25907D0132D}" presName="descendantArrow" presStyleCnt="0"/>
      <dgm:spPr/>
    </dgm:pt>
    <dgm:pt modelId="{7F6369D9-8548-4FB6-A735-65120DE7079E}" type="pres">
      <dgm:prSet presAssocID="{07288889-B80E-47C4-9585-CEA03EA9B149}" presName="childTextArrow" presStyleLbl="fgAccFollowNode1" presStyleIdx="3" presStyleCnt="5">
        <dgm:presLayoutVars>
          <dgm:bulletEnabled val="1"/>
        </dgm:presLayoutVars>
      </dgm:prSet>
      <dgm:spPr/>
    </dgm:pt>
    <dgm:pt modelId="{1C098300-242C-4E1D-89C7-B7FFB4C3BB96}" type="pres">
      <dgm:prSet presAssocID="{4CE913C4-0BAF-42F9-8323-6E01112ED363}" presName="sp" presStyleCnt="0"/>
      <dgm:spPr/>
    </dgm:pt>
    <dgm:pt modelId="{EE5ECEDC-2EAC-427C-A518-FDF7BE4D15E1}" type="pres">
      <dgm:prSet presAssocID="{6B52FD41-4B04-459D-AB1E-D0D9688B5D24}" presName="arrowAndChildren" presStyleCnt="0"/>
      <dgm:spPr/>
    </dgm:pt>
    <dgm:pt modelId="{B6F6B923-4EF2-4C7B-B61D-61C94D05415B}" type="pres">
      <dgm:prSet presAssocID="{6B52FD41-4B04-459D-AB1E-D0D9688B5D24}" presName="parentTextArrow" presStyleLbl="node1" presStyleIdx="3" presStyleCnt="5"/>
      <dgm:spPr/>
    </dgm:pt>
    <dgm:pt modelId="{BBDCEC79-E64B-4F1E-A7D6-4308F7B886E4}" type="pres">
      <dgm:prSet presAssocID="{6B52FD41-4B04-459D-AB1E-D0D9688B5D24}" presName="arrow" presStyleLbl="node1" presStyleIdx="4" presStyleCnt="5"/>
      <dgm:spPr/>
    </dgm:pt>
    <dgm:pt modelId="{0FEC8CB9-466E-457A-8EF1-5265106D19B5}" type="pres">
      <dgm:prSet presAssocID="{6B52FD41-4B04-459D-AB1E-D0D9688B5D24}" presName="descendantArrow" presStyleCnt="0"/>
      <dgm:spPr/>
    </dgm:pt>
    <dgm:pt modelId="{7E92560D-EEE9-4B94-B518-A6E68C2C4F82}" type="pres">
      <dgm:prSet presAssocID="{7ABAA0C4-E43B-4049-8FAA-C84DB5A937AA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37E26107-D19D-4A6E-9BC4-B50A5C74C128}" type="presOf" srcId="{E8293BCE-6E44-4013-B703-CA7BBDD16DFF}" destId="{32763B1A-B3D4-4501-B9BE-7D73763B9EDA}" srcOrd="0" destOrd="0" presId="urn:microsoft.com/office/officeart/2005/8/layout/process4"/>
    <dgm:cxn modelId="{27DB4E0B-8781-41F5-8E85-BB771D6FF4BD}" type="presOf" srcId="{D9EB8406-17E5-4042-831E-6A6E4FCCBFF9}" destId="{C5782A46-EFEC-4250-B288-9571254ABE3C}" srcOrd="0" destOrd="0" presId="urn:microsoft.com/office/officeart/2005/8/layout/process4"/>
    <dgm:cxn modelId="{F9611919-0866-43C0-901E-E7E091CCF971}" type="presOf" srcId="{D9EB8406-17E5-4042-831E-6A6E4FCCBFF9}" destId="{E6CBD585-895B-4A99-B879-368A8CB43A0C}" srcOrd="1" destOrd="0" presId="urn:microsoft.com/office/officeart/2005/8/layout/process4"/>
    <dgm:cxn modelId="{8482DE19-A76D-4C49-8941-0F651CEC6ECE}" type="presOf" srcId="{2D6A7CC5-32CB-49BA-B98E-B25907D0132D}" destId="{A7893638-CBBC-4235-835C-9635E000CFAE}" srcOrd="1" destOrd="0" presId="urn:microsoft.com/office/officeart/2005/8/layout/process4"/>
    <dgm:cxn modelId="{55B60A1E-2A60-470A-B1C9-5954C65B585A}" type="presOf" srcId="{5156A936-B06C-46B7-93DB-017D440A9F22}" destId="{337B6491-6AC5-4869-BBCF-3910E2BE3DBF}" srcOrd="0" destOrd="0" presId="urn:microsoft.com/office/officeart/2005/8/layout/process4"/>
    <dgm:cxn modelId="{B8ECD22D-0BE6-4014-85B6-3EE437578419}" type="presOf" srcId="{6B52FD41-4B04-459D-AB1E-D0D9688B5D24}" destId="{BBDCEC79-E64B-4F1E-A7D6-4308F7B886E4}" srcOrd="1" destOrd="0" presId="urn:microsoft.com/office/officeart/2005/8/layout/process4"/>
    <dgm:cxn modelId="{5815EF3E-B749-4C20-AE96-94E892E497EF}" srcId="{E8293BCE-6E44-4013-B703-CA7BBDD16DFF}" destId="{6B52FD41-4B04-459D-AB1E-D0D9688B5D24}" srcOrd="0" destOrd="0" parTransId="{46826C40-C316-4B2E-9968-436DACB0095F}" sibTransId="{4CE913C4-0BAF-42F9-8323-6E01112ED363}"/>
    <dgm:cxn modelId="{DC221B40-C9A3-4C7C-8425-9710AF8B8465}" type="presOf" srcId="{6B52FD41-4B04-459D-AB1E-D0D9688B5D24}" destId="{B6F6B923-4EF2-4C7B-B61D-61C94D05415B}" srcOrd="0" destOrd="0" presId="urn:microsoft.com/office/officeart/2005/8/layout/process4"/>
    <dgm:cxn modelId="{4676D248-29AD-403E-8F29-1CFA284EDD05}" srcId="{ED83A531-53F2-48B5-8DFF-1CB3DCC2E29F}" destId="{1AB44DCC-F398-4BD7-8851-E933D030FD4A}" srcOrd="0" destOrd="0" parTransId="{A4783C43-2753-4A42-9C75-E335D8CA3E5C}" sibTransId="{E073C574-0860-4FEA-A736-E12290099ACE}"/>
    <dgm:cxn modelId="{0C1E814F-064B-4E52-B346-1AD5684F7C95}" type="presOf" srcId="{CCDF6AC9-4101-4B0E-B995-799188FC8F90}" destId="{8A24AB85-F359-4737-A66C-AA137B7FE579}" srcOrd="1" destOrd="0" presId="urn:microsoft.com/office/officeart/2005/8/layout/process4"/>
    <dgm:cxn modelId="{26F09270-3C4F-4825-A33E-596DA5093148}" type="presOf" srcId="{1AB44DCC-F398-4BD7-8851-E933D030FD4A}" destId="{A82875BB-E86C-46A9-8763-04A9E0743633}" srcOrd="0" destOrd="0" presId="urn:microsoft.com/office/officeart/2005/8/layout/process4"/>
    <dgm:cxn modelId="{CC5D7956-469F-47C9-B376-12BDA68585F6}" srcId="{E8293BCE-6E44-4013-B703-CA7BBDD16DFF}" destId="{CCDF6AC9-4101-4B0E-B995-799188FC8F90}" srcOrd="3" destOrd="0" parTransId="{B2149D61-3648-478F-B5D7-51E7C14918A9}" sibTransId="{1E431C6F-57BF-419A-B7E3-7DF378555614}"/>
    <dgm:cxn modelId="{EC836B57-3544-4EB5-B215-51CCB7236BDF}" type="presOf" srcId="{CCDF6AC9-4101-4B0E-B995-799188FC8F90}" destId="{54124FB6-CF3F-4686-AE36-57C3291FC54F}" srcOrd="0" destOrd="0" presId="urn:microsoft.com/office/officeart/2005/8/layout/process4"/>
    <dgm:cxn modelId="{F873E183-E66B-45A9-BBB7-89AB5939D88A}" type="presOf" srcId="{07288889-B80E-47C4-9585-CEA03EA9B149}" destId="{7F6369D9-8548-4FB6-A735-65120DE7079E}" srcOrd="0" destOrd="0" presId="urn:microsoft.com/office/officeart/2005/8/layout/process4"/>
    <dgm:cxn modelId="{848BF693-3501-4C23-8546-1DE7149B97FB}" srcId="{6B52FD41-4B04-459D-AB1E-D0D9688B5D24}" destId="{7ABAA0C4-E43B-4049-8FAA-C84DB5A937AA}" srcOrd="0" destOrd="0" parTransId="{25D33C9D-8DF5-40C2-91A9-4AB82C9773CF}" sibTransId="{4BC7AC7A-AAF6-4576-81D0-4DF4C5DFA7B4}"/>
    <dgm:cxn modelId="{9BD2F2AA-83A5-4627-BD00-97DE69DFFC80}" type="presOf" srcId="{2D6A7CC5-32CB-49BA-B98E-B25907D0132D}" destId="{6A6B0EE2-815E-436B-9EC5-F8F6DB5B00CB}" srcOrd="0" destOrd="0" presId="urn:microsoft.com/office/officeart/2005/8/layout/process4"/>
    <dgm:cxn modelId="{886C64B5-A5BA-43DF-901A-D28FD10FFEF8}" srcId="{E8293BCE-6E44-4013-B703-CA7BBDD16DFF}" destId="{ED83A531-53F2-48B5-8DFF-1CB3DCC2E29F}" srcOrd="4" destOrd="0" parTransId="{D6111EB6-06A1-4A2B-98C5-23E67BED9EC2}" sibTransId="{FE6925F2-550E-4C5E-B2F0-5B1047B680E6}"/>
    <dgm:cxn modelId="{D6C656B5-D4D8-4CD9-AB8F-0BE977554EA1}" type="presOf" srcId="{ED83A531-53F2-48B5-8DFF-1CB3DCC2E29F}" destId="{253CE629-20AF-4DB5-A1E6-797AB5A91992}" srcOrd="0" destOrd="0" presId="urn:microsoft.com/office/officeart/2005/8/layout/process4"/>
    <dgm:cxn modelId="{F6EA84BD-C49A-4FB6-887A-0F1B6CBAE1DD}" srcId="{2D6A7CC5-32CB-49BA-B98E-B25907D0132D}" destId="{07288889-B80E-47C4-9585-CEA03EA9B149}" srcOrd="0" destOrd="0" parTransId="{56D9250D-4547-4A4C-8206-8912BC38C682}" sibTransId="{DA133B85-8812-4F4F-B233-EE8C9D67FABA}"/>
    <dgm:cxn modelId="{CF6068D1-39C0-4829-B2B0-25FE8A2B6939}" srcId="{E8293BCE-6E44-4013-B703-CA7BBDD16DFF}" destId="{D9EB8406-17E5-4042-831E-6A6E4FCCBFF9}" srcOrd="2" destOrd="0" parTransId="{1B022A68-F21D-44AD-89F2-D9C5867B1F7F}" sibTransId="{79761549-A3EF-4A23-9BCA-1A446A179A66}"/>
    <dgm:cxn modelId="{4A48E4D9-557A-4E56-A6BD-2D78F6E0EBAE}" type="presOf" srcId="{7ABAA0C4-E43B-4049-8FAA-C84DB5A937AA}" destId="{7E92560D-EEE9-4B94-B518-A6E68C2C4F82}" srcOrd="0" destOrd="0" presId="urn:microsoft.com/office/officeart/2005/8/layout/process4"/>
    <dgm:cxn modelId="{007F42DA-26BB-49E5-9E0A-8C15516C897E}" srcId="{E8293BCE-6E44-4013-B703-CA7BBDD16DFF}" destId="{2D6A7CC5-32CB-49BA-B98E-B25907D0132D}" srcOrd="1" destOrd="0" parTransId="{AEA91CAF-91F2-4979-A025-F7341F05E3EE}" sibTransId="{FEE26FCF-267B-4119-B998-20901EBBBDC8}"/>
    <dgm:cxn modelId="{B538C2E0-D099-4896-B692-E62476C9F92E}" srcId="{D9EB8406-17E5-4042-831E-6A6E4FCCBFF9}" destId="{5156A936-B06C-46B7-93DB-017D440A9F22}" srcOrd="0" destOrd="0" parTransId="{C0928585-F2B9-4BD1-8E46-6C7FDDCF4E58}" sibTransId="{BC8C512E-3E6A-4B36-9F2B-E8F57D5F42A6}"/>
    <dgm:cxn modelId="{6F1612E8-1098-4D08-B7F2-664DA17AB53E}" type="presOf" srcId="{ED83A531-53F2-48B5-8DFF-1CB3DCC2E29F}" destId="{49598007-7F0D-4CA6-9E14-AAE007677A76}" srcOrd="1" destOrd="0" presId="urn:microsoft.com/office/officeart/2005/8/layout/process4"/>
    <dgm:cxn modelId="{0D4A1BEF-D784-42AD-BA05-D9C36B01356F}" srcId="{CCDF6AC9-4101-4B0E-B995-799188FC8F90}" destId="{3E94DF59-C492-4A2C-A9F8-E7E3D47B55F8}" srcOrd="0" destOrd="0" parTransId="{F24232DC-D034-419E-A6C9-238856E53148}" sibTransId="{41F7A7AD-6279-4AB7-A3F9-87302BFF4A49}"/>
    <dgm:cxn modelId="{B2F7BFF7-15D0-44A3-B72A-D93C08453E56}" type="presOf" srcId="{3E94DF59-C492-4A2C-A9F8-E7E3D47B55F8}" destId="{426B5302-2746-4AC8-9B05-2835FCAFC12B}" srcOrd="0" destOrd="0" presId="urn:microsoft.com/office/officeart/2005/8/layout/process4"/>
    <dgm:cxn modelId="{6334BEAC-C332-477E-8AB9-BCC35D7031F3}" type="presParOf" srcId="{32763B1A-B3D4-4501-B9BE-7D73763B9EDA}" destId="{8FD022DE-9C85-4002-8E04-7ADA21DCD80A}" srcOrd="0" destOrd="0" presId="urn:microsoft.com/office/officeart/2005/8/layout/process4"/>
    <dgm:cxn modelId="{09AEFB28-DC1A-4C72-988C-B74139FAC3CC}" type="presParOf" srcId="{8FD022DE-9C85-4002-8E04-7ADA21DCD80A}" destId="{253CE629-20AF-4DB5-A1E6-797AB5A91992}" srcOrd="0" destOrd="0" presId="urn:microsoft.com/office/officeart/2005/8/layout/process4"/>
    <dgm:cxn modelId="{E0B67F03-E6C1-4405-A74E-3ADCE915139A}" type="presParOf" srcId="{8FD022DE-9C85-4002-8E04-7ADA21DCD80A}" destId="{49598007-7F0D-4CA6-9E14-AAE007677A76}" srcOrd="1" destOrd="0" presId="urn:microsoft.com/office/officeart/2005/8/layout/process4"/>
    <dgm:cxn modelId="{1C38F450-F3B0-42D2-A4AC-DD0AA08A58D1}" type="presParOf" srcId="{8FD022DE-9C85-4002-8E04-7ADA21DCD80A}" destId="{A446886D-ED6B-4228-91B4-DF110E9ECF7B}" srcOrd="2" destOrd="0" presId="urn:microsoft.com/office/officeart/2005/8/layout/process4"/>
    <dgm:cxn modelId="{AE5B65DE-4620-4B3C-9795-9A2EBC3A9CD1}" type="presParOf" srcId="{A446886D-ED6B-4228-91B4-DF110E9ECF7B}" destId="{A82875BB-E86C-46A9-8763-04A9E0743633}" srcOrd="0" destOrd="0" presId="urn:microsoft.com/office/officeart/2005/8/layout/process4"/>
    <dgm:cxn modelId="{199CB833-2A70-40F1-9AF6-9765DCABC8AD}" type="presParOf" srcId="{32763B1A-B3D4-4501-B9BE-7D73763B9EDA}" destId="{732C520F-4FD1-4EBC-B5A4-FB854B8B63C1}" srcOrd="1" destOrd="0" presId="urn:microsoft.com/office/officeart/2005/8/layout/process4"/>
    <dgm:cxn modelId="{0E282867-80B5-41EA-A562-301DE4A9AF2E}" type="presParOf" srcId="{32763B1A-B3D4-4501-B9BE-7D73763B9EDA}" destId="{888FC999-08E3-485A-AD60-23938CEA6313}" srcOrd="2" destOrd="0" presId="urn:microsoft.com/office/officeart/2005/8/layout/process4"/>
    <dgm:cxn modelId="{AE8BDC8D-72E1-4C1F-86FE-12D5AAC113F5}" type="presParOf" srcId="{888FC999-08E3-485A-AD60-23938CEA6313}" destId="{54124FB6-CF3F-4686-AE36-57C3291FC54F}" srcOrd="0" destOrd="0" presId="urn:microsoft.com/office/officeart/2005/8/layout/process4"/>
    <dgm:cxn modelId="{0E853795-E48F-4D13-911B-4C8C23EA3474}" type="presParOf" srcId="{888FC999-08E3-485A-AD60-23938CEA6313}" destId="{8A24AB85-F359-4737-A66C-AA137B7FE579}" srcOrd="1" destOrd="0" presId="urn:microsoft.com/office/officeart/2005/8/layout/process4"/>
    <dgm:cxn modelId="{E79A4545-4A81-4183-B931-70C5C59B7E13}" type="presParOf" srcId="{888FC999-08E3-485A-AD60-23938CEA6313}" destId="{D658CAD5-3205-41A1-B7E5-4212D37AFECA}" srcOrd="2" destOrd="0" presId="urn:microsoft.com/office/officeart/2005/8/layout/process4"/>
    <dgm:cxn modelId="{E4A8CDF7-46D1-49D3-B26D-5D8E107EBA82}" type="presParOf" srcId="{D658CAD5-3205-41A1-B7E5-4212D37AFECA}" destId="{426B5302-2746-4AC8-9B05-2835FCAFC12B}" srcOrd="0" destOrd="0" presId="urn:microsoft.com/office/officeart/2005/8/layout/process4"/>
    <dgm:cxn modelId="{5F906E7E-698B-4462-83A2-AB18BBF25526}" type="presParOf" srcId="{32763B1A-B3D4-4501-B9BE-7D73763B9EDA}" destId="{05B4A4C3-EC48-4154-8F5F-E1757A241793}" srcOrd="3" destOrd="0" presId="urn:microsoft.com/office/officeart/2005/8/layout/process4"/>
    <dgm:cxn modelId="{512B1607-9EDF-4E37-A610-CA1CF478EFB4}" type="presParOf" srcId="{32763B1A-B3D4-4501-B9BE-7D73763B9EDA}" destId="{2C8D279E-D024-45C3-9845-629D0CED6292}" srcOrd="4" destOrd="0" presId="urn:microsoft.com/office/officeart/2005/8/layout/process4"/>
    <dgm:cxn modelId="{5625F07B-44ED-4276-A730-9A9420F26BE4}" type="presParOf" srcId="{2C8D279E-D024-45C3-9845-629D0CED6292}" destId="{C5782A46-EFEC-4250-B288-9571254ABE3C}" srcOrd="0" destOrd="0" presId="urn:microsoft.com/office/officeart/2005/8/layout/process4"/>
    <dgm:cxn modelId="{6C126CE7-B42B-41C6-9537-BF4EFCBF7A80}" type="presParOf" srcId="{2C8D279E-D024-45C3-9845-629D0CED6292}" destId="{E6CBD585-895B-4A99-B879-368A8CB43A0C}" srcOrd="1" destOrd="0" presId="urn:microsoft.com/office/officeart/2005/8/layout/process4"/>
    <dgm:cxn modelId="{3B7886BB-3D45-423C-BA8D-4C988DEBEC13}" type="presParOf" srcId="{2C8D279E-D024-45C3-9845-629D0CED6292}" destId="{06A7D55C-906F-450E-A342-51CA03DF4CD0}" srcOrd="2" destOrd="0" presId="urn:microsoft.com/office/officeart/2005/8/layout/process4"/>
    <dgm:cxn modelId="{E947E61A-3D1E-4290-A151-225894E37571}" type="presParOf" srcId="{06A7D55C-906F-450E-A342-51CA03DF4CD0}" destId="{337B6491-6AC5-4869-BBCF-3910E2BE3DBF}" srcOrd="0" destOrd="0" presId="urn:microsoft.com/office/officeart/2005/8/layout/process4"/>
    <dgm:cxn modelId="{7E53F3C8-FEDD-4A0F-97DD-DBCC8587E424}" type="presParOf" srcId="{32763B1A-B3D4-4501-B9BE-7D73763B9EDA}" destId="{F3D7E856-2463-4D6C-BEAB-541B8FFF818F}" srcOrd="5" destOrd="0" presId="urn:microsoft.com/office/officeart/2005/8/layout/process4"/>
    <dgm:cxn modelId="{3DA16D45-B20E-4F50-B44E-2680F0468CD4}" type="presParOf" srcId="{32763B1A-B3D4-4501-B9BE-7D73763B9EDA}" destId="{FCBD5B62-0C1F-4685-A603-B2280879D9B0}" srcOrd="6" destOrd="0" presId="urn:microsoft.com/office/officeart/2005/8/layout/process4"/>
    <dgm:cxn modelId="{8BC01D45-F1F2-46F8-AA23-055A634A9D7A}" type="presParOf" srcId="{FCBD5B62-0C1F-4685-A603-B2280879D9B0}" destId="{6A6B0EE2-815E-436B-9EC5-F8F6DB5B00CB}" srcOrd="0" destOrd="0" presId="urn:microsoft.com/office/officeart/2005/8/layout/process4"/>
    <dgm:cxn modelId="{B6047328-C56E-4B93-9708-3B1EE394CDF2}" type="presParOf" srcId="{FCBD5B62-0C1F-4685-A603-B2280879D9B0}" destId="{A7893638-CBBC-4235-835C-9635E000CFAE}" srcOrd="1" destOrd="0" presId="urn:microsoft.com/office/officeart/2005/8/layout/process4"/>
    <dgm:cxn modelId="{1054E81C-16AD-4C22-9B47-FCD285F67492}" type="presParOf" srcId="{FCBD5B62-0C1F-4685-A603-B2280879D9B0}" destId="{BD9C797E-470A-42FF-99A2-D9CB465AAE46}" srcOrd="2" destOrd="0" presId="urn:microsoft.com/office/officeart/2005/8/layout/process4"/>
    <dgm:cxn modelId="{5DEC57F3-3544-4BBA-88B4-74A4FA43E133}" type="presParOf" srcId="{BD9C797E-470A-42FF-99A2-D9CB465AAE46}" destId="{7F6369D9-8548-4FB6-A735-65120DE7079E}" srcOrd="0" destOrd="0" presId="urn:microsoft.com/office/officeart/2005/8/layout/process4"/>
    <dgm:cxn modelId="{85C784ED-2742-483F-BB51-F5F430775A03}" type="presParOf" srcId="{32763B1A-B3D4-4501-B9BE-7D73763B9EDA}" destId="{1C098300-242C-4E1D-89C7-B7FFB4C3BB96}" srcOrd="7" destOrd="0" presId="urn:microsoft.com/office/officeart/2005/8/layout/process4"/>
    <dgm:cxn modelId="{AE6B41A5-3D57-4E9B-85B2-6A8B781B74C1}" type="presParOf" srcId="{32763B1A-B3D4-4501-B9BE-7D73763B9EDA}" destId="{EE5ECEDC-2EAC-427C-A518-FDF7BE4D15E1}" srcOrd="8" destOrd="0" presId="urn:microsoft.com/office/officeart/2005/8/layout/process4"/>
    <dgm:cxn modelId="{D24F2D4F-6393-43ED-9E71-8A1D452301AE}" type="presParOf" srcId="{EE5ECEDC-2EAC-427C-A518-FDF7BE4D15E1}" destId="{B6F6B923-4EF2-4C7B-B61D-61C94D05415B}" srcOrd="0" destOrd="0" presId="urn:microsoft.com/office/officeart/2005/8/layout/process4"/>
    <dgm:cxn modelId="{8CBA86C5-858D-4E4A-B916-0AA6F7992846}" type="presParOf" srcId="{EE5ECEDC-2EAC-427C-A518-FDF7BE4D15E1}" destId="{BBDCEC79-E64B-4F1E-A7D6-4308F7B886E4}" srcOrd="1" destOrd="0" presId="urn:microsoft.com/office/officeart/2005/8/layout/process4"/>
    <dgm:cxn modelId="{C2CB5796-5453-4B9E-A22A-020BAF99DE69}" type="presParOf" srcId="{EE5ECEDC-2EAC-427C-A518-FDF7BE4D15E1}" destId="{0FEC8CB9-466E-457A-8EF1-5265106D19B5}" srcOrd="2" destOrd="0" presId="urn:microsoft.com/office/officeart/2005/8/layout/process4"/>
    <dgm:cxn modelId="{28AA6BD7-AFFE-4744-AE28-CE924FE4E162}" type="presParOf" srcId="{0FEC8CB9-466E-457A-8EF1-5265106D19B5}" destId="{7E92560D-EEE9-4B94-B518-A6E68C2C4F8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98007-7F0D-4CA6-9E14-AAE007677A76}">
      <dsp:nvSpPr>
        <dsp:cNvPr id="0" name=""/>
        <dsp:cNvSpPr/>
      </dsp:nvSpPr>
      <dsp:spPr>
        <a:xfrm>
          <a:off x="0" y="3886230"/>
          <a:ext cx="4038600" cy="63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Общая для всех ядер</a:t>
          </a:r>
        </a:p>
      </dsp:txBody>
      <dsp:txXfrm>
        <a:off x="0" y="3886230"/>
        <a:ext cx="4038600" cy="344286"/>
      </dsp:txXfrm>
    </dsp:sp>
    <dsp:sp modelId="{A82875BB-E86C-46A9-8763-04A9E0743633}">
      <dsp:nvSpPr>
        <dsp:cNvPr id="0" name=""/>
        <dsp:cNvSpPr/>
      </dsp:nvSpPr>
      <dsp:spPr>
        <a:xfrm>
          <a:off x="0" y="4217766"/>
          <a:ext cx="4038600" cy="2932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Оперативная память</a:t>
          </a:r>
        </a:p>
      </dsp:txBody>
      <dsp:txXfrm>
        <a:off x="0" y="4217766"/>
        <a:ext cx="4038600" cy="293281"/>
      </dsp:txXfrm>
    </dsp:sp>
    <dsp:sp modelId="{8A24AB85-F359-4737-A66C-AA137B7FE579}">
      <dsp:nvSpPr>
        <dsp:cNvPr id="0" name=""/>
        <dsp:cNvSpPr/>
      </dsp:nvSpPr>
      <dsp:spPr>
        <a:xfrm rot="10800000">
          <a:off x="0" y="2915214"/>
          <a:ext cx="4038600" cy="9805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Общий для всех ядер</a:t>
          </a:r>
        </a:p>
      </dsp:txBody>
      <dsp:txXfrm rot="-10800000">
        <a:off x="0" y="2915214"/>
        <a:ext cx="4038600" cy="344183"/>
      </dsp:txXfrm>
    </dsp:sp>
    <dsp:sp modelId="{426B5302-2746-4AC8-9B05-2835FCAFC12B}">
      <dsp:nvSpPr>
        <dsp:cNvPr id="0" name=""/>
        <dsp:cNvSpPr/>
      </dsp:nvSpPr>
      <dsp:spPr>
        <a:xfrm>
          <a:off x="0" y="3259397"/>
          <a:ext cx="4038600" cy="293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Кэш3</a:t>
          </a:r>
        </a:p>
      </dsp:txBody>
      <dsp:txXfrm>
        <a:off x="0" y="3259397"/>
        <a:ext cx="4038600" cy="293193"/>
      </dsp:txXfrm>
    </dsp:sp>
    <dsp:sp modelId="{E6CBD585-895B-4A99-B879-368A8CB43A0C}">
      <dsp:nvSpPr>
        <dsp:cNvPr id="0" name=""/>
        <dsp:cNvSpPr/>
      </dsp:nvSpPr>
      <dsp:spPr>
        <a:xfrm rot="10800000">
          <a:off x="0" y="1944197"/>
          <a:ext cx="4038600" cy="9805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Приватный или общий</a:t>
          </a:r>
        </a:p>
      </dsp:txBody>
      <dsp:txXfrm rot="-10800000">
        <a:off x="0" y="1944197"/>
        <a:ext cx="4038600" cy="344183"/>
      </dsp:txXfrm>
    </dsp:sp>
    <dsp:sp modelId="{337B6491-6AC5-4869-BBCF-3910E2BE3DBF}">
      <dsp:nvSpPr>
        <dsp:cNvPr id="0" name=""/>
        <dsp:cNvSpPr/>
      </dsp:nvSpPr>
      <dsp:spPr>
        <a:xfrm>
          <a:off x="0" y="2288380"/>
          <a:ext cx="4038600" cy="293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Кэш 2</a:t>
          </a:r>
        </a:p>
      </dsp:txBody>
      <dsp:txXfrm>
        <a:off x="0" y="2288380"/>
        <a:ext cx="4038600" cy="293193"/>
      </dsp:txXfrm>
    </dsp:sp>
    <dsp:sp modelId="{A7893638-CBBC-4235-835C-9635E000CFAE}">
      <dsp:nvSpPr>
        <dsp:cNvPr id="0" name=""/>
        <dsp:cNvSpPr/>
      </dsp:nvSpPr>
      <dsp:spPr>
        <a:xfrm rot="10800000">
          <a:off x="0" y="973180"/>
          <a:ext cx="4038600" cy="9805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Приватный для каждого ядра</a:t>
          </a:r>
        </a:p>
      </dsp:txBody>
      <dsp:txXfrm rot="-10800000">
        <a:off x="0" y="973180"/>
        <a:ext cx="4038600" cy="344183"/>
      </dsp:txXfrm>
    </dsp:sp>
    <dsp:sp modelId="{7F6369D9-8548-4FB6-A735-65120DE7079E}">
      <dsp:nvSpPr>
        <dsp:cNvPr id="0" name=""/>
        <dsp:cNvSpPr/>
      </dsp:nvSpPr>
      <dsp:spPr>
        <a:xfrm>
          <a:off x="0" y="1317364"/>
          <a:ext cx="4038600" cy="293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Кэш 1</a:t>
          </a:r>
        </a:p>
      </dsp:txBody>
      <dsp:txXfrm>
        <a:off x="0" y="1317364"/>
        <a:ext cx="4038600" cy="293193"/>
      </dsp:txXfrm>
    </dsp:sp>
    <dsp:sp modelId="{BBDCEC79-E64B-4F1E-A7D6-4308F7B886E4}">
      <dsp:nvSpPr>
        <dsp:cNvPr id="0" name=""/>
        <dsp:cNvSpPr/>
      </dsp:nvSpPr>
      <dsp:spPr>
        <a:xfrm rot="10800000">
          <a:off x="0" y="2163"/>
          <a:ext cx="4038600" cy="9805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Локальные для ядра</a:t>
          </a:r>
        </a:p>
      </dsp:txBody>
      <dsp:txXfrm rot="-10800000">
        <a:off x="0" y="2163"/>
        <a:ext cx="4038600" cy="344183"/>
      </dsp:txXfrm>
    </dsp:sp>
    <dsp:sp modelId="{7E92560D-EEE9-4B94-B518-A6E68C2C4F82}">
      <dsp:nvSpPr>
        <dsp:cNvPr id="0" name=""/>
        <dsp:cNvSpPr/>
      </dsp:nvSpPr>
      <dsp:spPr>
        <a:xfrm>
          <a:off x="0" y="346347"/>
          <a:ext cx="4038600" cy="293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Регистры </a:t>
          </a:r>
          <a:r>
            <a:rPr lang="en-US" sz="1700" kern="1200" dirty="0"/>
            <a:t>CPU</a:t>
          </a:r>
          <a:endParaRPr lang="ru-RU" sz="1700" kern="1200" dirty="0"/>
        </a:p>
      </dsp:txBody>
      <dsp:txXfrm>
        <a:off x="0" y="346347"/>
        <a:ext cx="4038600" cy="293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73477-CDDA-4D5A-BF88-BAFCBD98A343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C03FE-0D64-4D88-AB06-29D2254AE0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85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Поток – часть кода программы. При выполнении программы каждому потоку процессор выделяет определенный квант времени. Т.О. мы можем выделить в приложении несколько потоков, которые будут выполнять различные задачи одновременно.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011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Пример</a:t>
            </a:r>
            <a:r>
              <a:rPr lang="en-US" b="1" dirty="0"/>
              <a:t> </a:t>
            </a:r>
            <a:r>
              <a:rPr lang="ru-RU" b="1" dirty="0"/>
              <a:t>процесса</a:t>
            </a:r>
            <a:r>
              <a:rPr lang="ru-RU" dirty="0"/>
              <a:t>: работа с текстовым редактором + поиск информации в интернете.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Пример потока</a:t>
            </a:r>
            <a:r>
              <a:rPr lang="ru-RU" dirty="0"/>
              <a:t>: текстовый редактор может форматировать текст и в то же время выводить что-либо на печать.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0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 — это как отдельное здание со своим адресом, охраной и коммуникациями. Потоки — это люди, работающие внутри этого здания: они пользуются общими помещениями, кухней, документами, но у каждого свои задачи и рабочий стол.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контексте программирования на C#: когда вы запускаете приложение, создаётся процесс. По умолчанию у него один поток (главный). Вы можете создавать дополнительные потоки вручную (</a:t>
            </a:r>
            <a:r>
              <a:rPr lang="ru-RU" dirty="0" err="1"/>
              <a:t>Thread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ru-RU" dirty="0"/>
              <a:t>Task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), чтобы выполнять несколько задач одновременно, используя общие данные процесса. Это и есть многопоточность.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43114-EBA7-4386-A904-9E8C982C16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132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I/O-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bound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Input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Output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bound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 — это операции, скорость выполнения которых ограничена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пропускной способностью подсистемы ввода-вывода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а не производительностью процессора. Такие операции большую часть времени проводят в ожидании завершения передачи данных.</a:t>
            </a:r>
          </a:p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Характерные признаки I/O-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bound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операций (работа с файлами, сетевые операции, работа с БД, работа с внешними устройствами – печать, сканирование и т.п):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Процессор простаивает большую часть времени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Скорость выполнения зависит от скорости диска, сети, памяти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Поток блокируется в ожидании завершения операции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51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C# параллелизм достигается с помощью создания нескольких потоков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Thread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 Task), которые реально работают параллельно, если ядер достаточно.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современных многоядерных системах мы часто используем оба подхода: конкурентное асинхронное программирование (чтобы не блокировать потоки) и параллельные вычисления (чтобы загрузить все ядра).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конкурентность — для отзывчивости и неблокирующих операций, параллелизм — для ускорения тяжёлых вычислений.</a:t>
            </a:r>
          </a:p>
          <a:p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I/O-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bound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операции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→ нужна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асинхронность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(чтобы не блокировать потоки)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CPU-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bound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операции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→ нужен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параллелизм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(чтобы использовать все ядра)</a:t>
            </a:r>
          </a:p>
          <a:p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43114-EBA7-4386-A904-9E8C982C16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433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916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Поток создается за счет вызова метода</a:t>
            </a:r>
            <a:r>
              <a:rPr lang="en-US" dirty="0"/>
              <a:t> </a:t>
            </a:r>
            <a:r>
              <a:rPr lang="ru-RU" dirty="0"/>
              <a:t>Start() и переходит в состояние </a:t>
            </a:r>
            <a:r>
              <a:rPr lang="ru-RU" b="1" dirty="0" err="1"/>
              <a:t>Unstarted</a:t>
            </a:r>
            <a:r>
              <a:rPr lang="ru-RU" b="1" dirty="0"/>
              <a:t> 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Поток создан, но ещё не запущен методом </a:t>
            </a:r>
            <a:r>
              <a:rPr lang="ru-RU" dirty="0"/>
              <a:t>Start()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lang="ru-RU" b="1" dirty="0"/>
              <a:t>.</a:t>
            </a:r>
          </a:p>
          <a:p>
            <a:r>
              <a:rPr lang="ru-RU" dirty="0"/>
              <a:t>В состояние </a:t>
            </a:r>
            <a:r>
              <a:rPr lang="ru-RU" b="1" dirty="0" err="1"/>
              <a:t>Running</a:t>
            </a:r>
            <a:r>
              <a:rPr lang="ru-RU" dirty="0"/>
              <a:t> поток переходит после того, как планировщик потоков операционной системы выберет его для выполнения.</a:t>
            </a:r>
          </a:p>
          <a:p>
            <a:r>
              <a:rPr lang="ru-RU" dirty="0"/>
              <a:t>С помощью метода </a:t>
            </a:r>
            <a:r>
              <a:rPr lang="ru-RU" dirty="0" err="1"/>
              <a:t>Thread.Sleep</a:t>
            </a:r>
            <a:r>
              <a:rPr lang="ru-RU" dirty="0"/>
              <a:t>() или </a:t>
            </a:r>
            <a:r>
              <a:rPr lang="en-US" dirty="0" err="1"/>
              <a:t>Monitor.Wait</a:t>
            </a:r>
            <a:r>
              <a:rPr lang="en-US" dirty="0"/>
              <a:t>() </a:t>
            </a:r>
            <a:r>
              <a:rPr lang="ru-RU" dirty="0"/>
              <a:t>или </a:t>
            </a:r>
            <a:r>
              <a:rPr lang="en-US" dirty="0" err="1"/>
              <a:t>Thread.Join</a:t>
            </a:r>
            <a:r>
              <a:rPr lang="en-US" dirty="0"/>
              <a:t>() </a:t>
            </a:r>
            <a:r>
              <a:rPr lang="ru-RU" dirty="0"/>
              <a:t>поток можно перевести в состояние </a:t>
            </a:r>
            <a:r>
              <a:rPr lang="ru-RU" b="1" dirty="0" err="1"/>
              <a:t>WaitSleepJoin</a:t>
            </a:r>
            <a:r>
              <a:rPr lang="ru-RU" dirty="0"/>
              <a:t> и при этом указать, через какой промежуток времени поток должен возобновить работу.</a:t>
            </a:r>
          </a:p>
          <a:p>
            <a:r>
              <a:rPr lang="en-US" dirty="0"/>
              <a:t>Stopped() – </a:t>
            </a:r>
            <a:r>
              <a:rPr lang="ru-RU" dirty="0"/>
              <a:t>поток выполнился до конца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57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Текущий поток – это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Main()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04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конструкторы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060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ставить разную задержку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60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4E4E4"/>
                </a:solidFill>
                <a:effectLst/>
                <a:latin typeface="OpenSansRegular"/>
              </a:rPr>
              <a:t>метод </a:t>
            </a:r>
            <a:r>
              <a:rPr lang="ru-RU" b="0" i="0" dirty="0" err="1">
                <a:solidFill>
                  <a:srgbClr val="E4E4E4"/>
                </a:solidFill>
                <a:effectLst/>
                <a:latin typeface="OpenSansRegular"/>
              </a:rPr>
              <a:t>Invoke</a:t>
            </a:r>
            <a:r>
              <a:rPr lang="ru-RU" b="0" i="0" dirty="0">
                <a:solidFill>
                  <a:srgbClr val="E4E4E4"/>
                </a:solidFill>
                <a:effectLst/>
                <a:latin typeface="OpenSansRegular"/>
              </a:rPr>
              <a:t>() используется для вызова метода, поддерживаемого объектом делегата в синхронном режиме. Поэтому вызывающий поток (такой как первичный поток приложения) должен будет ждать, пока не завершится вызов делегата.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186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894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На то время, когда объект заблокирован одним потоком, никакой другой поток не может получить доступ к заблокированному блоку кода. Когда поток снимет блокировку, объект станет доступным для использования другим потоком.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Т.е. в критической секции всегда находится только один поток.  При этом неважно в каком состоянии он находится – активном или приостановленном. Это прием называется </a:t>
            </a:r>
            <a:r>
              <a:rPr lang="ru-RU" b="1" dirty="0"/>
              <a:t>взаимным исключением.</a:t>
            </a:r>
            <a:endParaRPr lang="en-US" b="1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918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oin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метод класса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Thread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который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блокирует вызывающий поток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до тех пор, пока поток, для которого вызван метод, не завершит своё выполнение.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Простыми словами: когда главный поток вызывает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t.Join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(), он говорит: "Я подожду здесь, пока поток t не закончит свою работу, и только потом пойду дальше".</a:t>
            </a:r>
          </a:p>
          <a:p>
            <a:pPr algn="l"/>
            <a:r>
              <a:rPr lang="ru-RU" dirty="0"/>
              <a:t>t1.Join() НЕ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останавливает t1,  </a:t>
            </a:r>
            <a:r>
              <a:rPr lang="ru-RU" dirty="0"/>
              <a:t>t1.Join()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останавливает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текущий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(где вызван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1-2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Создаются объекты потоков, но они ещё не запущены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4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 t1.Start() — поток 1 начинает выполнение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5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 t2.Start() — поток 2 начинает выполнение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7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 t1.Join() — главный поток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останавливается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 ждёт завершения t1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t1 уже завершился,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возвращается мгновенно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t1 ещё работает, главный поток блокируется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8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 t2.Join() — главный поток ждёт завершения t2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 этому моменту t2 мог уже завершиться (если работал быстрее t1)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t2 ещё работает, ждём и его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Строка 10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Выполнится только после того, как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потока завершатся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None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Общее время выполнения 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max(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время 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t1,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время 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t2)</a:t>
            </a:r>
            <a:endParaRPr lang="ru-RU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822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Операция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counter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++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не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атомарна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она состоит из трёх шагов: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Read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прочитать текущее значение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counter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из памяти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Modify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увеличить значение на 1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Write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записать новое значение обратно в память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29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Оба потока прочитали значение 10, оба увеличили до 11 и записали 11. Одно увеличение "потерялось".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7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Общий ресурс переменная х</a:t>
            </a:r>
          </a:p>
          <a:p>
            <a:r>
              <a:rPr lang="ru-RU" dirty="0"/>
              <a:t>Нет синхронизации, поведение непредсказуемо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056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lock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простейший способ обеспечить взаимоисключающий доступ к разделяемым ресурсам в C#. Он гарантирует, что только один поток может войти в критическую секцию в данный момент времени.</a:t>
            </a:r>
          </a:p>
          <a:p>
            <a:r>
              <a:rPr lang="ru-RU" dirty="0" err="1"/>
              <a:t>локер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0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Машины на перекрестке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107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 = 0мс: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1 захватывает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lockA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 = 0мс: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2 захватывает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lockB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 = 100мс: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1 пытается захватить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lockB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блокируется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 = 100мс: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Поток 2 пытается захватить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lockA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блокируется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 = ∞: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Оба потока ждут друг друга вечно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644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Разработчики из компании Microsoft утверждают, что </a:t>
            </a:r>
            <a:r>
              <a:rPr lang="ru-RU" dirty="0" err="1"/>
              <a:t>lock</a:t>
            </a:r>
            <a:r>
              <a:rPr lang="ru-RU" dirty="0"/>
              <a:t>-блок "совершенно эквивалентен" вызову метода Enter () с последующим вызовом метода </a:t>
            </a:r>
            <a:r>
              <a:rPr lang="ru-RU" dirty="0" err="1"/>
              <a:t>Exit</a:t>
            </a:r>
            <a:r>
              <a:rPr lang="ru-RU" dirty="0"/>
              <a:t>(). Но поскольку </a:t>
            </a:r>
            <a:r>
              <a:rPr lang="ru-RU" dirty="0" err="1"/>
              <a:t>lock</a:t>
            </a:r>
            <a:r>
              <a:rPr lang="ru-RU" dirty="0"/>
              <a:t> — это встроенная инструкция языка С#, то для получения блокировки в С#-программировании предпочтительнее использовать именно 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239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Компилятор преобразует блок </a:t>
            </a:r>
            <a:r>
              <a:rPr lang="en-US" dirty="0"/>
              <a:t>lock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конструкцию </a:t>
            </a:r>
            <a:r>
              <a:rPr lang="en-US" dirty="0" err="1"/>
              <a:t>Monitor.Enter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/ </a:t>
            </a:r>
            <a:r>
              <a:rPr lang="en-US" dirty="0" err="1"/>
              <a:t>Monitor.Exit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 блоком </a:t>
            </a:r>
            <a:r>
              <a:rPr lang="en-US" dirty="0"/>
              <a:t>try-finally</a:t>
            </a:r>
            <a:endParaRPr lang="ru-RU" dirty="0"/>
          </a:p>
          <a:p>
            <a:endParaRPr lang="ru-RU" dirty="0"/>
          </a:p>
          <a:p>
            <a:pPr algn="l"/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Monitor.Enter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Пытается получить эксклюзивную блокировку на объекте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блокировка уже занята другим потоком, текущий поток блокируется до её освобождения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Отслеживает, какой поток захватил блокировку (для реентерабельности)</a:t>
            </a:r>
          </a:p>
          <a:p>
            <a:pPr algn="l"/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Monitor.Exit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Освобождает блокировку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есть ожидающие потоки, один из них получит блокировку (планировщик решает какой)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10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Создаются все потоки, но пока один поток не отдаст мьютекс у других потоков нет доступа к </a:t>
            </a:r>
            <a:r>
              <a:rPr lang="en-US" dirty="0"/>
              <a:t>x. </a:t>
            </a:r>
            <a:r>
              <a:rPr lang="ru-RU" dirty="0"/>
              <a:t>Т.е. пока функция  </a:t>
            </a:r>
            <a:r>
              <a:rPr lang="en-US" dirty="0"/>
              <a:t>Count </a:t>
            </a:r>
            <a:r>
              <a:rPr lang="ru-RU" dirty="0"/>
              <a:t>полностью не отработает и не освободит Мьютекс другие потоки не имеют к х доступа.</a:t>
            </a:r>
          </a:p>
          <a:p>
            <a:r>
              <a:rPr lang="ru-RU" dirty="0"/>
              <a:t>Мьютекс может использоваться в разных процессах (т.е. один мьютекс на разные приложения), т.к. это объект ОС.</a:t>
            </a:r>
            <a:endParaRPr lang="en-US" dirty="0"/>
          </a:p>
          <a:p>
            <a:r>
              <a:rPr lang="ru-RU" b="0" i="0" dirty="0" err="1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lock</a:t>
            </a: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 работает на порядки быстрее чем </a:t>
            </a:r>
            <a:r>
              <a:rPr lang="ru-RU" b="0" i="0" dirty="0" err="1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Mutex</a:t>
            </a: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, но к нему невозможно получить доступ из другого процесса, а вот к </a:t>
            </a:r>
            <a:r>
              <a:rPr lang="ru-RU" b="0" i="0" dirty="0" err="1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Mutex</a:t>
            </a: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 - можно.</a:t>
            </a:r>
            <a:endParaRPr lang="en-US" b="0" i="0" dirty="0">
              <a:solidFill>
                <a:srgbClr val="2A2E2E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Практическое применение мьютекса - определять запущен ли уже экземпляр приложения.</a:t>
            </a:r>
            <a:br>
              <a:rPr lang="ru-RU" dirty="0"/>
            </a:b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При запуске программы:</a:t>
            </a:r>
            <a:br>
              <a:rPr lang="ru-RU" dirty="0"/>
            </a:b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- создаете глобальный мьютекс (имя с префиксом "Global\")</a:t>
            </a:r>
            <a:br>
              <a:rPr lang="ru-RU" dirty="0"/>
            </a:b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- пытаетесь его захватить</a:t>
            </a:r>
            <a:br>
              <a:rPr lang="ru-RU" dirty="0"/>
            </a:b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- захватили? Следовательно другой экземпляр приложения этого еще не сделал и сейчас запущено только одно приложение</a:t>
            </a:r>
            <a:br>
              <a:rPr lang="ru-RU" dirty="0"/>
            </a:br>
            <a:r>
              <a:rPr lang="ru-RU" b="0" i="0" dirty="0">
                <a:solidFill>
                  <a:srgbClr val="2A2E2E"/>
                </a:solidFill>
                <a:effectLst/>
                <a:latin typeface="Roboto" panose="02000000000000000000" pitchFamily="2" charset="0"/>
              </a:rPr>
              <a:t>- перед выходом из приложения освободили мьютекс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615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Каждое ядро процессора имеет свои собственные кэши (L1, L2). Когда поток на ядре 1 изменяет переменную, новое значение может остаться в его кэше и не попасть в основную память немедленно. Поток на ядре 2, читая ту же переменную, может получить устаревшее значение из своего кэша.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Процессор может переупорядочить инструкции в конструкторе: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Выделить память под объект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Присвоить ссылку _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instance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(до вызова конструктора!)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Вызвать конструктор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9440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Когда вы помечаете поле как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вы говорите компилятору: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"Не кэшируй это значение в регистре — всегда читай из памяти"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"Не переставляй операции чтения и записи этого поля"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"Сделай так, чтобы другие потоки сразу видели изменения"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 — это простой способ сделать переменную "видимой" между потоками, но с ограниченной областью применения. Это как табличка "свежие данные" — она гарантирует, что вы видите последнее значение, но не защищает от гонок данных при сложных операция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50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нужен не для "обычного" запуска, а для гарантии правильной работы при оптимизациях!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Это как страховка: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Без страховки можно 100 раз пройти по канату и не упасть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Но на 101-й раз может случиться проблема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 страховкой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 вы защищены всегда</a:t>
            </a:r>
          </a:p>
          <a:p>
            <a:pPr algn="l"/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гарантирует корректное поведение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на всех платформах, при любых оптимизациях и при любой нагрузке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То, что проблема не проявляется сейчас, не значит, что она не проявится завтра на сервере под высокой нагрузкой.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56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Атомарность гарантирована на уровне процессора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Никакой другой поток не может вмешаться между чтением и записью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Производительность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Быстрее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lock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но медленнее обычного инкремента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Оптимален для простых счётчиков и статистики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6452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Е=0, то писать нельзя, Если </a:t>
            </a:r>
            <a:r>
              <a:rPr lang="en-US" dirty="0"/>
              <a:t>F=0</a:t>
            </a:r>
            <a:r>
              <a:rPr lang="ru-RU" dirty="0"/>
              <a:t>, то читать нельзя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208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Если создать семафор, одновременно разрешающий только один доступ, то такой семафор будет действовать как мьютекс.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07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WaitOne</a:t>
            </a:r>
            <a:r>
              <a:rPr lang="en-US" dirty="0"/>
              <a:t>()- </a:t>
            </a:r>
            <a:r>
              <a:rPr lang="ru-RU" dirty="0"/>
              <a:t>ждет свободное место в семафоре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9805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Lock </a:t>
            </a:r>
            <a:r>
              <a:rPr lang="ru-RU" dirty="0"/>
              <a:t>и </a:t>
            </a:r>
            <a:r>
              <a:rPr lang="en-US" dirty="0"/>
              <a:t>Monitor </a:t>
            </a:r>
            <a:r>
              <a:rPr lang="ru-RU" dirty="0"/>
              <a:t>одинаковые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816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Алгоритм работы: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Задача попадает в глобальную очередь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Свободный поток забирает задачу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свободных потоков нет — задача ждёт в очереди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задач много и все потоки заняты — пул может создать новые потоки (до максимума)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потоки простаивают — пул может их приостанавливать</a:t>
            </a:r>
          </a:p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Используйте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ThreadPool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для: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Коротких задач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(миллисекунды-секунды)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Множества независимых операций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Обработки запросов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(веб-серверы)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Фоновых задач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которые не должны влиять на производительность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Когда не важно, в каком именно потоке выполняется код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НЕ используйте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ThreadPool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для: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Долгих операций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(минуты и больше)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Задач, которые могут заблокироваться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(ожидание ввода пользователя)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Когда нужен контроль над потоком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(имя, приоритет)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Foreground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потоков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которые должны работать до завершения программы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3995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Удобно использовать для многоядерных процессоров,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которые позволяют параллельно выполнять сразу несколько процессов,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Thread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низкоуровневый объект, представляющий реальный поток операционной системы.</a:t>
            </a:r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Task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высокоуровневое представление асинхронной операции, которая может выполняться в потоке, а может и без потока (например, ожидание ввода-вывода).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3510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Первый способ создание объекта Task и вызов у него метода Start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Второй способ заключается в использовании статического метода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Task.Factory.StartNew</a:t>
            </a:r>
            <a:r>
              <a:rPr lang="ru-RU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Этот метод также в качестве параметра принимает делегат Action, который указывает, какое действие будет выполняться. При этом этот метод сразу же запускает задачу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качестве результата метод возвращает запущенную задачу.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Третий способ определения и запуска задач представляет использование статического метода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Task.Run</a:t>
            </a:r>
            <a:r>
              <a:rPr lang="ru-RU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().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 </a:t>
            </a:r>
            <a:r>
              <a:rPr lang="ru-RU" dirty="0" err="1"/>
              <a:t>Task.Run</a:t>
            </a:r>
            <a:r>
              <a:rPr lang="ru-RU" dirty="0"/>
              <a:t>()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также в качестве параметра может принимать делегат Action - выполняемое действие и возвращает объект Task.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8963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Статусы: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Canceled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отменена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Created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создана, но еще не запущена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Faulted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в процессе работы задачи произошло исключение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RanToCompletion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успешно завершена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Running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запущена, но еще не завершена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WaitingForActivation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ожидает активации и постановки в график выполнения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WaitingForChildrenToComplete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завершена и теперь ожидает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заврешения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прикрепленных к ней дочерних задач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WaitingToRun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задача поставлена в график выполнения, но еще не начала свое выполнение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7445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Завершается, когда завершается </a:t>
            </a:r>
            <a:r>
              <a:rPr lang="en-US" dirty="0"/>
              <a:t>Main()</a:t>
            </a:r>
          </a:p>
          <a:p>
            <a:endParaRPr lang="en-US" dirty="0"/>
          </a:p>
          <a:p>
            <a:r>
              <a:rPr lang="en-US" dirty="0"/>
              <a:t>task1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884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lectionThreadsTask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9928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 </a:t>
            </a:r>
            <a:r>
              <a:rPr lang="ru-RU" dirty="0" err="1"/>
              <a:t>Parallel.Invoke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в качестве параметра принимает массив объектов </a:t>
            </a:r>
            <a:r>
              <a:rPr lang="ru-RU" dirty="0"/>
              <a:t>Action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то есть мы можем передать в данный метод набор методов, которые будут вызываться при его выполнении. Количество методов может быть различным, можем передать либо название метода, либо лямбда-выражение.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3974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Parallel.For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позволяет выполнять итерации цикла параллельно. Он имеет следующее определение:</a:t>
            </a:r>
          </a:p>
          <a:p>
            <a:pPr algn="r" fontAlgn="base"/>
            <a:r>
              <a:rPr lang="ru-RU" b="0" i="0" dirty="0">
                <a:solidFill>
                  <a:srgbClr val="AFAFAF"/>
                </a:solidFill>
                <a:effectLst/>
                <a:latin typeface="Consolas" panose="020B0609020204030204" pitchFamily="49" charset="0"/>
              </a:rPr>
              <a:t>1</a:t>
            </a:r>
          </a:p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Action&lt;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</a:p>
          <a:p>
            <a:endParaRPr lang="en-US" dirty="0"/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Первый параметр метода задает начальный индекс элемента в цикле, а второй параметр - конечный индекс. Третий параметр - делегат Action - указывает на метод, который будет выполняться один раз за итерацию: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548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Parallel.ForEach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осуществляет итерацию по коллекции, реализующей интерфейс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IEnumerable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подобно циклу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foreach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только осуществляет параллельное выполнение перебора. Он имеет следующее определение:</a:t>
            </a:r>
            <a:endParaRPr lang="ru-RU" b="0" i="0" dirty="0">
              <a:solidFill>
                <a:srgbClr val="AFAFAF"/>
              </a:solidFill>
              <a:effectLst/>
              <a:latin typeface="Consolas" panose="020B0609020204030204" pitchFamily="49" charset="0"/>
            </a:endParaRPr>
          </a:p>
          <a:p>
            <a:pPr algn="l" fontAlgn="base"/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ParallelLoopResult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IEnumerable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source,Action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где первый параметр представляет перебираемую коллекцию, а второй параметр - делегат, выполняющийся один раз за итерацию для каждого перебираемого элемента коллекции.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выходе метод возвращает структуру 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ParallelLoopResult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которая содержит информацию о выполнении цикла.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2254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Особенно это актуально в графических (десктопных или мобильных) приложениях, где продолжительные операции могут блокировать интерфейс пользователя и негативно повлиять на желание пользователя работать с программой, или в веб-приложениях, которые должны быть готовы обслуживать тысячи запросов в секунду. В синхронном приложении при выполнении продолжительных операций в основном потоке этот поток просто бы блокировался на время выполнения операции. И чтобы продолжительные операции не блокировали общую работу приложения, в C# можно задействовать асинхронность.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6414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0605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негласным правилам в названии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асинхроннных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методов принято использовать суффикс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Async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 </a:t>
            </a:r>
            <a:r>
              <a:rPr lang="ru-RU" dirty="0" err="1"/>
              <a:t>Print</a:t>
            </a:r>
            <a:r>
              <a:rPr lang="ru-RU" b="1" dirty="0" err="1">
                <a:effectLst/>
              </a:rPr>
              <a:t>Async</a:t>
            </a:r>
            <a:r>
              <a:rPr lang="ru-RU" dirty="0"/>
              <a:t>()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хотя в принципе это необязательно делать.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Ключевыми для работы с асинхронными вызовами в C# являются два оператора: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async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и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цель которых - упростить написание асинхронного кода. Они используются вместе для создания асинхронного метода.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слово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async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которое указывается в определении метода, НЕ делает автоматически метод асинхронным. Оно лишь указывает, что данный метод может содержать одно или несколько выражений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endParaRPr lang="ru-RU" dirty="0"/>
          </a:p>
          <a:p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асинхронных методах для остановки метода на некоторое время можно применять метод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Task.Delay</a:t>
            </a:r>
            <a:r>
              <a:rPr lang="ru-RU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если мы в методе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Main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используем оператор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то 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Main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тоже должен быть определен как асинхронный.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57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971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данном случае задачи фактически запускаются при определении. А оператор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применяется лишь тогда, когда нам нужно дождаться завершения асинхронных операций - то есть в конце программы. И в этом случае общее выполнение программы займет не менее 3 секунд, но гораздо меньше 9 секунд.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8217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асинхронных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-методов следует избегать и следует использовать только там, где эти подобные методы представляют единственный возможный способ определения асинхронного метода. Прежде всего, мы не можем применить к подобным методам оператор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Также потому что исключения в таких методах сложно обрабатывать, так как они не могут быть перехвачены вне метода. Кроме того, подобные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-методы сложно тестировать.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PrintAsync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не использует оператор </a:t>
            </a:r>
            <a:r>
              <a:rPr lang="ru-RU" dirty="0" err="1"/>
              <a:t>return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для возвращения результата. Однако если в асинхронном методе выполняется в выражении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await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асинхронная операция, то мы можем возвращать из метода объект Task.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4328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 может возвращать некоторое значение. Тогда возвращаемое значение оборачивается в объект Task, а возвращаемым типом является </a:t>
            </a:r>
            <a:r>
              <a:rPr lang="ru-RU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Task&lt;T&gt;</a:t>
            </a:r>
            <a:endParaRPr lang="ru-RU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получение непосредственных результатов асинхронной задачи можно отложить до того момента, когда они непосредственно нужны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Использование типа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&lt;T&gt; во многом аналогично применению Task&lt;T&gt; за исключением некоторых различий в работе с памятью, поскольку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- структура. Соответственно при использовании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можно избежать дополнительных выделений памяти. Поэтому MS рекомендует предпочитать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102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Использование типа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&lt;T&gt; во многом аналогично применению Task&lt;T&gt; за исключением некоторых различий в работе с памятью, поскольку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- структура. Соответственно при использовании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можно избежать дополнительных выделений памяти. Поэтому MS рекомендует предпочитать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ValueTask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а не Task.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2097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Вычисление суммы строки с номером </a:t>
            </a:r>
            <a:r>
              <a:rPr lang="en-US" dirty="0"/>
              <a:t>number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5556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Переменная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сохраняется в отдельном потоке, т.к. 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ru-RU" dirty="0"/>
              <a:t>меняется в цикле, а лямбда-функция ссылается на эту переменную и ко времени выполнения функции в ней может оказаться неправильное значение, т.к. оно изменится после запуска функции, но до ее фактического выполнения</a:t>
            </a:r>
          </a:p>
          <a:p>
            <a:endParaRPr lang="ru-RU" dirty="0"/>
          </a:p>
          <a:p>
            <a:r>
              <a:rPr lang="ru-RU" b="0" i="0" dirty="0">
                <a:effectLst/>
                <a:latin typeface="SB Sans Text"/>
              </a:rPr>
              <a:t>Символ _ в конструкции </a:t>
            </a:r>
            <a:r>
              <a:rPr lang="ru-RU" b="0" i="0" dirty="0" err="1">
                <a:effectLst/>
                <a:latin typeface="SB Sans Text"/>
              </a:rPr>
              <a:t>foreach</a:t>
            </a:r>
            <a:r>
              <a:rPr lang="ru-RU" b="0" i="0" dirty="0">
                <a:effectLst/>
                <a:latin typeface="SB Sans Text"/>
              </a:rPr>
              <a:t> ((</a:t>
            </a:r>
            <a:r>
              <a:rPr lang="ru-RU" b="0" i="0" dirty="0" err="1">
                <a:effectLst/>
                <a:latin typeface="SB Sans Text"/>
              </a:rPr>
              <a:t>Thread</a:t>
            </a:r>
            <a:r>
              <a:rPr lang="ru-RU" b="0" i="0" dirty="0">
                <a:effectLst/>
                <a:latin typeface="SB Sans Text"/>
              </a:rPr>
              <a:t> </a:t>
            </a:r>
            <a:r>
              <a:rPr lang="ru-RU" b="0" i="0" dirty="0" err="1">
                <a:effectLst/>
                <a:latin typeface="SB Sans Text"/>
              </a:rPr>
              <a:t>thread</a:t>
            </a:r>
            <a:r>
              <a:rPr lang="ru-RU" b="0" i="0" dirty="0">
                <a:effectLst/>
                <a:latin typeface="SB Sans Text"/>
              </a:rPr>
              <a:t>, _) </a:t>
            </a:r>
            <a:r>
              <a:rPr lang="ru-RU" b="0" i="0" dirty="0" err="1">
                <a:effectLst/>
                <a:latin typeface="SB Sans Text"/>
              </a:rPr>
              <a:t>in</a:t>
            </a:r>
            <a:r>
              <a:rPr lang="ru-RU" b="0" i="0" dirty="0">
                <a:effectLst/>
                <a:latin typeface="SB Sans Text"/>
              </a:rPr>
              <a:t> </a:t>
            </a:r>
            <a:r>
              <a:rPr lang="ru-RU" b="0" i="0" dirty="0" err="1">
                <a:effectLst/>
                <a:latin typeface="SB Sans Text"/>
              </a:rPr>
              <a:t>threadsAndResults</a:t>
            </a:r>
            <a:r>
              <a:rPr lang="ru-RU" b="0" i="0" dirty="0">
                <a:effectLst/>
                <a:latin typeface="SB Sans Text"/>
              </a:rPr>
              <a:t>) называется </a:t>
            </a:r>
            <a:r>
              <a:rPr lang="ru-RU" b="1" i="0" dirty="0" err="1">
                <a:effectLst/>
                <a:latin typeface="SB Sans Text"/>
              </a:rPr>
              <a:t>дискард</a:t>
            </a:r>
            <a:r>
              <a:rPr lang="ru-RU" b="1" i="0" dirty="0">
                <a:effectLst/>
                <a:latin typeface="SB Sans Text"/>
              </a:rPr>
              <a:t>-символом</a:t>
            </a:r>
            <a:r>
              <a:rPr lang="ru-RU" b="0" i="0" dirty="0">
                <a:effectLst/>
                <a:latin typeface="SB Sans Text"/>
              </a:rPr>
              <a:t>. Он используется для обозначения переменной, значение которой игнорируется или не используется в дальнейшем коде.</a:t>
            </a:r>
          </a:p>
          <a:p>
            <a:pPr fontAlgn="base"/>
            <a:r>
              <a:rPr lang="ru-RU" dirty="0">
                <a:effectLst/>
              </a:rPr>
              <a:t>В данном конкретном случае, конструкция разбивает кортеж (</a:t>
            </a:r>
            <a:r>
              <a:rPr lang="ru-RU" dirty="0" err="1">
                <a:effectLst/>
              </a:rPr>
              <a:t>Thread</a:t>
            </a:r>
            <a:r>
              <a:rPr lang="ru-RU" dirty="0">
                <a:effectLst/>
              </a:rPr>
              <a:t>, </a:t>
            </a:r>
            <a:r>
              <a:rPr lang="ru-RU" dirty="0" err="1">
                <a:effectLst/>
              </a:rPr>
              <a:t>int</a:t>
            </a:r>
            <a:r>
              <a:rPr lang="ru-RU" dirty="0">
                <a:effectLst/>
              </a:rPr>
              <a:t>) на две части: первая часть — это объект </a:t>
            </a:r>
            <a:r>
              <a:rPr lang="ru-RU" dirty="0" err="1">
                <a:effectLst/>
              </a:rPr>
              <a:t>Thread</a:t>
            </a:r>
            <a:r>
              <a:rPr lang="ru-RU" dirty="0">
                <a:effectLst/>
              </a:rPr>
              <a:t>, который представляет собой поток, а вторая часть — это целое число </a:t>
            </a:r>
            <a:r>
              <a:rPr lang="ru-RU" dirty="0" err="1">
                <a:effectLst/>
              </a:rPr>
              <a:t>int</a:t>
            </a:r>
            <a:r>
              <a:rPr lang="ru-RU" dirty="0">
                <a:effectLst/>
              </a:rPr>
              <a:t>, представляющее результат вычислений потока. Так как нас интересует только объект </a:t>
            </a:r>
            <a:r>
              <a:rPr lang="ru-RU" dirty="0" err="1">
                <a:effectLst/>
              </a:rPr>
              <a:t>Thread</a:t>
            </a:r>
            <a:r>
              <a:rPr lang="ru-RU" dirty="0">
                <a:effectLst/>
              </a:rPr>
              <a:t> для вызова метода </a:t>
            </a:r>
            <a:r>
              <a:rPr lang="ru-RU" dirty="0" err="1">
                <a:effectLst/>
              </a:rPr>
              <a:t>Join</a:t>
            </a:r>
            <a:r>
              <a:rPr lang="ru-RU" dirty="0">
                <a:effectLst/>
              </a:rPr>
              <a:t>(), мы обозначили вторую часть кортежа символом _, чтобы показать, что она нам не нужна и мы не будем её использовать в дальнейшем.</a:t>
            </a:r>
          </a:p>
          <a:p>
            <a:pPr fontAlgn="base"/>
            <a:r>
              <a:rPr lang="ru-RU" dirty="0">
                <a:effectLst/>
              </a:rPr>
              <a:t>Использование </a:t>
            </a:r>
            <a:r>
              <a:rPr lang="ru-RU" dirty="0" err="1">
                <a:effectLst/>
              </a:rPr>
              <a:t>дискард</a:t>
            </a:r>
            <a:r>
              <a:rPr lang="ru-RU" dirty="0">
                <a:effectLst/>
              </a:rPr>
              <a:t>-символа _ улучшает читаемость кода, показывая, что значение конкретной переменной намеренно игнорируется.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4114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та же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270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Переменная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сохраняется в отдельном потоке, т.к. 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ru-RU" dirty="0"/>
              <a:t>меняется в цикле, а лямбда-функция ссылается на эту переменную и ко времени выполнения функции в ней может оказаться неправильное значение, т.к. оно изменится после запуска функции, но до ее фактического выполнения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C03FE-0D64-4D88-AB06-29D2254AE0B4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30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Многопоточное программирование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Тема 18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Многопоточная программа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Многопоточная программа состоит из двух или больше частей, которые могут выполняться одновременно. </a:t>
            </a:r>
          </a:p>
          <a:p>
            <a:r>
              <a:rPr lang="ru-RU" dirty="0"/>
              <a:t>Каждая часть такой программы называется </a:t>
            </a:r>
            <a:r>
              <a:rPr lang="ru-RU" b="1" dirty="0"/>
              <a:t>потоком </a:t>
            </a:r>
            <a:r>
              <a:rPr lang="ru-RU" dirty="0"/>
              <a:t>(</a:t>
            </a:r>
            <a:r>
              <a:rPr lang="ru-RU" dirty="0" err="1"/>
              <a:t>thread</a:t>
            </a:r>
            <a:r>
              <a:rPr lang="ru-RU" dirty="0"/>
              <a:t>), и каждый поток определяет собственный путь выполнения инструкций. При выполнении программы каждому потоку процессор выделяет определенный квант времени.</a:t>
            </a:r>
          </a:p>
          <a:p>
            <a:r>
              <a:rPr lang="ru-RU" dirty="0"/>
              <a:t>Различают два вида многозадачности:</a:t>
            </a:r>
          </a:p>
          <a:p>
            <a:pPr lvl="1"/>
            <a:r>
              <a:rPr lang="ru-RU" dirty="0"/>
              <a:t>с ориентацией на процессы,</a:t>
            </a:r>
          </a:p>
          <a:p>
            <a:pPr lvl="1"/>
            <a:r>
              <a:rPr lang="ru-RU" dirty="0"/>
              <a:t> с ориентацией на потоки.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Процесс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Процесс</a:t>
            </a:r>
            <a:r>
              <a:rPr lang="ru-RU" dirty="0"/>
              <a:t> – это программа, т.е. многозадачность, ориентированная на процессы, — это средство, позволяющее компьютеру выполнять две или больше программ одновременно.</a:t>
            </a:r>
            <a:endParaRPr lang="en-US" dirty="0"/>
          </a:p>
          <a:p>
            <a:r>
              <a:rPr lang="ru-RU" b="1" dirty="0"/>
              <a:t>Поток</a:t>
            </a:r>
            <a:r>
              <a:rPr lang="ru-RU" i="1" dirty="0"/>
              <a:t> </a:t>
            </a:r>
            <a:r>
              <a:rPr lang="ru-RU" dirty="0"/>
              <a:t>— это управляемая единица выполняемого кода (функция).</a:t>
            </a:r>
          </a:p>
          <a:p>
            <a:r>
              <a:rPr lang="ru-RU" dirty="0"/>
              <a:t>Все процессы имеют по крайней мере один поток (</a:t>
            </a:r>
            <a:r>
              <a:rPr lang="ru-RU" dirty="0" err="1"/>
              <a:t>м.б</a:t>
            </a:r>
            <a:r>
              <a:rPr lang="ru-RU" dirty="0"/>
              <a:t>. больше). </a:t>
            </a:r>
          </a:p>
          <a:p>
            <a:r>
              <a:rPr lang="ru-RU" dirty="0"/>
              <a:t>Т.е. одна программа может выполнять сразу две и более задач.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C06E0-4ED7-4E65-8F24-16F0CE3C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и процессы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F7F3F6C-0043-4967-BBF8-91949B2A14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226469"/>
          <a:ext cx="7886698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744">
                  <a:extLst>
                    <a:ext uri="{9D8B030D-6E8A-4147-A177-3AD203B41FA5}">
                      <a16:colId xmlns:a16="http://schemas.microsoft.com/office/drawing/2014/main" val="3256660066"/>
                    </a:ext>
                  </a:extLst>
                </a:gridCol>
                <a:gridCol w="2701212">
                  <a:extLst>
                    <a:ext uri="{9D8B030D-6E8A-4147-A177-3AD203B41FA5}">
                      <a16:colId xmlns:a16="http://schemas.microsoft.com/office/drawing/2014/main" val="1249661920"/>
                    </a:ext>
                  </a:extLst>
                </a:gridCol>
                <a:gridCol w="3735742">
                  <a:extLst>
                    <a:ext uri="{9D8B030D-6E8A-4147-A177-3AD203B41FA5}">
                      <a16:colId xmlns:a16="http://schemas.microsoft.com/office/drawing/2014/main" val="364779106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Процессы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Потоки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696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400" b="1" dirty="0"/>
                        <a:t>Ресурсы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 независимы и имеют собственное адресное пространство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Потоки одного процесса разделяют память и ресурсы.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724944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Изоляция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изолированы друг от друга, сбой в одном процессе не влияет на другие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Ошибка в потоке может привести к сбою всего процесса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514983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и переключение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процесса требует больше накладных расходов (копирование/создание адресного пространства)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Переключение между потоками внутри процесса происходит быстрее, чем между процессами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826569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Взаимодействие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обмена данными между процессами нужны специальные механизмы (каналы, сокеты, разделяемая память)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Потоки могут общаться напрямую через общие переменные (но требуют синхронизации).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8936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833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18A13-53F3-4AB2-91D4-9DB1EBC6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Выполнение однопоточной программы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FF423DD-4981-4D5F-9FB4-8806BCA11D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417638"/>
            <a:ext cx="2091254" cy="452596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2B7DC5-0C23-4D4B-A418-4AC49FEB3B6A}"/>
              </a:ext>
            </a:extLst>
          </p:cNvPr>
          <p:cNvSpPr txBox="1"/>
          <p:nvPr/>
        </p:nvSpPr>
        <p:spPr>
          <a:xfrm>
            <a:off x="2267744" y="5943601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Действия выполняются последовательно</a:t>
            </a:r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4EE52B94-D421-4E2B-B387-636A78CDF9D0}"/>
              </a:ext>
            </a:extLst>
          </p:cNvPr>
          <p:cNvSpPr/>
          <p:nvPr/>
        </p:nvSpPr>
        <p:spPr>
          <a:xfrm>
            <a:off x="2548454" y="1533089"/>
            <a:ext cx="2239570" cy="499346"/>
          </a:xfrm>
          <a:prstGeom prst="wedgeRectCallout">
            <a:avLst>
              <a:gd name="adj1" fmla="val -67518"/>
              <a:gd name="adj2" fmla="val 8006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>
                <a:solidFill>
                  <a:srgbClr val="0F1115"/>
                </a:solidFill>
                <a:effectLst/>
                <a:latin typeface="quote-cjk-patch"/>
              </a:rPr>
              <a:t>I/O-bound</a:t>
            </a:r>
            <a:endParaRPr lang="ru-RU"/>
          </a:p>
        </p:txBody>
      </p:sp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81A54F56-AC67-40C7-9634-DEE573D2E242}"/>
              </a:ext>
            </a:extLst>
          </p:cNvPr>
          <p:cNvSpPr/>
          <p:nvPr/>
        </p:nvSpPr>
        <p:spPr>
          <a:xfrm>
            <a:off x="1043608" y="6097031"/>
            <a:ext cx="2239570" cy="499346"/>
          </a:xfrm>
          <a:prstGeom prst="wedgeRectCallout">
            <a:avLst>
              <a:gd name="adj1" fmla="val 4632"/>
              <a:gd name="adj2" fmla="val -2385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>
                <a:solidFill>
                  <a:srgbClr val="0F1115"/>
                </a:solidFill>
                <a:effectLst/>
                <a:latin typeface="quote-cjk-patch"/>
              </a:rPr>
              <a:t>I/O-bound</a:t>
            </a:r>
            <a:endParaRPr lang="ru-RU"/>
          </a:p>
        </p:txBody>
      </p:sp>
      <p:sp>
        <p:nvSpPr>
          <p:cNvPr id="13" name="Облачко с текстом: прямоугольное 12">
            <a:extLst>
              <a:ext uri="{FF2B5EF4-FFF2-40B4-BE49-F238E27FC236}">
                <a16:creationId xmlns:a16="http://schemas.microsoft.com/office/drawing/2014/main" id="{A34383A5-7CA1-4C00-A15D-0029744CFB5B}"/>
              </a:ext>
            </a:extLst>
          </p:cNvPr>
          <p:cNvSpPr/>
          <p:nvPr/>
        </p:nvSpPr>
        <p:spPr>
          <a:xfrm>
            <a:off x="2258272" y="3843043"/>
            <a:ext cx="2239570" cy="499346"/>
          </a:xfrm>
          <a:prstGeom prst="wedgeRectCallout">
            <a:avLst>
              <a:gd name="adj1" fmla="val -70315"/>
              <a:gd name="adj2" fmla="val -3031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F1115"/>
                </a:solidFill>
                <a:latin typeface="quote-cjk-patch"/>
              </a:rPr>
              <a:t>C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PU-bound</a:t>
            </a:r>
            <a:endParaRPr lang="ru-RU" dirty="0"/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6AA90CE4-44A6-4634-85A9-5687F441C1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787306" y="2154137"/>
            <a:ext cx="5728035" cy="1274863"/>
          </a:xfr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90CB869-AC10-4F03-8E14-1DF7E5B99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2897" y="4439153"/>
            <a:ext cx="575390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5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6FEF5-61E6-4419-BFED-8E52A601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Конкуренция и параллелизм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CDF44-6CEC-4274-AFE2-89D75CEC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Конкуренция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- это 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способность системы обрабатывать несколько задач «одновременно»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 точки зрения логики, даже если физически они выполняются по очереди. Достигается за счёт переключения контекста: задачи сменяют друг друга, но создаётся иллюзия параллельной работы.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/>
              <a:t>Параллелизм</a:t>
            </a:r>
            <a:r>
              <a:rPr lang="ru-RU" dirty="0"/>
              <a:t>  - э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то 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физическое одновременное выполнение нескольких задач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разных ядрах процессора (или разных процессорах). Требует наличия многопроцессорной/ многоядерной системы.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Параллелизм — это частный случай конкуренции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но не наоборот. Если система параллельна, она всегда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конкурентна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потому что одновременно решает несколько задач.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662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Классы, которые поддерживают многопоточное программирование, определены в пространстве имен </a:t>
            </a:r>
            <a:r>
              <a:rPr lang="ru-RU" dirty="0" err="1"/>
              <a:t>System.Threading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dirty="0" err="1"/>
              <a:t>Thread</a:t>
            </a:r>
            <a:r>
              <a:rPr lang="ru-RU" dirty="0"/>
              <a:t> является </a:t>
            </a:r>
            <a:r>
              <a:rPr lang="ru-RU" b="1" dirty="0"/>
              <a:t>sealed</a:t>
            </a:r>
            <a:r>
              <a:rPr lang="ru-RU" dirty="0"/>
              <a:t>-классом, т.е. он не может иметь наследников. </a:t>
            </a:r>
          </a:p>
          <a:p>
            <a:r>
              <a:rPr lang="ru-RU" dirty="0"/>
              <a:t>В классе </a:t>
            </a:r>
            <a:r>
              <a:rPr lang="ru-RU" dirty="0" err="1"/>
              <a:t>Thread</a:t>
            </a:r>
            <a:r>
              <a:rPr lang="ru-RU" dirty="0"/>
              <a:t> определен ряд методов и свойств для управления потоками.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5829E-7550-4169-A3E5-079702AF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свойства класса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9F8DC-C505-44E9-A734-3C86F279F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IsAlive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-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указывает, работает ли поток в текущий момент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IsBackground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- 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указывает, является ли поток фоновым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Name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-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содержит имя потока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ManagedThreadId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-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возвращает числовой идентификатор текущего потока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353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5829E-7550-4169-A3E5-079702AF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свойства класса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9F8DC-C505-44E9-A734-3C86F279F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Priority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хранит приоритет потока - значение перечисления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-apple-system"/>
              </a:rPr>
              <a:t>ThreadPriority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-apple-system"/>
              </a:rPr>
              <a:t>Lowest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rgbClr val="000000"/>
                </a:solidFill>
                <a:effectLst/>
                <a:latin typeface="-apple-system"/>
              </a:rPr>
              <a:t>BelowNormal</a:t>
            </a:r>
            <a:endParaRPr lang="en-US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-apple-system"/>
              </a:rPr>
              <a:t>Normal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rgbClr val="000000"/>
                </a:solidFill>
                <a:effectLst/>
                <a:latin typeface="-apple-system"/>
              </a:rPr>
              <a:t>AboveNormal</a:t>
            </a:r>
            <a:endParaRPr lang="en-US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-apple-system"/>
              </a:rPr>
              <a:t>Highest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50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5829E-7550-4169-A3E5-079702AF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свойства класса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9F8DC-C505-44E9-A734-3C86F279F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ThreadState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возвращает состояние потока - одно из значений перечисления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ThreadState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Aborted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остановлен, но пока еще окончательно не завершен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AbortRequested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для потока вызван 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Abort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, но остановка потока еще не произошла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Background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выполняется в фоновом режиме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Running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запущен и работает (не приостановлен)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Stopped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завершен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StopRequested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получил запрос на остановку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Suspended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приостановлен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SuspendRequested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получил запрос на приостановку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Unstarted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еще не был запущен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00000"/>
                </a:solidFill>
                <a:effectLst/>
                <a:latin typeface="-apple-system"/>
              </a:rPr>
              <a:t>WaitSleepJoin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: поток заблокирован в результате действия методов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Sleep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или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Join</a:t>
            </a:r>
            <a:endParaRPr lang="ru-RU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699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Состояние потока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AECE353-72FB-4D48-8B20-8ABC0258C5DF}"/>
              </a:ext>
            </a:extLst>
          </p:cNvPr>
          <p:cNvGrpSpPr/>
          <p:nvPr/>
        </p:nvGrpSpPr>
        <p:grpSpPr>
          <a:xfrm>
            <a:off x="207800" y="2420888"/>
            <a:ext cx="8723308" cy="4174723"/>
            <a:chOff x="3802082" y="2276872"/>
            <a:chExt cx="5784931" cy="4174723"/>
          </a:xfrm>
        </p:grpSpPr>
        <p:sp>
          <p:nvSpPr>
            <p:cNvPr id="6" name="Овал 5"/>
            <p:cNvSpPr/>
            <p:nvPr/>
          </p:nvSpPr>
          <p:spPr>
            <a:xfrm>
              <a:off x="5508104" y="2276872"/>
              <a:ext cx="2088232" cy="864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Выполнение</a:t>
              </a:r>
              <a:r>
                <a:rPr lang="en-US" dirty="0"/>
                <a:t> (Running)</a:t>
              </a:r>
              <a:endParaRPr lang="ru-RU" dirty="0"/>
            </a:p>
          </p:txBody>
        </p:sp>
        <p:sp>
          <p:nvSpPr>
            <p:cNvPr id="7" name="Овал 6"/>
            <p:cNvSpPr/>
            <p:nvPr/>
          </p:nvSpPr>
          <p:spPr>
            <a:xfrm>
              <a:off x="5120397" y="4581128"/>
              <a:ext cx="1683850" cy="864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Готовность (</a:t>
              </a:r>
              <a:r>
                <a:rPr lang="en-US" dirty="0" err="1"/>
                <a:t>Unstarted</a:t>
              </a:r>
              <a:r>
                <a:rPr lang="en-US" dirty="0"/>
                <a:t>)</a:t>
              </a:r>
              <a:endParaRPr lang="ru-RU" dirty="0"/>
            </a:p>
          </p:txBody>
        </p:sp>
        <p:sp>
          <p:nvSpPr>
            <p:cNvPr id="8" name="Овал 7"/>
            <p:cNvSpPr/>
            <p:nvPr/>
          </p:nvSpPr>
          <p:spPr>
            <a:xfrm>
              <a:off x="6480212" y="3717032"/>
              <a:ext cx="2484276" cy="864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Ожидание</a:t>
              </a:r>
              <a:r>
                <a:rPr lang="en-US" dirty="0"/>
                <a:t> (</a:t>
              </a:r>
              <a:r>
                <a:rPr lang="en-US" dirty="0" err="1"/>
                <a:t>WaitSleepJoin</a:t>
              </a:r>
              <a:r>
                <a:rPr lang="en-US" dirty="0"/>
                <a:t>)</a:t>
              </a:r>
              <a:endParaRPr lang="ru-RU" dirty="0"/>
            </a:p>
          </p:txBody>
        </p:sp>
        <p:cxnSp>
          <p:nvCxnSpPr>
            <p:cNvPr id="9" name="Прямая со стрелкой 8"/>
            <p:cNvCxnSpPr>
              <a:cxnSpLocks/>
              <a:endCxn id="7" idx="4"/>
            </p:cNvCxnSpPr>
            <p:nvPr/>
          </p:nvCxnSpPr>
          <p:spPr>
            <a:xfrm flipV="1">
              <a:off x="5561892" y="5445224"/>
              <a:ext cx="400430" cy="43204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>
              <a:cxnSpLocks/>
              <a:stCxn id="7" idx="0"/>
            </p:cNvCxnSpPr>
            <p:nvPr/>
          </p:nvCxnSpPr>
          <p:spPr>
            <a:xfrm flipH="1" flipV="1">
              <a:off x="5885926" y="2996952"/>
              <a:ext cx="76396" cy="158417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>
              <a:cxnSpLocks/>
            </p:cNvCxnSpPr>
            <p:nvPr/>
          </p:nvCxnSpPr>
          <p:spPr>
            <a:xfrm flipH="1">
              <a:off x="4788024" y="2825668"/>
              <a:ext cx="900102" cy="66976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>
              <a:cxnSpLocks/>
              <a:stCxn id="6" idx="6"/>
              <a:endCxn id="8" idx="7"/>
            </p:cNvCxnSpPr>
            <p:nvPr/>
          </p:nvCxnSpPr>
          <p:spPr>
            <a:xfrm>
              <a:off x="7596336" y="2708920"/>
              <a:ext cx="1004338" cy="113465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/>
            <p:cNvCxnSpPr>
              <a:cxnSpLocks/>
              <a:endCxn id="7" idx="6"/>
            </p:cNvCxnSpPr>
            <p:nvPr/>
          </p:nvCxnSpPr>
          <p:spPr>
            <a:xfrm flipH="1">
              <a:off x="6804247" y="4509120"/>
              <a:ext cx="1152129" cy="50405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52285" y="5805264"/>
              <a:ext cx="2160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Только что созданный поток</a:t>
              </a:r>
              <a:r>
                <a:rPr lang="en-US" dirty="0"/>
                <a:t> Start()</a:t>
              </a:r>
              <a:endParaRPr lang="ru-RU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14334" y="4581128"/>
              <a:ext cx="19726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Поток ожидает завершение события</a:t>
              </a:r>
              <a:r>
                <a:rPr lang="en-US" dirty="0"/>
                <a:t>: </a:t>
              </a:r>
              <a:r>
                <a:rPr lang="ru-RU" dirty="0" err="1"/>
                <a:t>Thread.Sleep</a:t>
              </a:r>
              <a:r>
                <a:rPr lang="ru-RU" dirty="0"/>
                <a:t>()</a:t>
              </a:r>
              <a:r>
                <a:rPr lang="en-US" dirty="0"/>
                <a:t>/</a:t>
              </a:r>
              <a:br>
                <a:rPr lang="en-US" dirty="0"/>
              </a:br>
              <a:r>
                <a:rPr lang="en-US" dirty="0" err="1"/>
                <a:t>Monitor.Wait</a:t>
              </a:r>
              <a:r>
                <a:rPr lang="en-US" dirty="0"/>
                <a:t>() /</a:t>
              </a:r>
              <a:r>
                <a:rPr lang="en-US" dirty="0" err="1"/>
                <a:t>Thread.Join</a:t>
              </a:r>
              <a:r>
                <a:rPr lang="en-US" dirty="0"/>
                <a:t>() </a:t>
              </a:r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345FAE-F32C-4A8B-A067-C34D59F04408}"/>
                </a:ext>
              </a:extLst>
            </p:cNvPr>
            <p:cNvSpPr txBox="1"/>
            <p:nvPr/>
          </p:nvSpPr>
          <p:spPr>
            <a:xfrm>
              <a:off x="3802082" y="4396462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поток выполнился до конца</a:t>
              </a:r>
            </a:p>
          </p:txBody>
        </p:sp>
      </p:grpSp>
      <p:sp>
        <p:nvSpPr>
          <p:cNvPr id="22" name="Облачко с текстом: прямоугольное 21">
            <a:extLst>
              <a:ext uri="{FF2B5EF4-FFF2-40B4-BE49-F238E27FC236}">
                <a16:creationId xmlns:a16="http://schemas.microsoft.com/office/drawing/2014/main" id="{BAFBDC1E-B133-4DEB-AC43-48A3453C71ED}"/>
              </a:ext>
            </a:extLst>
          </p:cNvPr>
          <p:cNvSpPr/>
          <p:nvPr/>
        </p:nvSpPr>
        <p:spPr>
          <a:xfrm>
            <a:off x="137374" y="1484383"/>
            <a:ext cx="2304256" cy="1296144"/>
          </a:xfrm>
          <a:prstGeom prst="wedgeRectCallout">
            <a:avLst>
              <a:gd name="adj1" fmla="val 77765"/>
              <a:gd name="adj2" fmla="val 11130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Планировщик выбрал поток для выполнения</a:t>
            </a:r>
          </a:p>
        </p:txBody>
      </p:sp>
      <p:sp>
        <p:nvSpPr>
          <p:cNvPr id="23" name="Облачко с текстом: прямоугольное 22">
            <a:extLst>
              <a:ext uri="{FF2B5EF4-FFF2-40B4-BE49-F238E27FC236}">
                <a16:creationId xmlns:a16="http://schemas.microsoft.com/office/drawing/2014/main" id="{44B3F475-A224-4BD5-A5DD-52BC05315016}"/>
              </a:ext>
            </a:extLst>
          </p:cNvPr>
          <p:cNvSpPr/>
          <p:nvPr/>
        </p:nvSpPr>
        <p:spPr>
          <a:xfrm>
            <a:off x="6960836" y="1497365"/>
            <a:ext cx="2304256" cy="1719242"/>
          </a:xfrm>
          <a:prstGeom prst="wedgeRectCallout">
            <a:avLst>
              <a:gd name="adj1" fmla="val -19540"/>
              <a:gd name="adj2" fmla="val 945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 </a:t>
            </a:r>
            <a:r>
              <a:rPr lang="ru-RU" dirty="0" err="1"/>
              <a:t>Thread.Sleep</a:t>
            </a:r>
            <a:r>
              <a:rPr lang="ru-RU" dirty="0"/>
              <a:t>() </a:t>
            </a:r>
            <a:r>
              <a:rPr lang="ru-RU" dirty="0" err="1"/>
              <a:t>преводит</a:t>
            </a:r>
            <a:r>
              <a:rPr lang="ru-RU" dirty="0"/>
              <a:t> поток можно перевести в состояние </a:t>
            </a:r>
            <a:r>
              <a:rPr lang="ru-RU" b="1" dirty="0" err="1"/>
              <a:t>WaitSleepJoin</a:t>
            </a:r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3AFD89E-D53E-4691-BF32-93FBE79EF7F5}"/>
              </a:ext>
            </a:extLst>
          </p:cNvPr>
          <p:cNvSpPr/>
          <p:nvPr/>
        </p:nvSpPr>
        <p:spPr>
          <a:xfrm>
            <a:off x="338120" y="3753536"/>
            <a:ext cx="2304256" cy="753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Завершение</a:t>
            </a:r>
            <a:br>
              <a:rPr lang="ru-RU" dirty="0"/>
            </a:br>
            <a:r>
              <a:rPr lang="en-US" dirty="0"/>
              <a:t>(Stopped)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главного потока и получение информации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9243A80E-C6E7-4DE1-8A0B-55C515156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12" y="1628800"/>
            <a:ext cx="8229600" cy="3240614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EFC5A0-F4D3-48D3-9899-7115513B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163" y="4725144"/>
            <a:ext cx="3208298" cy="2004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779D0-C6D4-4A42-B395-2CED50B3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второго потока в функции </a:t>
            </a:r>
            <a:r>
              <a:rPr lang="en-US" b="1" dirty="0"/>
              <a:t>main</a:t>
            </a:r>
            <a:r>
              <a:rPr lang="ru-RU" b="1" dirty="0"/>
              <a:t>()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7FA6F-8384-48B6-AE43-9E9DC84D4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Thread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ThreadStart</a:t>
            </a:r>
            <a:r>
              <a:rPr lang="en-US" dirty="0"/>
              <a:t>) – </a:t>
            </a:r>
            <a:r>
              <a:rPr lang="ru-RU" dirty="0"/>
              <a:t>параметром является объект делегата </a:t>
            </a:r>
            <a:r>
              <a:rPr lang="en-US" dirty="0" err="1"/>
              <a:t>ThreadStart</a:t>
            </a:r>
            <a:r>
              <a:rPr lang="ru-RU" dirty="0"/>
              <a:t>, с помощью объекта делегата передается метод, который должен быть запущен в отдельном потоке.</a:t>
            </a:r>
          </a:p>
          <a:p>
            <a:r>
              <a:rPr lang="ru-RU" dirty="0"/>
              <a:t> </a:t>
            </a:r>
            <a:r>
              <a:rPr lang="en-US" dirty="0"/>
              <a:t>Thread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ParametrizedThreadStart</a:t>
            </a:r>
            <a:r>
              <a:rPr lang="en-US" dirty="0"/>
              <a:t>) – </a:t>
            </a:r>
            <a:r>
              <a:rPr lang="ru-RU" dirty="0"/>
              <a:t>параметром является объект делегата </a:t>
            </a:r>
            <a:r>
              <a:rPr lang="en-US" dirty="0" err="1"/>
              <a:t>ParametrizedThreadStart</a:t>
            </a:r>
            <a:r>
              <a:rPr lang="ru-RU" dirty="0"/>
              <a:t>, с помощью объекта делегата передается метод, который должен быть запущен в отдельном потоке</a:t>
            </a:r>
            <a:r>
              <a:rPr lang="en-US" dirty="0"/>
              <a:t>, </a:t>
            </a:r>
            <a:r>
              <a:rPr lang="ru-RU" dirty="0"/>
              <a:t>метод имеет параметр.</a:t>
            </a:r>
          </a:p>
        </p:txBody>
      </p:sp>
    </p:spTree>
    <p:extLst>
      <p:ext uri="{BB962C8B-B14F-4D97-AF65-F5344CB8AC3E}">
        <p14:creationId xmlns:p14="http://schemas.microsoft.com/office/powerpoint/2010/main" val="1178343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второго потока в функции </a:t>
            </a:r>
            <a:r>
              <a:rPr lang="en-US" b="1" dirty="0"/>
              <a:t>main</a:t>
            </a:r>
            <a:r>
              <a:rPr lang="ru-RU" b="1" dirty="0"/>
              <a:t>()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sng" dirty="0"/>
              <a:t>Пример 2</a:t>
            </a:r>
            <a:r>
              <a:rPr lang="ru-RU" dirty="0"/>
              <a:t>: поток на базе метода без параметров</a:t>
            </a:r>
            <a:endParaRPr lang="en-US" dirty="0"/>
          </a:p>
          <a:p>
            <a:r>
              <a:rPr lang="ru-RU" b="1" u="sng" dirty="0"/>
              <a:t>Пример 3: </a:t>
            </a:r>
            <a:r>
              <a:rPr lang="en-US" b="1" u="sng" dirty="0"/>
              <a:t> </a:t>
            </a:r>
            <a:r>
              <a:rPr lang="ru-RU" dirty="0"/>
              <a:t>поток на базе метода с параметром </a:t>
            </a:r>
            <a:r>
              <a:rPr lang="en-US" dirty="0"/>
              <a:t>object</a:t>
            </a:r>
          </a:p>
          <a:p>
            <a:r>
              <a:rPr lang="ru-RU" b="1" u="sng" dirty="0"/>
              <a:t>Пример 4: </a:t>
            </a:r>
            <a:r>
              <a:rPr lang="en-US" b="1" u="sng" dirty="0"/>
              <a:t> </a:t>
            </a:r>
            <a:r>
              <a:rPr lang="ru-RU" dirty="0"/>
              <a:t>поток на базе метода </a:t>
            </a:r>
            <a:r>
              <a:rPr lang="en-US" dirty="0"/>
              <a:t>c </a:t>
            </a:r>
            <a:r>
              <a:rPr lang="ru-RU" dirty="0"/>
              <a:t>параметром типа </a:t>
            </a:r>
            <a:r>
              <a:rPr lang="en-US" dirty="0"/>
              <a:t>class…</a:t>
            </a:r>
            <a:endParaRPr lang="ru-RU" dirty="0"/>
          </a:p>
          <a:p>
            <a:r>
              <a:rPr lang="ru-RU" b="1" u="sng" dirty="0"/>
              <a:t>Пример 5: </a:t>
            </a:r>
            <a:r>
              <a:rPr lang="ru-RU" dirty="0"/>
              <a:t>поток на базе делегата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2316D-8860-45D6-B64E-E9E33D44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второго потока в функции </a:t>
            </a:r>
            <a:r>
              <a:rPr lang="en-US" b="1" dirty="0"/>
              <a:t>main</a:t>
            </a:r>
            <a:r>
              <a:rPr lang="ru-RU" b="1" dirty="0"/>
              <a:t>()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9098CC6-EE62-43A5-A00D-BDFD5115E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803" y="1383634"/>
            <a:ext cx="5544616" cy="5186418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DB93C8-496F-4529-A26B-95F0E2022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1452479"/>
            <a:ext cx="1682398" cy="5085184"/>
          </a:xfrm>
          <a:prstGeom prst="rect">
            <a:avLst/>
          </a:prstGeom>
        </p:spPr>
      </p:pic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80EDF28E-6DF3-4C77-839A-2328F817EC2B}"/>
              </a:ext>
            </a:extLst>
          </p:cNvPr>
          <p:cNvSpPr/>
          <p:nvPr/>
        </p:nvSpPr>
        <p:spPr>
          <a:xfrm>
            <a:off x="4200203" y="2707286"/>
            <a:ext cx="1944216" cy="864096"/>
          </a:xfrm>
          <a:prstGeom prst="wedgeRectCallout">
            <a:avLst>
              <a:gd name="adj1" fmla="val -47778"/>
              <a:gd name="adj2" fmla="val 12533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Целевой метод делегата без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4215271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2316D-8860-45D6-B64E-E9E33D44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второго потока в функции </a:t>
            </a:r>
            <a:r>
              <a:rPr lang="en-US" b="1" dirty="0"/>
              <a:t>main</a:t>
            </a:r>
            <a:r>
              <a:rPr lang="ru-RU" b="1" dirty="0"/>
              <a:t>()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9952E16-926B-4E9F-8335-8B7531571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46238"/>
            <a:ext cx="6203032" cy="5285162"/>
          </a:xfrm>
        </p:spPr>
      </p:pic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C3FA2D5F-1A78-4B23-84CA-57BE7623E853}"/>
              </a:ext>
            </a:extLst>
          </p:cNvPr>
          <p:cNvSpPr/>
          <p:nvPr/>
        </p:nvSpPr>
        <p:spPr>
          <a:xfrm>
            <a:off x="4499992" y="3140968"/>
            <a:ext cx="1944216" cy="864096"/>
          </a:xfrm>
          <a:prstGeom prst="wedgeRectCallout">
            <a:avLst>
              <a:gd name="adj1" fmla="val -47778"/>
              <a:gd name="adj2" fmla="val 12533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Целевой метод делегата с параметрами</a:t>
            </a:r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A74D09B3-2462-4BA3-9877-4291FE0E304A}"/>
              </a:ext>
            </a:extLst>
          </p:cNvPr>
          <p:cNvSpPr/>
          <p:nvPr/>
        </p:nvSpPr>
        <p:spPr>
          <a:xfrm>
            <a:off x="5508104" y="4979714"/>
            <a:ext cx="1944216" cy="864096"/>
          </a:xfrm>
          <a:prstGeom prst="wedgeRectCallout">
            <a:avLst>
              <a:gd name="adj1" fmla="val -175646"/>
              <a:gd name="adj2" fmla="val -5434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 метода</a:t>
            </a:r>
          </a:p>
        </p:txBody>
      </p:sp>
    </p:spTree>
    <p:extLst>
      <p:ext uri="{BB962C8B-B14F-4D97-AF65-F5344CB8AC3E}">
        <p14:creationId xmlns:p14="http://schemas.microsoft.com/office/powerpoint/2010/main" val="211881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60DED-95BF-48C0-B115-D5610CC4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второго потока в функции </a:t>
            </a:r>
            <a:r>
              <a:rPr lang="en-US" b="1" dirty="0"/>
              <a:t>main</a:t>
            </a:r>
            <a:r>
              <a:rPr lang="ru-RU" b="1" dirty="0"/>
              <a:t>()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771E193-DF89-494C-B296-D2B645289C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6651" y="1813492"/>
            <a:ext cx="4038600" cy="3626208"/>
          </a:xfr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761903CD-3CB9-4F63-8D1D-9C3AAFF2E6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65251" y="1988840"/>
            <a:ext cx="4477444" cy="2376264"/>
          </a:xfrm>
        </p:spPr>
      </p:pic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8AB93969-378B-4F1A-AB6C-82A37D4FFAAB}"/>
              </a:ext>
            </a:extLst>
          </p:cNvPr>
          <p:cNvSpPr/>
          <p:nvPr/>
        </p:nvSpPr>
        <p:spPr>
          <a:xfrm>
            <a:off x="7050335" y="4679875"/>
            <a:ext cx="1944216" cy="864096"/>
          </a:xfrm>
          <a:prstGeom prst="wedgeRectCallout">
            <a:avLst>
              <a:gd name="adj1" fmla="val 30118"/>
              <a:gd name="adj2" fmla="val -2527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 класса</a:t>
            </a:r>
          </a:p>
        </p:txBody>
      </p:sp>
    </p:spTree>
    <p:extLst>
      <p:ext uri="{BB962C8B-B14F-4D97-AF65-F5344CB8AC3E}">
        <p14:creationId xmlns:p14="http://schemas.microsoft.com/office/powerpoint/2010/main" val="84870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76EA6-DA8B-497D-A893-4963BCE4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Создание потока с помощью делегата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8D195B-E8CD-4128-83F4-D5F30F002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537256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0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создания потоков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dirty="0"/>
              <a:t>Создать метод, который будет точкой входа для нового потока.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Создать новый делегат </a:t>
            </a:r>
            <a:r>
              <a:rPr lang="ru-RU" b="1" dirty="0" err="1"/>
              <a:t>ParametrizedThreadStart</a:t>
            </a:r>
            <a:r>
              <a:rPr lang="ru-RU" b="1" dirty="0"/>
              <a:t>/</a:t>
            </a:r>
            <a:r>
              <a:rPr lang="ru-RU" b="1" dirty="0" err="1"/>
              <a:t>ThreadStart</a:t>
            </a:r>
            <a:r>
              <a:rPr lang="ru-RU" dirty="0"/>
              <a:t>, передав конструктору адрес метода, определенного на предыдущем шаге.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Создать объект </a:t>
            </a:r>
            <a:r>
              <a:rPr lang="ru-RU" b="1" dirty="0" err="1"/>
              <a:t>Thread</a:t>
            </a:r>
            <a:r>
              <a:rPr lang="ru-RU" dirty="0"/>
              <a:t>, передав в качестве аргумента конструктора </a:t>
            </a:r>
            <a:r>
              <a:rPr lang="ru-RU" b="1" dirty="0" err="1"/>
              <a:t>ParametrizedThreadStart</a:t>
            </a:r>
            <a:r>
              <a:rPr lang="ru-RU" b="1" dirty="0"/>
              <a:t>/</a:t>
            </a:r>
            <a:r>
              <a:rPr lang="ru-RU" b="1" dirty="0" err="1"/>
              <a:t>ThreadStart</a:t>
            </a:r>
            <a:r>
              <a:rPr lang="ru-RU" b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Вызвать метод </a:t>
            </a:r>
            <a:r>
              <a:rPr lang="ru-RU" b="1" dirty="0" err="1"/>
              <a:t>Thread.Start</a:t>
            </a:r>
            <a:r>
              <a:rPr lang="ru-RU" b="1" dirty="0"/>
              <a:t>(). </a:t>
            </a:r>
            <a:r>
              <a:rPr lang="ru-RU" dirty="0"/>
              <a:t>Это запустит поток на методе, который указан делегатом, созданным на втором шаге, как только это будет возможно.</a:t>
            </a:r>
          </a:p>
          <a:p>
            <a:endParaRPr lang="ru-RU" dirty="0"/>
          </a:p>
          <a:p>
            <a:endParaRPr lang="ru-RU" dirty="0"/>
          </a:p>
          <a:p>
            <a:endParaRPr lang="ru-RU" u="sng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481E3-8618-4478-BFF6-FEC51DD9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многопоточности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D0E861-0268-42B6-9C27-9C4DF5ED8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Состояние гонки</a:t>
            </a:r>
          </a:p>
          <a:p>
            <a:r>
              <a:rPr lang="ru-RU" dirty="0"/>
              <a:t>Видимость изменений</a:t>
            </a:r>
          </a:p>
          <a:p>
            <a:r>
              <a:rPr lang="ru-RU" dirty="0"/>
              <a:t>Взаимоблокировки</a:t>
            </a:r>
          </a:p>
        </p:txBody>
      </p:sp>
    </p:spTree>
    <p:extLst>
      <p:ext uri="{BB962C8B-B14F-4D97-AF65-F5344CB8AC3E}">
        <p14:creationId xmlns:p14="http://schemas.microsoft.com/office/powerpoint/2010/main" val="3408815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Синхронизация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 fontScale="55000" lnSpcReduction="20000"/>
          </a:bodyPr>
          <a:lstStyle/>
          <a:p>
            <a:r>
              <a:rPr lang="ru-RU" sz="3600" b="1" dirty="0"/>
              <a:t>Синхронизация</a:t>
            </a:r>
            <a:r>
              <a:rPr lang="ru-RU" sz="3600" dirty="0"/>
              <a:t> – это процесс координации потоков, если:</a:t>
            </a:r>
          </a:p>
          <a:p>
            <a:pPr lvl="1"/>
            <a:r>
              <a:rPr lang="ru-RU" sz="2900" dirty="0"/>
              <a:t>двум потокам требуется один ресурс;</a:t>
            </a:r>
          </a:p>
          <a:p>
            <a:pPr lvl="1"/>
            <a:r>
              <a:rPr lang="ru-RU" sz="2900" dirty="0"/>
              <a:t>выполнение второго потока зависит от результатов первого потока.</a:t>
            </a:r>
            <a:endParaRPr lang="en-US" sz="2900" dirty="0"/>
          </a:p>
          <a:p>
            <a:r>
              <a:rPr lang="ru-RU" sz="3600" dirty="0"/>
              <a:t>В этом случае необходимо выполнять синхронизацию потоков, которая заключается в согласовании их скоростей путем приостановки потока до наступления какого-то события, а потом его активизации при наступлении этого события.  </a:t>
            </a:r>
          </a:p>
          <a:p>
            <a:r>
              <a:rPr lang="ru-RU" sz="3600" b="1" dirty="0"/>
              <a:t>Критическая секция</a:t>
            </a:r>
            <a:r>
              <a:rPr lang="ru-RU" sz="3600" dirty="0"/>
              <a:t> – это часть программы, результат выполнения которой может непредсказуемо меняться, если переменные этой части программы изменяются другими потоками, в то время, когда выполнение этой части еще не завершено. Критическая секция определяется по отношению к определенным </a:t>
            </a:r>
            <a:r>
              <a:rPr lang="ru-RU" sz="3600" b="1" dirty="0"/>
              <a:t>критическим данным</a:t>
            </a:r>
            <a:r>
              <a:rPr lang="ru-RU" sz="3600" dirty="0"/>
              <a:t>, при несогласованном изменении которых и может возникнуть нежелательный эффект.</a:t>
            </a:r>
          </a:p>
          <a:p>
            <a:r>
              <a:rPr lang="ru-RU" sz="3600" b="1" dirty="0"/>
              <a:t>Блокировка - </a:t>
            </a:r>
            <a:r>
              <a:rPr lang="ru-RU" sz="3600" dirty="0"/>
              <a:t>управление доступом к некоторому блоку кода в объекте. </a:t>
            </a:r>
          </a:p>
          <a:p>
            <a:r>
              <a:rPr lang="ru-RU" sz="3600" dirty="0"/>
              <a:t>На то время, когда объект заблокирован одним потоком, никакой другой поток не может получить доступ к заблокированному блоку кода. Когда поток снимет блокировку, объект станет доступным для использования другим потоком.</a:t>
            </a:r>
            <a:endParaRPr lang="en-US" sz="3600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87078-81D6-4512-9122-5A2C5DEB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73" y="60014"/>
            <a:ext cx="8229600" cy="1143000"/>
          </a:xfrm>
        </p:spPr>
        <p:txBody>
          <a:bodyPr/>
          <a:lstStyle/>
          <a:p>
            <a:r>
              <a:rPr lang="ru-RU" dirty="0"/>
              <a:t>Синхронизация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D53FDB5-35EF-4153-B978-BF64E4A7D590}"/>
              </a:ext>
            </a:extLst>
          </p:cNvPr>
          <p:cNvGrpSpPr/>
          <p:nvPr/>
        </p:nvGrpSpPr>
        <p:grpSpPr>
          <a:xfrm>
            <a:off x="1149513" y="1916832"/>
            <a:ext cx="6374813" cy="3096344"/>
            <a:chOff x="1149513" y="1916832"/>
            <a:chExt cx="6374813" cy="3096344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7DDEE8DA-608F-41CB-A9EC-585FC9C371FF}"/>
                </a:ext>
              </a:extLst>
            </p:cNvPr>
            <p:cNvSpPr/>
            <p:nvPr/>
          </p:nvSpPr>
          <p:spPr>
            <a:xfrm>
              <a:off x="3203848" y="2348880"/>
              <a:ext cx="2160240" cy="2664296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Данные</a:t>
              </a:r>
            </a:p>
          </p:txBody>
        </p:sp>
        <p:sp>
          <p:nvSpPr>
            <p:cNvPr id="5" name="Стрелка: вправо 4">
              <a:extLst>
                <a:ext uri="{FF2B5EF4-FFF2-40B4-BE49-F238E27FC236}">
                  <a16:creationId xmlns:a16="http://schemas.microsoft.com/office/drawing/2014/main" id="{2337166F-EC59-4876-80E4-67242F1D0AFA}"/>
                </a:ext>
              </a:extLst>
            </p:cNvPr>
            <p:cNvSpPr/>
            <p:nvPr/>
          </p:nvSpPr>
          <p:spPr>
            <a:xfrm>
              <a:off x="2229633" y="3320988"/>
              <a:ext cx="962088" cy="72008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2B941017-DB17-40C9-84D7-AED06E6DF34A}"/>
                </a:ext>
              </a:extLst>
            </p:cNvPr>
            <p:cNvSpPr/>
            <p:nvPr/>
          </p:nvSpPr>
          <p:spPr>
            <a:xfrm rot="10800000">
              <a:off x="5364088" y="3320988"/>
              <a:ext cx="936104" cy="72008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блачко с текстом: прямоугольное 6">
              <a:extLst>
                <a:ext uri="{FF2B5EF4-FFF2-40B4-BE49-F238E27FC236}">
                  <a16:creationId xmlns:a16="http://schemas.microsoft.com/office/drawing/2014/main" id="{513D278C-1B57-4B6C-9EC2-2C3C2F8A7AA1}"/>
                </a:ext>
              </a:extLst>
            </p:cNvPr>
            <p:cNvSpPr/>
            <p:nvPr/>
          </p:nvSpPr>
          <p:spPr>
            <a:xfrm>
              <a:off x="5148064" y="1916832"/>
              <a:ext cx="1728192" cy="720081"/>
            </a:xfrm>
            <a:prstGeom prst="wedgeRectCallout">
              <a:avLst>
                <a:gd name="adj1" fmla="val -46926"/>
                <a:gd name="adj2" fmla="val 65979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Критическая секция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B8F496-2E83-413E-9C7F-E208177516EC}"/>
                </a:ext>
              </a:extLst>
            </p:cNvPr>
            <p:cNvSpPr txBox="1"/>
            <p:nvPr/>
          </p:nvSpPr>
          <p:spPr>
            <a:xfrm>
              <a:off x="1149513" y="2951655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/>
                <a:t>Поток 1: читает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0E59A7-04EE-4664-A3A0-51AA19D49747}"/>
                </a:ext>
              </a:extLst>
            </p:cNvPr>
            <p:cNvSpPr txBox="1"/>
            <p:nvPr/>
          </p:nvSpPr>
          <p:spPr>
            <a:xfrm>
              <a:off x="5364086" y="3036350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/>
                <a:t>Поток 2: пишет</a:t>
              </a:r>
            </a:p>
          </p:txBody>
        </p:sp>
        <p:sp>
          <p:nvSpPr>
            <p:cNvPr id="10" name="Крест 9">
              <a:extLst>
                <a:ext uri="{FF2B5EF4-FFF2-40B4-BE49-F238E27FC236}">
                  <a16:creationId xmlns:a16="http://schemas.microsoft.com/office/drawing/2014/main" id="{937F9EAB-B224-4B7E-B5C6-7EF409A3693A}"/>
                </a:ext>
              </a:extLst>
            </p:cNvPr>
            <p:cNvSpPr/>
            <p:nvPr/>
          </p:nvSpPr>
          <p:spPr>
            <a:xfrm rot="19478439">
              <a:off x="4869280" y="3232045"/>
              <a:ext cx="812152" cy="779717"/>
            </a:xfrm>
            <a:prstGeom prst="plu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47426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Синхронизация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Ситуация, когда два или более потоков обрабатывают  разделяемые данные и конечный результат зависит от соотношения скоростей потоков называется </a:t>
            </a:r>
            <a:r>
              <a:rPr lang="ru-RU" b="1" dirty="0"/>
              <a:t>гонками</a:t>
            </a:r>
            <a:r>
              <a:rPr lang="ru-RU" dirty="0"/>
              <a:t>.  </a:t>
            </a:r>
          </a:p>
          <a:p>
            <a:r>
              <a:rPr lang="ru-RU" dirty="0"/>
              <a:t>Чтобы исключить эффект гонок по отношению к критическим данным, необходимо, чтобы в каждый момент времени с ними работал только </a:t>
            </a:r>
            <a:r>
              <a:rPr lang="ru-RU" b="1" dirty="0"/>
              <a:t>один поток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Т.е. необходимо   синхронизировать потоки и ограничить доступ к разделяемым ресурсам на время их использования каким-нибудь потоком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A3767-6362-4D85-8AE2-DAF926B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0127"/>
            <a:ext cx="8229600" cy="1143000"/>
          </a:xfrm>
        </p:spPr>
        <p:txBody>
          <a:bodyPr/>
          <a:lstStyle/>
          <a:p>
            <a:r>
              <a:rPr lang="ru-RU" dirty="0"/>
              <a:t>Пример гонки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FBF234-D97F-4842-8844-6CF4AD261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076992"/>
            <a:ext cx="6635080" cy="5786988"/>
          </a:xfrm>
        </p:spPr>
      </p:pic>
      <p:sp>
        <p:nvSpPr>
          <p:cNvPr id="3" name="Облачко с текстом: прямоугольное 2">
            <a:extLst>
              <a:ext uri="{FF2B5EF4-FFF2-40B4-BE49-F238E27FC236}">
                <a16:creationId xmlns:a16="http://schemas.microsoft.com/office/drawing/2014/main" id="{2E38FFC8-13A8-43FC-8D1D-459B6799E9A1}"/>
              </a:ext>
            </a:extLst>
          </p:cNvPr>
          <p:cNvSpPr/>
          <p:nvPr/>
        </p:nvSpPr>
        <p:spPr>
          <a:xfrm>
            <a:off x="6588224" y="2492896"/>
            <a:ext cx="2180928" cy="1656184"/>
          </a:xfrm>
          <a:prstGeom prst="wedgeRectCallout">
            <a:avLst>
              <a:gd name="adj1" fmla="val -259980"/>
              <a:gd name="adj2" fmla="val 292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Главный поток ждет завершения </a:t>
            </a:r>
            <a:r>
              <a:rPr lang="en-US" dirty="0"/>
              <a:t>t1, </a:t>
            </a:r>
            <a:br>
              <a:rPr lang="ru-RU" dirty="0"/>
            </a:br>
            <a:r>
              <a:rPr lang="en-US" dirty="0"/>
              <a:t>t2</a:t>
            </a:r>
            <a:r>
              <a:rPr lang="ru-RU" dirty="0"/>
              <a:t> продолжает работать</a:t>
            </a:r>
          </a:p>
        </p:txBody>
      </p:sp>
    </p:spTree>
    <p:extLst>
      <p:ext uri="{BB962C8B-B14F-4D97-AF65-F5344CB8AC3E}">
        <p14:creationId xmlns:p14="http://schemas.microsoft.com/office/powerpoint/2010/main" val="226640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A3767-6362-4D85-8AE2-DAF926B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0127"/>
            <a:ext cx="8229600" cy="1143000"/>
          </a:xfrm>
        </p:spPr>
        <p:txBody>
          <a:bodyPr/>
          <a:lstStyle/>
          <a:p>
            <a:r>
              <a:rPr lang="ru-RU" dirty="0"/>
              <a:t>Пример гонки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FBF234-D97F-4842-8844-6CF4AD261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076992"/>
            <a:ext cx="6635080" cy="578698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D13215-F855-4E81-A894-D1D00ABD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352" y="1076992"/>
            <a:ext cx="4359504" cy="8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78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A3767-6362-4D85-8AE2-DAF926B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0127"/>
            <a:ext cx="8229600" cy="1143000"/>
          </a:xfrm>
        </p:spPr>
        <p:txBody>
          <a:bodyPr/>
          <a:lstStyle/>
          <a:p>
            <a:r>
              <a:rPr lang="ru-RU" dirty="0"/>
              <a:t>Пример гонки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FBF234-D97F-4842-8844-6CF4AD261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076992"/>
            <a:ext cx="6635080" cy="5786988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A106F4-85BC-46C6-AD0C-E625CF4E9A18}"/>
              </a:ext>
            </a:extLst>
          </p:cNvPr>
          <p:cNvSpPr/>
          <p:nvPr/>
        </p:nvSpPr>
        <p:spPr>
          <a:xfrm>
            <a:off x="7133456" y="1087516"/>
            <a:ext cx="1594520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  <p:sp>
        <p:nvSpPr>
          <p:cNvPr id="4" name="Стрелка: вверх 3">
            <a:extLst>
              <a:ext uri="{FF2B5EF4-FFF2-40B4-BE49-F238E27FC236}">
                <a16:creationId xmlns:a16="http://schemas.microsoft.com/office/drawing/2014/main" id="{1BF46AF0-14D1-428B-975A-C025B5500CFA}"/>
              </a:ext>
            </a:extLst>
          </p:cNvPr>
          <p:cNvSpPr/>
          <p:nvPr/>
        </p:nvSpPr>
        <p:spPr>
          <a:xfrm>
            <a:off x="7087208" y="1951612"/>
            <a:ext cx="576064" cy="234148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1</a:t>
            </a:r>
          </a:p>
        </p:txBody>
      </p:sp>
      <p:sp>
        <p:nvSpPr>
          <p:cNvPr id="8" name="Стрелка: вверх 7">
            <a:extLst>
              <a:ext uri="{FF2B5EF4-FFF2-40B4-BE49-F238E27FC236}">
                <a16:creationId xmlns:a16="http://schemas.microsoft.com/office/drawing/2014/main" id="{ECE8CF1D-70F0-49AA-9216-D862A6D4D896}"/>
              </a:ext>
            </a:extLst>
          </p:cNvPr>
          <p:cNvSpPr/>
          <p:nvPr/>
        </p:nvSpPr>
        <p:spPr>
          <a:xfrm>
            <a:off x="8193088" y="1951612"/>
            <a:ext cx="576064" cy="234148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2</a:t>
            </a:r>
          </a:p>
        </p:txBody>
      </p:sp>
    </p:spTree>
    <p:extLst>
      <p:ext uri="{BB962C8B-B14F-4D97-AF65-F5344CB8AC3E}">
        <p14:creationId xmlns:p14="http://schemas.microsoft.com/office/powerpoint/2010/main" val="2381297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Синхронизация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u="sng" dirty="0"/>
              <a:t>Пример 6</a:t>
            </a:r>
            <a:r>
              <a:rPr lang="en-US" b="1" u="sng" dirty="0"/>
              <a:t>:</a:t>
            </a:r>
            <a:r>
              <a:rPr lang="ru-RU" b="1" u="sng" dirty="0"/>
              <a:t> </a:t>
            </a:r>
            <a:r>
              <a:rPr lang="en-US" b="1" u="sng" dirty="0"/>
              <a:t> </a:t>
            </a:r>
            <a:r>
              <a:rPr lang="ru-RU" dirty="0"/>
              <a:t>Использование общей переменной</a:t>
            </a:r>
          </a:p>
          <a:p>
            <a:r>
              <a:rPr lang="ru-RU" dirty="0"/>
              <a:t>Запускаются пять потоков, которые работают с общей переменной x. </a:t>
            </a:r>
          </a:p>
          <a:p>
            <a:r>
              <a:rPr lang="ru-RU" dirty="0"/>
              <a:t>Предполагаем, что метод выведет все значения x от 1 до 8 для каждого потока. </a:t>
            </a:r>
          </a:p>
          <a:p>
            <a:r>
              <a:rPr lang="ru-RU" dirty="0"/>
              <a:t>В процессе работы будет происходить переключение между потоками, и значение переменной x становится непредсказуемым.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674A1-E704-4F34-B860-211156DA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Синхронизация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51F3F9B-480E-4051-B98C-F86A16972D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69032" y="1440905"/>
            <a:ext cx="6695256" cy="4525963"/>
          </a:xfrm>
        </p:spPr>
      </p:pic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8718BDB8-60C1-4B2F-8297-977011A25A5C}"/>
              </a:ext>
            </a:extLst>
          </p:cNvPr>
          <p:cNvSpPr/>
          <p:nvPr/>
        </p:nvSpPr>
        <p:spPr>
          <a:xfrm>
            <a:off x="5580112" y="3573016"/>
            <a:ext cx="1080120" cy="720080"/>
          </a:xfrm>
          <a:prstGeom prst="wedgeRectCallout">
            <a:avLst>
              <a:gd name="adj1" fmla="val -110066"/>
              <a:gd name="adj2" fmla="val 8137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 </a:t>
            </a:r>
            <a:r>
              <a:rPr lang="ru-RU" dirty="0"/>
              <a:t>потока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819F1B-BBD3-439E-A661-D3E0D75C5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20" y="1587834"/>
            <a:ext cx="967824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45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lock</a:t>
            </a:r>
            <a:r>
              <a:rPr lang="ru-RU" dirty="0"/>
              <a:t>(</a:t>
            </a:r>
            <a:r>
              <a:rPr lang="en-US" dirty="0"/>
              <a:t>object</a:t>
            </a:r>
            <a:r>
              <a:rPr lang="ru-RU" dirty="0"/>
              <a:t>) </a:t>
            </a:r>
          </a:p>
          <a:p>
            <a:pPr>
              <a:buNone/>
            </a:pPr>
            <a:r>
              <a:rPr lang="ru-RU" dirty="0"/>
              <a:t>{</a:t>
            </a:r>
          </a:p>
          <a:p>
            <a:pPr>
              <a:buNone/>
            </a:pPr>
            <a:r>
              <a:rPr lang="ru-RU" dirty="0"/>
              <a:t>	// Инструкции, подлежащие синхронизации.</a:t>
            </a:r>
          </a:p>
          <a:p>
            <a:pPr>
              <a:buNone/>
            </a:pP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 где </a:t>
            </a:r>
            <a:r>
              <a:rPr lang="en-US" dirty="0"/>
              <a:t>object </a:t>
            </a:r>
            <a:r>
              <a:rPr lang="ru-RU" dirty="0"/>
              <a:t> -  ссылка на синхронизируемый объект</a:t>
            </a:r>
            <a:r>
              <a:rPr lang="en-US" dirty="0"/>
              <a:t> 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Инструкция </a:t>
            </a:r>
            <a:r>
              <a:rPr lang="ru-RU" b="1" dirty="0" err="1"/>
              <a:t>lock</a:t>
            </a:r>
            <a:r>
              <a:rPr lang="ru-RU" b="1" dirty="0"/>
              <a:t> </a:t>
            </a:r>
            <a:r>
              <a:rPr lang="ru-RU" dirty="0"/>
              <a:t>гарантирует, что указанный блок кода, защищенный блокировкой для данного объекта, может быть использован только потоком, который получает эту блокировку. </a:t>
            </a:r>
          </a:p>
          <a:p>
            <a:r>
              <a:rPr lang="ru-RU" dirty="0"/>
              <a:t>Все другие потоки остаются заблокированными до тех пор, пока блокировка не будет снята.</a:t>
            </a:r>
          </a:p>
          <a:p>
            <a:r>
              <a:rPr lang="ru-RU" dirty="0"/>
              <a:t> А снята она будет лишь при выходе из этого блока.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4F0F2-0712-4AAC-B472-1C082C62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Взаимоблокировки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3C6AA23-F9D5-4439-8B17-7F4EAFFA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Deadlock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(взаимоблокировка)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ситуация в многопоточном программировании, когда два или более потоков заблокированы навсегда, ожидая ресурсы, захваченные друг другом. Ни один из потоков не может продолжить выполнение, и программа "зависает«.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Поток 1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захватил ресурс А и ждёт ресурс 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Поток 2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захватил ресурс Б и ждёт ресурс 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оба потока ждут вечно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402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3F58D-F256-4CB5-B6A5-7F7E3B26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Взаимоблокировка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32B10C53-B181-41A3-836F-E8F49B4CC5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3528" y="1268759"/>
            <a:ext cx="7416824" cy="5376099"/>
          </a:xfrm>
        </p:spPr>
      </p:pic>
    </p:spTree>
    <p:extLst>
      <p:ext uri="{BB962C8B-B14F-4D97-AF65-F5344CB8AC3E}">
        <p14:creationId xmlns:p14="http://schemas.microsoft.com/office/powerpoint/2010/main" val="1750993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3F58D-F256-4CB5-B6A5-7F7E3B26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Взаимоблокировка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234985-C467-4AB2-BD65-AFA1B380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12" y="5440362"/>
            <a:ext cx="6182588" cy="1324160"/>
          </a:xfrm>
          <a:prstGeom prst="rect">
            <a:avLst/>
          </a:prstGeom>
        </p:spPr>
      </p:pic>
      <p:pic>
        <p:nvPicPr>
          <p:cNvPr id="14" name="Объект 12">
            <a:extLst>
              <a:ext uri="{FF2B5EF4-FFF2-40B4-BE49-F238E27FC236}">
                <a16:creationId xmlns:a16="http://schemas.microsoft.com/office/drawing/2014/main" id="{78E3246F-6981-4B95-B7BB-C2977F1B29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89612" y="1772816"/>
            <a:ext cx="5192084" cy="3240360"/>
          </a:xfrm>
        </p:spPr>
      </p:pic>
    </p:spTree>
    <p:extLst>
      <p:ext uri="{BB962C8B-B14F-4D97-AF65-F5344CB8AC3E}">
        <p14:creationId xmlns:p14="http://schemas.microsoft.com/office/powerpoint/2010/main" val="2710252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D34F5-2B2E-49F8-A251-ADB557A8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избежать взаимоблокировки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6108772-0785-47C8-9693-8E15158F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Фиксированный порядок блокировок, т.е. всегда захватываем блокировки в одном порядке.</a:t>
            </a:r>
          </a:p>
          <a:p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 Таймауты (принудительный выход из блокировки через заданное время)</a:t>
            </a:r>
          </a:p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Не делать вложенные блокировки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35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0B2A91-FDEB-4830-A799-CFEE2949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/>
              <a:t>Пример блокировки</a:t>
            </a:r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AE4BA0D9-7CA7-4723-8CD3-78CC8B712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908720"/>
            <a:ext cx="7128792" cy="587973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1090F1-D5C8-455C-8FE3-F5FA3B5DE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599" y="1261035"/>
            <a:ext cx="4626345" cy="101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8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F588B-242D-4D11-BA6B-6D5E6DA7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Блокировка с помощью </a:t>
            </a:r>
            <a:r>
              <a:rPr lang="en-US" dirty="0"/>
              <a:t>lock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51EC172-0D41-4726-9BC1-418735FB4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177032"/>
            <a:ext cx="6060687" cy="5416124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6A9FA6-50E2-4FA2-AB17-B5DFAACE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08276"/>
            <a:ext cx="4076081" cy="9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18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Monitor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51723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Класс </a:t>
            </a:r>
            <a:r>
              <a:rPr lang="en-US" dirty="0"/>
              <a:t> </a:t>
            </a:r>
            <a:r>
              <a:rPr lang="ru-RU" b="1" dirty="0" err="1"/>
              <a:t>Monitor</a:t>
            </a:r>
            <a:r>
              <a:rPr lang="ru-RU" b="1" dirty="0"/>
              <a:t> </a:t>
            </a:r>
            <a:r>
              <a:rPr lang="ru-RU" dirty="0"/>
              <a:t>предоставляет средства для синхронизации потоков. </a:t>
            </a:r>
          </a:p>
          <a:p>
            <a:r>
              <a:rPr lang="ru-RU" dirty="0"/>
              <a:t>В классе </a:t>
            </a:r>
            <a:r>
              <a:rPr lang="ru-RU" dirty="0" err="1"/>
              <a:t>Monitor</a:t>
            </a:r>
            <a:r>
              <a:rPr lang="ru-RU" dirty="0"/>
              <a:t> определено несколько методов синхронизации:</a:t>
            </a:r>
          </a:p>
          <a:p>
            <a:pPr lvl="1"/>
            <a:r>
              <a:rPr lang="en-US" dirty="0"/>
              <a:t>public static void </a:t>
            </a:r>
            <a:r>
              <a:rPr lang="en-US" b="1" dirty="0"/>
              <a:t>Enter</a:t>
            </a:r>
            <a:r>
              <a:rPr lang="ru-RU" dirty="0"/>
              <a:t>(</a:t>
            </a:r>
            <a:r>
              <a:rPr lang="en-US" dirty="0"/>
              <a:t>object </a:t>
            </a:r>
            <a:r>
              <a:rPr lang="en-US" dirty="0" err="1"/>
              <a:t>syncOb</a:t>
            </a:r>
            <a:r>
              <a:rPr lang="ru-RU" dirty="0"/>
              <a:t>);  -  предоставляет возможность блокировки для  объекта, </a:t>
            </a:r>
            <a:r>
              <a:rPr lang="en-US" dirty="0" err="1"/>
              <a:t>syncOb</a:t>
            </a:r>
            <a:r>
              <a:rPr lang="ru-RU" dirty="0"/>
              <a:t>.</a:t>
            </a:r>
          </a:p>
          <a:p>
            <a:pPr lvl="1"/>
            <a:r>
              <a:rPr lang="en-US" dirty="0"/>
              <a:t>public static void </a:t>
            </a:r>
            <a:r>
              <a:rPr lang="en-US" b="1" dirty="0"/>
              <a:t>Exit</a:t>
            </a:r>
            <a:r>
              <a:rPr lang="ru-RU" dirty="0"/>
              <a:t>(</a:t>
            </a:r>
            <a:r>
              <a:rPr lang="en-US" dirty="0"/>
              <a:t>object </a:t>
            </a:r>
            <a:r>
              <a:rPr lang="en-US" dirty="0" err="1"/>
              <a:t>syncOb</a:t>
            </a:r>
            <a:r>
              <a:rPr lang="ru-RU" dirty="0"/>
              <a:t>); – снимает блокировку для  объекта, </a:t>
            </a:r>
            <a:r>
              <a:rPr lang="en-US" dirty="0" err="1"/>
              <a:t>syncOb</a:t>
            </a:r>
            <a:r>
              <a:rPr lang="ru-RU" dirty="0"/>
              <a:t>.</a:t>
            </a:r>
          </a:p>
          <a:p>
            <a:pPr lvl="1"/>
            <a:r>
              <a:rPr lang="en-US" dirty="0"/>
              <a:t>public static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b="1" dirty="0" err="1"/>
              <a:t>TryEnter</a:t>
            </a:r>
            <a:r>
              <a:rPr lang="ru-RU" dirty="0"/>
              <a:t>(</a:t>
            </a:r>
            <a:r>
              <a:rPr lang="en-US" dirty="0"/>
              <a:t>object </a:t>
            </a:r>
            <a:r>
              <a:rPr lang="en-US" dirty="0" err="1"/>
              <a:t>syncOb</a:t>
            </a:r>
            <a:r>
              <a:rPr lang="ru-RU" dirty="0"/>
              <a:t>);— возвращает значение </a:t>
            </a:r>
            <a:r>
              <a:rPr lang="ru-RU" dirty="0" err="1"/>
              <a:t>true</a:t>
            </a:r>
            <a:r>
              <a:rPr lang="ru-RU" dirty="0"/>
              <a:t>, если вызывающий поток получает блокировку для объекта </a:t>
            </a:r>
            <a:r>
              <a:rPr lang="ru-RU" dirty="0" err="1"/>
              <a:t>syncOb</a:t>
            </a:r>
            <a:r>
              <a:rPr lang="ru-RU" dirty="0"/>
              <a:t>, и значение </a:t>
            </a:r>
            <a:r>
              <a:rPr lang="ru-RU" dirty="0" err="1"/>
              <a:t>false</a:t>
            </a:r>
            <a:r>
              <a:rPr lang="ru-RU" dirty="0"/>
              <a:t> в противном случае. Если заданный объект недоступен, вызывающий поток будет ожидать до тех пор, пока он не станет доступным.</a:t>
            </a:r>
          </a:p>
          <a:p>
            <a:r>
              <a:rPr lang="ru-RU" dirty="0"/>
              <a:t>Если при вызове метода </a:t>
            </a:r>
            <a:r>
              <a:rPr lang="ru-RU" b="1" dirty="0" err="1"/>
              <a:t>Enter</a:t>
            </a:r>
            <a:r>
              <a:rPr lang="ru-RU" dirty="0"/>
              <a:t>() заданный объект недоступен, вызывающий поток будет ожидать до тех пор, пока объект не станет доступным.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Monitor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 классе </a:t>
            </a:r>
            <a:r>
              <a:rPr lang="ru-RU" dirty="0" err="1"/>
              <a:t>Monitor</a:t>
            </a:r>
            <a:r>
              <a:rPr lang="ru-RU" dirty="0"/>
              <a:t> также  определены методы </a:t>
            </a:r>
            <a:r>
              <a:rPr lang="ru-RU" dirty="0" err="1"/>
              <a:t>Wait</a:t>
            </a:r>
            <a:r>
              <a:rPr lang="ru-RU" dirty="0"/>
              <a:t>(), </a:t>
            </a:r>
            <a:r>
              <a:rPr lang="ru-RU" dirty="0" err="1"/>
              <a:t>Pulse</a:t>
            </a:r>
            <a:r>
              <a:rPr lang="ru-RU" dirty="0"/>
              <a:t>() и </a:t>
            </a:r>
            <a:r>
              <a:rPr lang="ru-RU" dirty="0" err="1"/>
              <a:t>PulseAll</a:t>
            </a:r>
            <a:r>
              <a:rPr lang="ru-RU" dirty="0"/>
              <a:t>(). </a:t>
            </a:r>
          </a:p>
          <a:p>
            <a:r>
              <a:rPr lang="ru-RU" b="1" dirty="0"/>
              <a:t>Форматы использования методов</a:t>
            </a:r>
            <a:r>
              <a:rPr lang="en-US" b="1" dirty="0"/>
              <a:t>:</a:t>
            </a:r>
            <a:endParaRPr lang="ru-RU" dirty="0"/>
          </a:p>
          <a:p>
            <a:pPr lvl="1"/>
            <a:r>
              <a:rPr lang="en-US" dirty="0"/>
              <a:t>public static </a:t>
            </a:r>
            <a:r>
              <a:rPr lang="en-US" dirty="0" err="1"/>
              <a:t>bool</a:t>
            </a:r>
            <a:r>
              <a:rPr lang="en-US" dirty="0"/>
              <a:t> Wait(object </a:t>
            </a:r>
            <a:r>
              <a:rPr lang="en-US" dirty="0" err="1"/>
              <a:t>waitOb</a:t>
            </a:r>
            <a:r>
              <a:rPr lang="en-US" dirty="0"/>
              <a:t>) - </a:t>
            </a:r>
            <a:r>
              <a:rPr lang="ru-RU" dirty="0"/>
              <a:t>ожидание до уведомления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en-US" dirty="0"/>
              <a:t>public static </a:t>
            </a:r>
            <a:r>
              <a:rPr lang="en-US" dirty="0" err="1"/>
              <a:t>bool</a:t>
            </a:r>
            <a:r>
              <a:rPr lang="en-US" dirty="0"/>
              <a:t> Wait</a:t>
            </a:r>
            <a:r>
              <a:rPr lang="ru-RU" dirty="0"/>
              <a:t>(</a:t>
            </a:r>
            <a:r>
              <a:rPr lang="en-US" dirty="0"/>
              <a:t>object </a:t>
            </a:r>
            <a:r>
              <a:rPr lang="en-US" dirty="0" err="1"/>
              <a:t>waitOb</a:t>
            </a:r>
            <a:r>
              <a:rPr lang="ru-RU" dirty="0"/>
              <a:t>, </a:t>
            </a:r>
            <a:r>
              <a:rPr lang="en-US" dirty="0" err="1"/>
              <a:t>int</a:t>
            </a:r>
            <a:r>
              <a:rPr lang="en-US" dirty="0"/>
              <a:t> milliseconds</a:t>
            </a:r>
            <a:r>
              <a:rPr lang="ru-RU" dirty="0"/>
              <a:t>) - ожидание до уведомления или до истечения периода времени, заданного в миллисекундах;</a:t>
            </a:r>
          </a:p>
          <a:p>
            <a:pPr lvl="1"/>
            <a:r>
              <a:rPr lang="en-US" dirty="0"/>
              <a:t>public static void Pulse</a:t>
            </a:r>
            <a:r>
              <a:rPr lang="ru-RU" dirty="0"/>
              <a:t>(</a:t>
            </a:r>
            <a:r>
              <a:rPr lang="en-US" dirty="0"/>
              <a:t>object </a:t>
            </a:r>
            <a:r>
              <a:rPr lang="en-US" dirty="0" err="1"/>
              <a:t>waitOb</a:t>
            </a:r>
            <a:r>
              <a:rPr lang="ru-RU" dirty="0"/>
              <a:t>) возобновляет выполнение потока;</a:t>
            </a:r>
            <a:endParaRPr lang="en-US" dirty="0"/>
          </a:p>
          <a:p>
            <a:r>
              <a:rPr lang="ru-RU" dirty="0"/>
              <a:t>Метод </a:t>
            </a:r>
            <a:r>
              <a:rPr lang="ru-RU" dirty="0" err="1"/>
              <a:t>Monitor.Wait</a:t>
            </a:r>
            <a:r>
              <a:rPr lang="ru-RU" dirty="0"/>
              <a:t> освобождает блокировку объекта и переводит поток в очередь ожидания объекта. </a:t>
            </a:r>
            <a:endParaRPr lang="en-US" dirty="0"/>
          </a:p>
          <a:p>
            <a:r>
              <a:rPr lang="ru-RU" dirty="0"/>
              <a:t>Следующий поток в очереди готовности объекта блокирует данный объект. А все потоки, которые вызвали метод </a:t>
            </a:r>
            <a:r>
              <a:rPr lang="ru-RU" dirty="0" err="1"/>
              <a:t>Wait</a:t>
            </a:r>
            <a:r>
              <a:rPr lang="ru-RU" dirty="0"/>
              <a:t>, остаются в очереди ожидания, пока не получат сигнала от метода </a:t>
            </a:r>
            <a:r>
              <a:rPr lang="ru-RU" dirty="0" err="1"/>
              <a:t>Monitor.Pulse</a:t>
            </a:r>
            <a:r>
              <a:rPr lang="ru-RU" dirty="0"/>
              <a:t> или </a:t>
            </a:r>
            <a:r>
              <a:rPr lang="ru-RU" dirty="0" err="1"/>
              <a:t>Monitor.PulseAll</a:t>
            </a:r>
            <a:r>
              <a:rPr lang="ru-RU" dirty="0"/>
              <a:t>, посланного владельцем блокировки. </a:t>
            </a:r>
            <a:endParaRPr lang="en-US" dirty="0"/>
          </a:p>
          <a:p>
            <a:r>
              <a:rPr lang="ru-RU" dirty="0"/>
              <a:t>Если метод </a:t>
            </a:r>
            <a:r>
              <a:rPr lang="ru-RU" dirty="0" err="1"/>
              <a:t>Monitor.Pulse</a:t>
            </a:r>
            <a:r>
              <a:rPr lang="ru-RU" dirty="0"/>
              <a:t> отправлен, поток, находящийся во главе очереди ожидания, получает сигнал и блокирует освободившийся объект.</a:t>
            </a:r>
          </a:p>
          <a:p>
            <a:pPr lvl="1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E8007-3599-4DF7-A2E4-2A773189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Monitor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6342455-C717-41B5-90F7-7C00370AD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552" y="1448803"/>
            <a:ext cx="5330534" cy="5134559"/>
          </a:xfr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DB5D22-BCA4-4CEF-BDF0-A8B80DBF89F6}"/>
              </a:ext>
            </a:extLst>
          </p:cNvPr>
          <p:cNvSpPr/>
          <p:nvPr/>
        </p:nvSpPr>
        <p:spPr>
          <a:xfrm>
            <a:off x="683568" y="2996952"/>
            <a:ext cx="2376264" cy="864096"/>
          </a:xfrm>
          <a:prstGeom prst="rect">
            <a:avLst/>
          </a:prstGeom>
          <a:solidFill>
            <a:schemeClr val="lt1">
              <a:alpha val="6000"/>
            </a:schemeClr>
          </a:solidFill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9A11FD-8CB5-4DE6-87AE-4EF1B562D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19" y="1628800"/>
            <a:ext cx="4076081" cy="9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41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Класс </a:t>
            </a:r>
            <a:r>
              <a:rPr lang="ru-RU" b="1" dirty="0" err="1"/>
              <a:t>Mutex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Класс </a:t>
            </a:r>
            <a:r>
              <a:rPr lang="ru-RU" dirty="0" err="1"/>
              <a:t>Mutex</a:t>
            </a:r>
            <a:r>
              <a:rPr lang="ru-RU" dirty="0"/>
              <a:t> (</a:t>
            </a:r>
            <a:r>
              <a:rPr lang="ru-RU" dirty="0" err="1"/>
              <a:t>mutual</a:t>
            </a:r>
            <a:r>
              <a:rPr lang="ru-RU" dirty="0"/>
              <a:t> </a:t>
            </a:r>
            <a:r>
              <a:rPr lang="ru-RU" dirty="0" err="1"/>
              <a:t>exclusion</a:t>
            </a:r>
            <a:r>
              <a:rPr lang="ru-RU" dirty="0"/>
              <a:t> — взаимное исключение или </a:t>
            </a:r>
            <a:r>
              <a:rPr lang="ru-RU" dirty="0" err="1"/>
              <a:t>мьютекс</a:t>
            </a:r>
            <a:r>
              <a:rPr lang="ru-RU" dirty="0"/>
              <a:t>) позволяет обеспечить синхронизацию среди множества процессов. </a:t>
            </a:r>
          </a:p>
          <a:p>
            <a:r>
              <a:rPr lang="ru-RU" dirty="0"/>
              <a:t>Класс </a:t>
            </a:r>
            <a:r>
              <a:rPr lang="ru-RU" dirty="0" err="1"/>
              <a:t>Mutex</a:t>
            </a:r>
            <a:r>
              <a:rPr lang="ru-RU" dirty="0"/>
              <a:t> является классом-оболочкой над соответствующим объектом ОС </a:t>
            </a:r>
            <a:r>
              <a:rPr lang="ru-RU" dirty="0" err="1"/>
              <a:t>Windows</a:t>
            </a:r>
            <a:r>
              <a:rPr lang="ru-RU" dirty="0"/>
              <a:t>. 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Создаем объект </a:t>
            </a:r>
            <a:r>
              <a:rPr lang="ru-RU" dirty="0" err="1"/>
              <a:t>мьютекса</a:t>
            </a:r>
            <a:r>
              <a:rPr lang="ru-RU" dirty="0"/>
              <a:t>: </a:t>
            </a:r>
            <a:r>
              <a:rPr lang="ru-RU" dirty="0" err="1"/>
              <a:t>Mutex</a:t>
            </a:r>
            <a:r>
              <a:rPr lang="ru-RU" dirty="0"/>
              <a:t> </a:t>
            </a:r>
            <a:r>
              <a:rPr lang="ru-RU" dirty="0" err="1"/>
              <a:t>mutexObj</a:t>
            </a:r>
            <a:r>
              <a:rPr lang="ru-RU" dirty="0"/>
              <a:t> =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Mutex</a:t>
            </a:r>
            <a:r>
              <a:rPr lang="ru-RU" dirty="0"/>
              <a:t>().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Метод </a:t>
            </a:r>
            <a:r>
              <a:rPr lang="ru-RU" dirty="0" err="1"/>
              <a:t>mutexObj.WaitOne</a:t>
            </a:r>
            <a:r>
              <a:rPr lang="ru-RU" dirty="0"/>
              <a:t>() приостанавливает выполнение потока до тех пор, пока не будет получен </a:t>
            </a:r>
            <a:r>
              <a:rPr lang="ru-RU" dirty="0" err="1"/>
              <a:t>мьютекс</a:t>
            </a:r>
            <a:r>
              <a:rPr lang="ru-RU" dirty="0"/>
              <a:t> </a:t>
            </a:r>
            <a:r>
              <a:rPr lang="ru-RU" dirty="0" err="1"/>
              <a:t>mutexObj</a:t>
            </a:r>
            <a:r>
              <a:rPr lang="ru-RU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После выполнения всех действий, когда </a:t>
            </a:r>
            <a:r>
              <a:rPr lang="ru-RU" dirty="0" err="1"/>
              <a:t>мьютекс</a:t>
            </a:r>
            <a:r>
              <a:rPr lang="ru-RU" dirty="0"/>
              <a:t> больше не нужен, поток освобождает его с помощью метода </a:t>
            </a:r>
            <a:r>
              <a:rPr lang="ru-RU" dirty="0" err="1"/>
              <a:t>mutexObj.ReleaseMutex</a:t>
            </a:r>
            <a:r>
              <a:rPr lang="ru-RU" dirty="0"/>
              <a:t>().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Таким образом, когда выполнение дойдет до вызова </a:t>
            </a:r>
            <a:r>
              <a:rPr lang="ru-RU" dirty="0" err="1"/>
              <a:t>mutexObj.WaitOne</a:t>
            </a:r>
            <a:r>
              <a:rPr lang="ru-RU" dirty="0"/>
              <a:t>(), поток будет ожидать, пока не освободится </a:t>
            </a:r>
            <a:r>
              <a:rPr lang="ru-RU" dirty="0" err="1"/>
              <a:t>мьютекс</a:t>
            </a:r>
            <a:r>
              <a:rPr lang="ru-RU" dirty="0"/>
              <a:t>. И после его получения продолжит выполнять свою работу.</a:t>
            </a:r>
          </a:p>
          <a:p>
            <a:r>
              <a:rPr lang="ru-RU" b="1" dirty="0" err="1"/>
              <a:t>Мьютексы</a:t>
            </a:r>
            <a:r>
              <a:rPr lang="ru-RU" b="1" dirty="0"/>
              <a:t> могут также применяться не только внутри одного процесса, но и между процессами. 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53E3C-2A1D-4FBD-B83E-59287A88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Блокировка с помощью класса </a:t>
            </a:r>
            <a:r>
              <a:rPr lang="en-US" sz="3600" dirty="0"/>
              <a:t>Mutex</a:t>
            </a:r>
            <a:endParaRPr lang="ru-RU" sz="36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B3221C1-9ECE-4D6C-B3DA-9A75D70DB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492" y="1700808"/>
            <a:ext cx="9102454" cy="328853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B96084-29D5-49C2-988D-F7BD28BB1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427" y="1446774"/>
            <a:ext cx="4076081" cy="9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07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8917B-6886-4AFF-A015-B850F7EE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Видимость изменений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2F57A1-E3A9-41BD-A983-6149E4B6A2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Кэширование переменных</a:t>
            </a:r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: каждое ядро имеет свой кэш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Оптимизация компилятора: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компилятор и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JIT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-компилятор могут переупорядочивать инструкции для оптимизации производительности</a:t>
            </a:r>
          </a:p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Оптимизация процессора </a:t>
            </a:r>
          </a:p>
          <a:p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D84FCAA-F591-4FDE-B2A4-3DC2CB8C6E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2903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4372A-69C8-426F-867A-A20046D5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Ключевое слово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в C#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B6E99-6911-47A9-B1F2-FA59EAC9A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модификатор в C#, который указывает компилятору и процессору, что значение поля может быть изменено несколькими потоками одновременно. </a:t>
            </a:r>
          </a:p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Если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два потока используют общую переменную, то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volatile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гарантирует, что когда один поток меняет значение, другой поток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обязательно увидит это изменение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br>
              <a:rPr lang="ru-RU" dirty="0">
                <a:solidFill>
                  <a:srgbClr val="81858C"/>
                </a:solidFill>
                <a:effectLst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242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6EC42-5297-40F8-B555-F461C796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volatile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55D6A21-2A29-40E9-B3EA-250CAF298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196752"/>
            <a:ext cx="7499176" cy="5640315"/>
          </a:xfrm>
        </p:spPr>
      </p:pic>
    </p:spTree>
    <p:extLst>
      <p:ext uri="{BB962C8B-B14F-4D97-AF65-F5344CB8AC3E}">
        <p14:creationId xmlns:p14="http://schemas.microsoft.com/office/powerpoint/2010/main" val="4082771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28CF7-D9B8-47BF-9CCC-AA5A08E5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Interlocked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81B89-CB38-4DAB-8F0B-87944F4C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Interlocked – </a:t>
            </a:r>
            <a:r>
              <a:rPr lang="ru-RU" dirty="0"/>
              <a:t>это статический класс, предоставляющий атомарные операции над простыми типами данных. Эти операции выполняются как одна непрерывная инструкция процессора, что позволяет обойтись без блокировок.</a:t>
            </a:r>
          </a:p>
          <a:p>
            <a:r>
              <a:rPr lang="ru-RU" dirty="0"/>
              <a:t>Методы:</a:t>
            </a:r>
          </a:p>
          <a:p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Interlocked.Increment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(ref _counter)</a:t>
            </a:r>
            <a:r>
              <a:rPr lang="ru-RU" dirty="0"/>
              <a:t> -</a:t>
            </a:r>
            <a:r>
              <a:rPr lang="en-US" dirty="0"/>
              <a:t> 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атомарный инкремент</a:t>
            </a:r>
            <a:endParaRPr lang="en-US" sz="1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Interlocked.Decrement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(ref _counter)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/>
              <a:t>– 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атомарный декремент</a:t>
            </a:r>
            <a:endParaRPr lang="en-US" sz="1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Interlocked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.Add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(ref _total, amount)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 атомарное сложение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Interlocked.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Exchange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(ref _value,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ru-RU" sz="1800" dirty="0"/>
              <a:t> – 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атомарный обмен</a:t>
            </a:r>
          </a:p>
          <a:p>
            <a:r>
              <a:rPr lang="ru-RU" sz="1800" dirty="0"/>
              <a:t>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Interlocked.Compare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Exchange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(ref _value, Value,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ru-RU" sz="1800" dirty="0"/>
              <a:t> – </a:t>
            </a:r>
            <a:r>
              <a:rPr lang="ru-RU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атомарное сравнение и обмен</a:t>
            </a:r>
          </a:p>
          <a:p>
            <a:endParaRPr lang="ru-RU" sz="1800" dirty="0"/>
          </a:p>
          <a:p>
            <a:endParaRPr lang="ru-RU" sz="1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304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9C7EC-0062-4614-9F77-6A95C851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31"/>
            <a:ext cx="8229600" cy="1143000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5BCF86E-1E38-4B96-809C-09F66E1CE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03" y="1209811"/>
            <a:ext cx="8600394" cy="2333370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589943-A674-4E7F-9DC8-B2A684A3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916832"/>
            <a:ext cx="4148159" cy="412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8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A086E-BF54-45A0-BC41-65C0C889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42B8C4-24F7-4F6E-A8E8-4D36AF220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417638"/>
            <a:ext cx="8856979" cy="215537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EDF473-2FFC-4B37-9039-99C8ECA33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3717032"/>
            <a:ext cx="5023228" cy="489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647C2-2A53-4BC2-B420-0F4D4C0B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FF7536B-4A53-4A61-BABE-04DCC566F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482365"/>
            <a:ext cx="8528910" cy="4034867"/>
          </a:xfrm>
        </p:spPr>
      </p:pic>
    </p:spTree>
    <p:extLst>
      <p:ext uri="{BB962C8B-B14F-4D97-AF65-F5344CB8AC3E}">
        <p14:creationId xmlns:p14="http://schemas.microsoft.com/office/powerpoint/2010/main" val="302918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</a:t>
            </a:r>
            <a:r>
              <a:rPr lang="ru-RU" b="1" dirty="0" err="1"/>
              <a:t>Semaphore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8784976" cy="3412976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Семафор</a:t>
            </a:r>
            <a:r>
              <a:rPr lang="ru-RU" dirty="0"/>
              <a:t> предоставляет одновременный доступ к общему ресурсу не одному, а нескольким потокам, т.е. семафор пригоден для синхронизации целого ряда ресурсов. Для доступа к ресурсу поток должен получить разрешение от семафора</a:t>
            </a:r>
          </a:p>
          <a:p>
            <a:r>
              <a:rPr lang="ru-RU" dirty="0"/>
              <a:t>Семафор управляет доступом к общему ресурсу, используя для этой цели </a:t>
            </a:r>
            <a:r>
              <a:rPr lang="ru-RU" b="1" dirty="0"/>
              <a:t>счетчик</a:t>
            </a:r>
            <a:r>
              <a:rPr lang="ru-RU" dirty="0"/>
              <a:t>. Если значение счетчика больше нуля, то доступ к ресурсу разрешен. А если это значение равно нулю, то доступ к ресурсу запрещен. </a:t>
            </a:r>
          </a:p>
          <a:p>
            <a:r>
              <a:rPr lang="ru-RU" dirty="0"/>
              <a:t>С помощью счетчика ведется подсчет количества разрешений. </a:t>
            </a:r>
          </a:p>
          <a:p>
            <a:r>
              <a:rPr lang="ru-RU" dirty="0"/>
              <a:t>Если создать семафор, одновременно разрешающий только один доступ, то такой семафор будет действовать как </a:t>
            </a:r>
            <a:r>
              <a:rPr lang="ru-RU" dirty="0" err="1"/>
              <a:t>мьютекс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5257800"/>
            <a:ext cx="403860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320EB-0318-4AAB-BE3A-658E704D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Класс </a:t>
            </a:r>
            <a:r>
              <a:rPr lang="ru-RU" b="1" dirty="0" err="1"/>
              <a:t>Semaphore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FBCBB-D50A-4603-83AC-1F4CEC2BEE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/>
              <a:t>Для работы с семафорами используются 2 примитива:</a:t>
            </a:r>
          </a:p>
          <a:p>
            <a:r>
              <a:rPr lang="en-US" dirty="0"/>
              <a:t>V</a:t>
            </a:r>
            <a:r>
              <a:rPr lang="ru-RU" dirty="0"/>
              <a:t>(</a:t>
            </a:r>
            <a:r>
              <a:rPr lang="en-US" dirty="0"/>
              <a:t>S</a:t>
            </a:r>
            <a:r>
              <a:rPr lang="ru-RU" dirty="0"/>
              <a:t>): </a:t>
            </a:r>
            <a:r>
              <a:rPr lang="en-US" dirty="0"/>
              <a:t>S</a:t>
            </a:r>
            <a:r>
              <a:rPr lang="ru-RU" dirty="0"/>
              <a:t>++ – переменная </a:t>
            </a:r>
            <a:r>
              <a:rPr lang="en-US" dirty="0"/>
              <a:t>S</a:t>
            </a:r>
            <a:r>
              <a:rPr lang="ru-RU" dirty="0"/>
              <a:t> (семафор) увеличивается на 1, во время выполнения этой операции другим потокам доступа к переменной </a:t>
            </a:r>
            <a:r>
              <a:rPr lang="en-US" dirty="0"/>
              <a:t>S</a:t>
            </a:r>
            <a:r>
              <a:rPr lang="ru-RU" dirty="0"/>
              <a:t> нет.  </a:t>
            </a:r>
          </a:p>
          <a:p>
            <a:r>
              <a:rPr lang="ru-RU" dirty="0"/>
              <a:t>Р(</a:t>
            </a:r>
            <a:r>
              <a:rPr lang="en-US" dirty="0"/>
              <a:t>S</a:t>
            </a:r>
            <a:r>
              <a:rPr lang="ru-RU" dirty="0"/>
              <a:t>): </a:t>
            </a:r>
            <a:r>
              <a:rPr lang="en-US" dirty="0"/>
              <a:t>S</a:t>
            </a:r>
            <a:r>
              <a:rPr lang="ru-RU" dirty="0"/>
              <a:t>-- – переменная </a:t>
            </a:r>
            <a:r>
              <a:rPr lang="en-US" dirty="0"/>
              <a:t>S</a:t>
            </a:r>
            <a:r>
              <a:rPr lang="ru-RU" dirty="0"/>
              <a:t> (семафор) уменьшается на 1, если это возможно. Если </a:t>
            </a:r>
            <a:r>
              <a:rPr lang="en-US" dirty="0"/>
              <a:t>S</a:t>
            </a:r>
            <a:r>
              <a:rPr lang="ru-RU" dirty="0"/>
              <a:t>==0, то поток, вызывающий операцию Р ждет, когда это уменьшения станет возможным.</a:t>
            </a:r>
            <a:endParaRPr lang="en-US" dirty="0"/>
          </a:p>
          <a:p>
            <a:r>
              <a:rPr lang="ru-RU" dirty="0"/>
              <a:t>Поток-писатель прежде всего выполняет операцию Р(е)и проверяет, есть ли пустые буферы. Если е==0, то он переходит в состояние ожидания. Если е&gt;0, то он уменьшает число свободных буферов и записывает данные в очередной свободный буфер. После чего увеличивает значение </a:t>
            </a:r>
            <a:r>
              <a:rPr lang="en-US" dirty="0"/>
              <a:t>f </a:t>
            </a:r>
            <a:r>
              <a:rPr lang="ru-RU" dirty="0"/>
              <a:t>операцией </a:t>
            </a:r>
            <a:r>
              <a:rPr lang="en-US" dirty="0"/>
              <a:t>V</a:t>
            </a:r>
            <a:r>
              <a:rPr lang="ru-RU" dirty="0"/>
              <a:t>(</a:t>
            </a:r>
            <a:r>
              <a:rPr lang="en-US" dirty="0"/>
              <a:t>f</a:t>
            </a:r>
            <a:r>
              <a:rPr lang="ru-RU" dirty="0"/>
              <a:t>). </a:t>
            </a:r>
          </a:p>
          <a:p>
            <a:r>
              <a:rPr lang="ru-RU" dirty="0"/>
              <a:t>Поток-читатель действует аналогично, но начинает работу с проверки занятых буферов. </a:t>
            </a:r>
          </a:p>
          <a:p>
            <a:r>
              <a:rPr lang="ru-RU" dirty="0"/>
              <a:t>Критическим ресурсом здесь является буферный пул, с которым могут работать столько потоков, сколько буферов в нем содержится.  </a:t>
            </a:r>
          </a:p>
          <a:p>
            <a:endParaRPr lang="ru-RU" dirty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71FEB8BF-23DF-48FB-AB2A-C448466D06CF}"/>
              </a:ext>
            </a:extLst>
          </p:cNvPr>
          <p:cNvGrpSpPr/>
          <p:nvPr/>
        </p:nvGrpSpPr>
        <p:grpSpPr>
          <a:xfrm>
            <a:off x="4916796" y="1538648"/>
            <a:ext cx="4119700" cy="3756296"/>
            <a:chOff x="4916796" y="1538648"/>
            <a:chExt cx="4119700" cy="375629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28443ED-D8B5-4462-9D84-1ACB80849362}"/>
                </a:ext>
              </a:extLst>
            </p:cNvPr>
            <p:cNvGrpSpPr/>
            <p:nvPr/>
          </p:nvGrpSpPr>
          <p:grpSpPr>
            <a:xfrm>
              <a:off x="6012160" y="2132856"/>
              <a:ext cx="2016224" cy="641087"/>
              <a:chOff x="5580112" y="2060848"/>
              <a:chExt cx="2016224" cy="641087"/>
            </a:xfrm>
          </p:grpSpPr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D7A22313-D926-4815-A081-9BCE7552AA6C}"/>
                  </a:ext>
                </a:extLst>
              </p:cNvPr>
              <p:cNvSpPr/>
              <p:nvPr/>
            </p:nvSpPr>
            <p:spPr>
              <a:xfrm>
                <a:off x="5580112" y="2060848"/>
                <a:ext cx="2016224" cy="21602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DC31703B-ACFE-4ED2-B1BA-270965ED7051}"/>
                  </a:ext>
                </a:extLst>
              </p:cNvPr>
              <p:cNvSpPr/>
              <p:nvPr/>
            </p:nvSpPr>
            <p:spPr>
              <a:xfrm>
                <a:off x="5580112" y="2276872"/>
                <a:ext cx="2016224" cy="21602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F051691B-F7AA-4252-A203-17E8E4481B1B}"/>
                  </a:ext>
                </a:extLst>
              </p:cNvPr>
              <p:cNvSpPr/>
              <p:nvPr/>
            </p:nvSpPr>
            <p:spPr>
              <a:xfrm>
                <a:off x="5580112" y="2485911"/>
                <a:ext cx="2016224" cy="21602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3227CE-C3F4-43FC-864B-3B8D3948AB68}"/>
                </a:ext>
              </a:extLst>
            </p:cNvPr>
            <p:cNvSpPr txBox="1"/>
            <p:nvPr/>
          </p:nvSpPr>
          <p:spPr>
            <a:xfrm>
              <a:off x="5878488" y="1538648"/>
              <a:ext cx="28083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Критическая секция</a:t>
              </a: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F86917A6-4B5B-47B7-B7B8-0C29CEA902A2}"/>
                </a:ext>
              </a:extLst>
            </p:cNvPr>
            <p:cNvSpPr/>
            <p:nvPr/>
          </p:nvSpPr>
          <p:spPr>
            <a:xfrm>
              <a:off x="4935116" y="2060848"/>
              <a:ext cx="504056" cy="3960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</a:t>
              </a:r>
              <a:endParaRPr lang="ru-RU" sz="160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D6C8D50F-C448-4354-96AF-4F244CBA3421}"/>
                </a:ext>
              </a:extLst>
            </p:cNvPr>
            <p:cNvSpPr/>
            <p:nvPr/>
          </p:nvSpPr>
          <p:spPr>
            <a:xfrm>
              <a:off x="8434772" y="2088294"/>
              <a:ext cx="504056" cy="3960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2" name="Стрелка: вправо 11">
              <a:extLst>
                <a:ext uri="{FF2B5EF4-FFF2-40B4-BE49-F238E27FC236}">
                  <a16:creationId xmlns:a16="http://schemas.microsoft.com/office/drawing/2014/main" id="{4E6ACECB-FE99-4DF5-8E0D-6F37BA36B40A}"/>
                </a:ext>
              </a:extLst>
            </p:cNvPr>
            <p:cNvSpPr/>
            <p:nvPr/>
          </p:nvSpPr>
          <p:spPr>
            <a:xfrm>
              <a:off x="5607157" y="2240868"/>
              <a:ext cx="271331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Стрелка: вправо 12">
              <a:extLst>
                <a:ext uri="{FF2B5EF4-FFF2-40B4-BE49-F238E27FC236}">
                  <a16:creationId xmlns:a16="http://schemas.microsoft.com/office/drawing/2014/main" id="{D57CA5B2-5F8B-43D4-BC7A-C78214C27004}"/>
                </a:ext>
              </a:extLst>
            </p:cNvPr>
            <p:cNvSpPr/>
            <p:nvPr/>
          </p:nvSpPr>
          <p:spPr>
            <a:xfrm>
              <a:off x="8095912" y="2240868"/>
              <a:ext cx="271331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Стрелка: вправо 15">
              <a:extLst>
                <a:ext uri="{FF2B5EF4-FFF2-40B4-BE49-F238E27FC236}">
                  <a16:creationId xmlns:a16="http://schemas.microsoft.com/office/drawing/2014/main" id="{6CCBACF4-B676-4441-8905-E26517D60512}"/>
                </a:ext>
              </a:extLst>
            </p:cNvPr>
            <p:cNvSpPr/>
            <p:nvPr/>
          </p:nvSpPr>
          <p:spPr>
            <a:xfrm>
              <a:off x="5607157" y="2476883"/>
              <a:ext cx="271331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Стрелка: вправо 16">
              <a:extLst>
                <a:ext uri="{FF2B5EF4-FFF2-40B4-BE49-F238E27FC236}">
                  <a16:creationId xmlns:a16="http://schemas.microsoft.com/office/drawing/2014/main" id="{1A8D56B9-F5A3-47D2-89B3-90261A731937}"/>
                </a:ext>
              </a:extLst>
            </p:cNvPr>
            <p:cNvSpPr/>
            <p:nvPr/>
          </p:nvSpPr>
          <p:spPr>
            <a:xfrm rot="19184656">
              <a:off x="5626815" y="2798562"/>
              <a:ext cx="271331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F28D67B-B100-4629-AEA9-BE51AEF0BFF1}"/>
                </a:ext>
              </a:extLst>
            </p:cNvPr>
            <p:cNvSpPr/>
            <p:nvPr/>
          </p:nvSpPr>
          <p:spPr>
            <a:xfrm>
              <a:off x="6228183" y="3068960"/>
              <a:ext cx="2798271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ru-RU" sz="1400" dirty="0"/>
                <a:t>1. Е=3, </a:t>
              </a:r>
              <a:r>
                <a:rPr lang="en-US" sz="1400" dirty="0"/>
                <a:t>F</a:t>
              </a:r>
              <a:r>
                <a:rPr lang="ru-RU" sz="1400" dirty="0"/>
                <a:t>=0</a:t>
              </a: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261B4A06-FD7A-44DE-8BEF-CF792E3EEE7B}"/>
                </a:ext>
              </a:extLst>
            </p:cNvPr>
            <p:cNvSpPr/>
            <p:nvPr/>
          </p:nvSpPr>
          <p:spPr>
            <a:xfrm>
              <a:off x="6233204" y="3320832"/>
              <a:ext cx="2798271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ru-RU" sz="1400" dirty="0"/>
                <a:t>2. Поток 1 пишет, т.к. Е</a:t>
              </a:r>
              <a:r>
                <a:rPr lang="en-US" sz="1400" dirty="0"/>
                <a:t>&gt;0, E--, F++</a:t>
              </a:r>
              <a:endParaRPr lang="ru-RU" sz="1400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83FC9BB4-778B-47B8-95CA-7A4227BE9F8C}"/>
                </a:ext>
              </a:extLst>
            </p:cNvPr>
            <p:cNvSpPr/>
            <p:nvPr/>
          </p:nvSpPr>
          <p:spPr>
            <a:xfrm>
              <a:off x="4916796" y="2487442"/>
              <a:ext cx="504056" cy="3960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  <a:endParaRPr lang="ru-RU" sz="1600" dirty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13CC03D5-952D-4D4F-A8AD-B75A5ABD1D04}"/>
                </a:ext>
              </a:extLst>
            </p:cNvPr>
            <p:cNvSpPr/>
            <p:nvPr/>
          </p:nvSpPr>
          <p:spPr>
            <a:xfrm>
              <a:off x="5137381" y="2902080"/>
              <a:ext cx="504056" cy="3960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  <a:endParaRPr lang="ru-RU" sz="1600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691F0982-7B0C-4252-A03D-7088342D1277}"/>
                </a:ext>
              </a:extLst>
            </p:cNvPr>
            <p:cNvSpPr/>
            <p:nvPr/>
          </p:nvSpPr>
          <p:spPr>
            <a:xfrm>
              <a:off x="6228184" y="3572704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3</a:t>
              </a:r>
              <a:r>
                <a:rPr lang="ru-RU" sz="1400" dirty="0"/>
                <a:t>. </a:t>
              </a:r>
              <a:r>
                <a:rPr lang="en-US" sz="1400" dirty="0"/>
                <a:t>E=2, F=1</a:t>
              </a:r>
              <a:endParaRPr lang="ru-RU" sz="1400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7AEDB3B-E3B6-49B1-BF93-CB32AB8C6CDA}"/>
                </a:ext>
              </a:extLst>
            </p:cNvPr>
            <p:cNvSpPr/>
            <p:nvPr/>
          </p:nvSpPr>
          <p:spPr>
            <a:xfrm>
              <a:off x="6228184" y="3789040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ru-RU" sz="1400" dirty="0"/>
                <a:t>4. Поток 2 читает, т.к. </a:t>
              </a:r>
              <a:r>
                <a:rPr lang="en-US" sz="1400" dirty="0"/>
                <a:t>F&gt;0, E++, F--</a:t>
              </a:r>
              <a:endParaRPr lang="ru-RU" sz="1400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EE2F8308-F587-4688-9ABC-61E4AA3F8169}"/>
                </a:ext>
              </a:extLst>
            </p:cNvPr>
            <p:cNvSpPr/>
            <p:nvPr/>
          </p:nvSpPr>
          <p:spPr>
            <a:xfrm>
              <a:off x="6233204" y="4005064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5</a:t>
              </a:r>
              <a:r>
                <a:rPr lang="ru-RU" sz="1400" dirty="0"/>
                <a:t>. </a:t>
              </a:r>
              <a:r>
                <a:rPr lang="en-US" sz="1400" dirty="0"/>
                <a:t>E=3, F=0</a:t>
              </a:r>
              <a:endParaRPr lang="ru-RU" sz="1400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7ED5135C-EB40-46C9-94BF-EEC6BA27B07C}"/>
                </a:ext>
              </a:extLst>
            </p:cNvPr>
            <p:cNvSpPr/>
            <p:nvPr/>
          </p:nvSpPr>
          <p:spPr>
            <a:xfrm>
              <a:off x="6233204" y="4245529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6</a:t>
              </a:r>
              <a:r>
                <a:rPr lang="ru-RU" sz="1400" dirty="0"/>
                <a:t>. Поток 3  пишет</a:t>
              </a:r>
              <a:r>
                <a:rPr lang="en-US" sz="1400" dirty="0"/>
                <a:t>,</a:t>
              </a:r>
              <a:r>
                <a:rPr lang="ru-RU" sz="1400" dirty="0"/>
                <a:t> т.к. Е</a:t>
              </a:r>
              <a:r>
                <a:rPr lang="en-US" sz="1400" dirty="0"/>
                <a:t>&gt;0, E--, F++</a:t>
              </a:r>
              <a:endParaRPr lang="ru-RU" sz="1400" dirty="0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9C87F549-D43E-4771-864A-DE218E4338F2}"/>
                </a:ext>
              </a:extLst>
            </p:cNvPr>
            <p:cNvSpPr/>
            <p:nvPr/>
          </p:nvSpPr>
          <p:spPr>
            <a:xfrm>
              <a:off x="6233204" y="4508808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6</a:t>
              </a:r>
              <a:r>
                <a:rPr lang="ru-RU" sz="1400" dirty="0"/>
                <a:t>. </a:t>
              </a:r>
              <a:r>
                <a:rPr lang="en-US" sz="1400" dirty="0"/>
                <a:t>E=2,F=1</a:t>
              </a:r>
              <a:endParaRPr lang="ru-RU" sz="1400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80A057BB-6109-4FB0-B018-9BBBCC80A664}"/>
                </a:ext>
              </a:extLst>
            </p:cNvPr>
            <p:cNvSpPr/>
            <p:nvPr/>
          </p:nvSpPr>
          <p:spPr>
            <a:xfrm>
              <a:off x="6233204" y="4775940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6</a:t>
              </a:r>
              <a:r>
                <a:rPr lang="ru-RU" sz="1400" dirty="0"/>
                <a:t>. Поток </a:t>
              </a:r>
              <a:r>
                <a:rPr lang="en-US" sz="1400" dirty="0"/>
                <a:t>4</a:t>
              </a:r>
              <a:r>
                <a:rPr lang="ru-RU" sz="1400" dirty="0"/>
                <a:t>  пишет</a:t>
              </a:r>
              <a:r>
                <a:rPr lang="en-US" sz="1400" dirty="0"/>
                <a:t>,</a:t>
              </a:r>
              <a:r>
                <a:rPr lang="ru-RU" sz="1400" dirty="0"/>
                <a:t> т.к. Е</a:t>
              </a:r>
              <a:r>
                <a:rPr lang="en-US" sz="1400" dirty="0"/>
                <a:t>&gt;0, E--, F++</a:t>
              </a:r>
              <a:endParaRPr lang="ru-RU" sz="1400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91DB3C8C-00AD-46ED-8B8F-1B121098531F}"/>
                </a:ext>
              </a:extLst>
            </p:cNvPr>
            <p:cNvSpPr/>
            <p:nvPr/>
          </p:nvSpPr>
          <p:spPr>
            <a:xfrm>
              <a:off x="6233204" y="5043072"/>
              <a:ext cx="2803292" cy="2518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/>
                <a:t>6</a:t>
              </a:r>
              <a:r>
                <a:rPr lang="ru-RU" sz="1400" dirty="0"/>
                <a:t>. </a:t>
              </a:r>
              <a:r>
                <a:rPr lang="en-US" sz="1400" dirty="0"/>
                <a:t>E=1, F=2</a:t>
              </a:r>
              <a:endParaRPr lang="ru-RU" sz="14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D17288E-65EC-4D4D-A81C-D2ABD77DAF3A}"/>
              </a:ext>
            </a:extLst>
          </p:cNvPr>
          <p:cNvSpPr txBox="1"/>
          <p:nvPr/>
        </p:nvSpPr>
        <p:spPr>
          <a:xfrm>
            <a:off x="4648202" y="547983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Е=0, то писать нельзя, Если </a:t>
            </a:r>
            <a:r>
              <a:rPr lang="en-US" dirty="0"/>
              <a:t>F=0</a:t>
            </a:r>
            <a:r>
              <a:rPr lang="ru-RU" dirty="0"/>
              <a:t>, то читать нельзя</a:t>
            </a:r>
          </a:p>
        </p:txBody>
      </p:sp>
    </p:spTree>
    <p:extLst>
      <p:ext uri="{BB962C8B-B14F-4D97-AF65-F5344CB8AC3E}">
        <p14:creationId xmlns:p14="http://schemas.microsoft.com/office/powerpoint/2010/main" val="2787790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7ABD9-DBC9-4AA1-9C78-6EF14B84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Семафор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25D63A-330C-45B9-8F08-5DA95AB2D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1700808"/>
            <a:ext cx="7848872" cy="4996716"/>
          </a:xfrm>
          <a:prstGeom prst="rect">
            <a:avLst/>
          </a:prstGeom>
        </p:spPr>
      </p:pic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AAF3FC48-23ED-4CA8-9D51-6302840DB6E0}"/>
              </a:ext>
            </a:extLst>
          </p:cNvPr>
          <p:cNvSpPr/>
          <p:nvPr/>
        </p:nvSpPr>
        <p:spPr>
          <a:xfrm>
            <a:off x="6640876" y="2610649"/>
            <a:ext cx="1819556" cy="504056"/>
          </a:xfrm>
          <a:prstGeom prst="wedgeRectCallout">
            <a:avLst>
              <a:gd name="adj1" fmla="val -68460"/>
              <a:gd name="adj2" fmla="val 600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S=0=&gt;</a:t>
            </a:r>
            <a:r>
              <a:rPr lang="ru-RU" dirty="0"/>
              <a:t> ресурс заблокирован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93900C2C-B5D6-47F6-94F3-2EB5A557E8B5}"/>
              </a:ext>
            </a:extLst>
          </p:cNvPr>
          <p:cNvSpPr/>
          <p:nvPr/>
        </p:nvSpPr>
        <p:spPr>
          <a:xfrm>
            <a:off x="6676880" y="4024546"/>
            <a:ext cx="1819556" cy="504056"/>
          </a:xfrm>
          <a:prstGeom prst="wedgeRectCallout">
            <a:avLst>
              <a:gd name="adj1" fmla="val -69148"/>
              <a:gd name="adj2" fmla="val 3267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S=</a:t>
            </a:r>
            <a:r>
              <a:rPr lang="ru-RU" dirty="0"/>
              <a:t>1</a:t>
            </a:r>
            <a:r>
              <a:rPr lang="en-US" dirty="0"/>
              <a:t>=&gt;</a:t>
            </a:r>
            <a:r>
              <a:rPr lang="ru-RU" dirty="0"/>
              <a:t> ресурс разблокирован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80813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C2CA9-EEDE-41AC-AE7B-E0DDAA8F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Синхронизация с помощью семафора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521A3FC7-757E-4E08-A44F-6CF122D0A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592" y="1453233"/>
            <a:ext cx="6768752" cy="5109601"/>
          </a:xfrm>
        </p:spPr>
      </p:pic>
      <p:sp>
        <p:nvSpPr>
          <p:cNvPr id="13" name="Облачко с текстом: прямоугольное 12">
            <a:extLst>
              <a:ext uri="{FF2B5EF4-FFF2-40B4-BE49-F238E27FC236}">
                <a16:creationId xmlns:a16="http://schemas.microsoft.com/office/drawing/2014/main" id="{E7060259-BC04-46B0-B895-4DF5F0814ECB}"/>
              </a:ext>
            </a:extLst>
          </p:cNvPr>
          <p:cNvSpPr/>
          <p:nvPr/>
        </p:nvSpPr>
        <p:spPr>
          <a:xfrm>
            <a:off x="5220072" y="1438962"/>
            <a:ext cx="3600400" cy="1990038"/>
          </a:xfrm>
          <a:prstGeom prst="wedgeRectCallout">
            <a:avLst>
              <a:gd name="adj1" fmla="val -64493"/>
              <a:gd name="adj2" fmla="val -233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какому числу потоков изначально будет доступен семафор;</a:t>
            </a:r>
          </a:p>
          <a:p>
            <a:pPr algn="ctr"/>
            <a:r>
              <a:rPr lang="ru-RU" dirty="0" err="1"/>
              <a:t>какоe</a:t>
            </a:r>
            <a:r>
              <a:rPr lang="ru-RU" dirty="0"/>
              <a:t> максимальное число потоков будет использовать данный семафор</a:t>
            </a:r>
          </a:p>
        </p:txBody>
      </p:sp>
    </p:spTree>
    <p:extLst>
      <p:ext uri="{BB962C8B-B14F-4D97-AF65-F5344CB8AC3E}">
        <p14:creationId xmlns:p14="http://schemas.microsoft.com/office/powerpoint/2010/main" val="19249779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C2CA9-EEDE-41AC-AE7B-E0DDAA8F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Синхронизация с помощью семафора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549B6F3-4823-4820-AC77-FB6D0ED31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034" y="2411760"/>
            <a:ext cx="5430812" cy="309634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FBE219-3B03-4DA5-A1BC-072EEA4F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539" y="1556792"/>
            <a:ext cx="2974427" cy="4926224"/>
          </a:xfrm>
          <a:prstGeom prst="rect">
            <a:avLst/>
          </a:prstGeom>
        </p:spPr>
      </p:pic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BC6BEFFB-1A24-4039-932A-370DBDEC6704}"/>
              </a:ext>
            </a:extLst>
          </p:cNvPr>
          <p:cNvSpPr/>
          <p:nvPr/>
        </p:nvSpPr>
        <p:spPr>
          <a:xfrm>
            <a:off x="3188540" y="1408212"/>
            <a:ext cx="2376264" cy="576064"/>
          </a:xfrm>
          <a:prstGeom prst="wedgeRectCallout">
            <a:avLst>
              <a:gd name="adj1" fmla="val -24733"/>
              <a:gd name="adj2" fmla="val 28772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5 читателей</a:t>
            </a:r>
          </a:p>
        </p:txBody>
      </p:sp>
    </p:spTree>
    <p:extLst>
      <p:ext uri="{BB962C8B-B14F-4D97-AF65-F5344CB8AC3E}">
        <p14:creationId xmlns:p14="http://schemas.microsoft.com/office/powerpoint/2010/main" val="33550950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Простейшие методы блокировки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Конструкция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Доступность из других  процессов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Скорость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</a:t>
                      </a:r>
                      <a:r>
                        <a:rPr lang="ru-RU" dirty="0"/>
                        <a:t>/</a:t>
                      </a:r>
                      <a:r>
                        <a:rPr lang="en-US" dirty="0"/>
                        <a:t>Monitor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Гарантирует, что только один поток может получить доступ к ресурсу или секции кода.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Mutex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Гарантирует, что только один поток может получить доступ к ресурсу или секции кода.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Semaphor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Гарантирует, что не более заданного числа потоков может получить доступ к ресурсу или секции кода.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84EBE-9F48-4569-9EF6-50022392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Пул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2182B6-477C-42AB-8154-A238AA28E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Пул потоков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ThreadPool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набор заранее созданных потоков, которые можно многократно использовать для выполнения задач.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Потоки в пуле не уничтожаются после выполнения задачи, а возвращаются обратно в пул для следующих задач.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2535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0D612-BEB7-4A8D-807D-EBC722EA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Пул потоков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D0101BE-08BD-4F15-8975-329F612C2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3568" y="1417638"/>
            <a:ext cx="8328404" cy="4690710"/>
          </a:xfrm>
        </p:spPr>
      </p:pic>
    </p:spTree>
    <p:extLst>
      <p:ext uri="{BB962C8B-B14F-4D97-AF65-F5344CB8AC3E}">
        <p14:creationId xmlns:p14="http://schemas.microsoft.com/office/powerpoint/2010/main" val="983910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9E343-6AE3-4D26-9EE3-0509D1E3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Task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FF893E-DD85-404B-969E-3EB6BE27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Задача – это отдельная продолжительная операция (абстракция асинхронной операции).</a:t>
            </a:r>
          </a:p>
          <a:p>
            <a:r>
              <a:rPr lang="ru-RU" dirty="0"/>
              <a:t>Библиотека параллельных задач TPL (Task </a:t>
            </a:r>
            <a:r>
              <a:rPr lang="ru-RU" dirty="0" err="1"/>
              <a:t>Parallel</a:t>
            </a:r>
            <a:r>
              <a:rPr lang="ru-RU" dirty="0"/>
              <a:t> Library) располагается в пространстве имен </a:t>
            </a:r>
            <a:r>
              <a:rPr lang="ru-RU" dirty="0" err="1"/>
              <a:t>System.Threading.Tasks</a:t>
            </a:r>
            <a:r>
              <a:rPr lang="ru-RU" dirty="0"/>
              <a:t>. </a:t>
            </a:r>
          </a:p>
          <a:p>
            <a:r>
              <a:rPr lang="ru-RU" dirty="0"/>
              <a:t>Класс Task описывает отдельную задачу, которая запускается асинхронно в одном из потоков (обычно в </a:t>
            </a:r>
            <a:r>
              <a:rPr lang="en-US" dirty="0"/>
              <a:t>Main)</a:t>
            </a:r>
            <a:r>
              <a:rPr lang="ru-RU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534345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59C3C-8D7D-4F66-8A00-B9E07A1D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создания объектов </a:t>
            </a:r>
            <a:r>
              <a:rPr lang="en-US" dirty="0"/>
              <a:t>Task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5B3F98-8353-4F96-99DF-26C18178A764}"/>
              </a:ext>
            </a:extLst>
          </p:cNvPr>
          <p:cNvSpPr txBox="1"/>
          <p:nvPr/>
        </p:nvSpPr>
        <p:spPr>
          <a:xfrm>
            <a:off x="251520" y="162880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2EEEFC-A6CD-4063-AF76-38F67856ABB3}"/>
              </a:ext>
            </a:extLst>
          </p:cNvPr>
          <p:cNvSpPr txBox="1"/>
          <p:nvPr/>
        </p:nvSpPr>
        <p:spPr>
          <a:xfrm>
            <a:off x="283801" y="29249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65650-94A8-4B36-93D4-4D090C315CEE}"/>
              </a:ext>
            </a:extLst>
          </p:cNvPr>
          <p:cNvSpPr txBox="1"/>
          <p:nvPr/>
        </p:nvSpPr>
        <p:spPr>
          <a:xfrm>
            <a:off x="283801" y="361226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</a:t>
            </a:r>
            <a:endParaRPr lang="ru-RU" dirty="0"/>
          </a:p>
        </p:txBody>
      </p:sp>
      <p:pic>
        <p:nvPicPr>
          <p:cNvPr id="26" name="Объект 25">
            <a:extLst>
              <a:ext uri="{FF2B5EF4-FFF2-40B4-BE49-F238E27FC236}">
                <a16:creationId xmlns:a16="http://schemas.microsoft.com/office/drawing/2014/main" id="{6E5FDA51-875F-47F5-88B6-71C1486A7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5828" y="1641226"/>
            <a:ext cx="8729755" cy="3515966"/>
          </a:xfrm>
        </p:spPr>
      </p:pic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77A3A6FD-A64A-4E8D-BCE3-F23BAFB3DF12}"/>
              </a:ext>
            </a:extLst>
          </p:cNvPr>
          <p:cNvSpPr/>
          <p:nvPr/>
        </p:nvSpPr>
        <p:spPr>
          <a:xfrm>
            <a:off x="6948263" y="1124744"/>
            <a:ext cx="1943073" cy="1143000"/>
          </a:xfrm>
          <a:prstGeom prst="wedgeRectCallout">
            <a:avLst>
              <a:gd name="adj1" fmla="val -91766"/>
              <a:gd name="adj2" fmla="val 48927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 – делегат </a:t>
            </a:r>
            <a:r>
              <a:rPr lang="en-US" dirty="0"/>
              <a:t>Action</a:t>
            </a:r>
            <a:r>
              <a:rPr lang="ru-RU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D27793-B587-481B-83DA-E836C2781DF3}"/>
              </a:ext>
            </a:extLst>
          </p:cNvPr>
          <p:cNvSpPr txBox="1"/>
          <p:nvPr/>
        </p:nvSpPr>
        <p:spPr>
          <a:xfrm>
            <a:off x="1187624" y="5673674"/>
            <a:ext cx="7272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умолчанию задачи запускаются асинхронно. </a:t>
            </a:r>
            <a:endParaRPr lang="ru-RU" dirty="0"/>
          </a:p>
        </p:txBody>
      </p:sp>
      <p:sp>
        <p:nvSpPr>
          <p:cNvPr id="29" name="Облачко с текстом: прямоугольное 28">
            <a:extLst>
              <a:ext uri="{FF2B5EF4-FFF2-40B4-BE49-F238E27FC236}">
                <a16:creationId xmlns:a16="http://schemas.microsoft.com/office/drawing/2014/main" id="{02988F3A-A5D6-4A79-B241-5C09D5CBA344}"/>
              </a:ext>
            </a:extLst>
          </p:cNvPr>
          <p:cNvSpPr/>
          <p:nvPr/>
        </p:nvSpPr>
        <p:spPr>
          <a:xfrm>
            <a:off x="6978812" y="2341499"/>
            <a:ext cx="1943073" cy="1143000"/>
          </a:xfrm>
          <a:prstGeom prst="wedgeRectCallout">
            <a:avLst>
              <a:gd name="adj1" fmla="val -91766"/>
              <a:gd name="adj2" fmla="val 48927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Используется статический метод</a:t>
            </a:r>
            <a:r>
              <a:rPr lang="en-US" dirty="0"/>
              <a:t> </a:t>
            </a:r>
            <a:r>
              <a:rPr lang="en-US" dirty="0" err="1"/>
              <a:t>StartNew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6CD66631-BF9B-4D89-8638-C97DCE4EA313}"/>
              </a:ext>
            </a:extLst>
          </p:cNvPr>
          <p:cNvSpPr/>
          <p:nvPr/>
        </p:nvSpPr>
        <p:spPr>
          <a:xfrm>
            <a:off x="6978812" y="4900006"/>
            <a:ext cx="1943073" cy="1143000"/>
          </a:xfrm>
          <a:prstGeom prst="wedgeRectCallout">
            <a:avLst>
              <a:gd name="adj1" fmla="val -95634"/>
              <a:gd name="adj2" fmla="val -84772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Используется статический метод</a:t>
            </a:r>
            <a:r>
              <a:rPr lang="en-US" dirty="0"/>
              <a:t> Run()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787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2FFEF-B7DC-471E-B77A-53F4A1CA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свойства класса </a:t>
            </a:r>
            <a:r>
              <a:rPr lang="en-US" dirty="0"/>
              <a:t>Task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3E678-5A17-4D71-96E5-AFA46294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500" dirty="0" err="1"/>
              <a:t>AsyncState</a:t>
            </a:r>
            <a:r>
              <a:rPr lang="ru-RU" sz="3500" dirty="0"/>
              <a:t>: возвращает объект состояния задачи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500" dirty="0" err="1"/>
              <a:t>CurrentId</a:t>
            </a:r>
            <a:r>
              <a:rPr lang="ru-RU" sz="3500" dirty="0"/>
              <a:t>: возвращает идентификатор текущей задачи (статическое свойство)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500" dirty="0" err="1"/>
              <a:t>Id</a:t>
            </a:r>
            <a:r>
              <a:rPr lang="ru-RU" sz="3500" dirty="0"/>
              <a:t>: возвращает идентификатор текущей задачи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500" dirty="0" err="1"/>
              <a:t>Exception</a:t>
            </a:r>
            <a:r>
              <a:rPr lang="ru-RU" sz="3500" dirty="0"/>
              <a:t>: возвращает объект исключения, возникшего при выполнении задачи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500" dirty="0" err="1"/>
              <a:t>Status</a:t>
            </a:r>
            <a:r>
              <a:rPr lang="ru-RU" sz="3500" dirty="0"/>
              <a:t>: возвращает статус задачи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500" dirty="0" err="1"/>
              <a:t>IsCompleted</a:t>
            </a:r>
            <a:r>
              <a:rPr lang="en-US" sz="3500" dirty="0"/>
              <a:t>: </a:t>
            </a:r>
            <a:r>
              <a:rPr lang="ru-RU" sz="3500" dirty="0"/>
              <a:t>возвращает </a:t>
            </a:r>
            <a:r>
              <a:rPr lang="en-US" sz="3500" dirty="0"/>
              <a:t>true, </a:t>
            </a:r>
            <a:r>
              <a:rPr lang="ru-RU" sz="3500" dirty="0"/>
              <a:t>если задача завершена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500" dirty="0" err="1"/>
              <a:t>IsCanceled</a:t>
            </a:r>
            <a:r>
              <a:rPr lang="en-US" sz="3500" dirty="0"/>
              <a:t>: </a:t>
            </a:r>
            <a:r>
              <a:rPr lang="ru-RU" sz="3500" dirty="0"/>
              <a:t>возвращает </a:t>
            </a:r>
            <a:r>
              <a:rPr lang="en-US" sz="3500" dirty="0"/>
              <a:t>true, </a:t>
            </a:r>
            <a:r>
              <a:rPr lang="ru-RU" sz="3500" dirty="0"/>
              <a:t>если задача была отменена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500" dirty="0" err="1"/>
              <a:t>IsFaulted</a:t>
            </a:r>
            <a:r>
              <a:rPr lang="en-US" sz="3500" dirty="0"/>
              <a:t>: </a:t>
            </a:r>
            <a:r>
              <a:rPr lang="ru-RU" sz="3500" dirty="0"/>
              <a:t>возвращает </a:t>
            </a:r>
            <a:r>
              <a:rPr lang="en-US" sz="3500" dirty="0"/>
              <a:t>true, </a:t>
            </a:r>
            <a:r>
              <a:rPr lang="ru-RU" sz="3500" dirty="0"/>
              <a:t>если задача завершилась при возникновении исключения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500" dirty="0" err="1"/>
              <a:t>IsCompletedSuccessfully</a:t>
            </a:r>
            <a:r>
              <a:rPr lang="en-US" sz="3500" dirty="0"/>
              <a:t>: </a:t>
            </a:r>
            <a:r>
              <a:rPr lang="ru-RU" sz="3500" dirty="0"/>
              <a:t>возвращает </a:t>
            </a:r>
            <a:r>
              <a:rPr lang="en-US" sz="3500" dirty="0"/>
              <a:t>true, </a:t>
            </a:r>
            <a:r>
              <a:rPr lang="ru-RU" sz="3500" dirty="0"/>
              <a:t>если задача завершилась успешно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48827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019EE-89E3-4C3E-986B-8169C2A2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A9CB3FC-626D-46C5-9E51-891D5CF56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9615" y="1227474"/>
            <a:ext cx="8229600" cy="440305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128CE9-F1F2-4887-BCCA-E245AE69DA1A}"/>
              </a:ext>
            </a:extLst>
          </p:cNvPr>
          <p:cNvSpPr txBox="1"/>
          <p:nvPr/>
        </p:nvSpPr>
        <p:spPr>
          <a:xfrm>
            <a:off x="736221" y="5630525"/>
            <a:ext cx="32396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Чтобы приложение ожидало завершения задачи, можно использовать метод 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объекта Task</a:t>
            </a:r>
            <a:endParaRPr lang="ru-RU" sz="1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852C89-8B00-426D-8722-4C96ECB54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5431908"/>
            <a:ext cx="4633362" cy="12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011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00DDD-921F-4396-95A7-FAE63135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DD3908-FF1A-41F5-9406-E18DA30AE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9111" y="1317638"/>
            <a:ext cx="7710767" cy="2747027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EDCE7C-FB3E-4F34-AF7A-08F685A39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60" y="4680501"/>
            <a:ext cx="7128792" cy="6866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91DB72-BA3D-4A0B-A61F-5986DE1A76F0}"/>
              </a:ext>
            </a:extLst>
          </p:cNvPr>
          <p:cNvSpPr txBox="1"/>
          <p:nvPr/>
        </p:nvSpPr>
        <p:spPr>
          <a:xfrm>
            <a:off x="971600" y="4181939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Или так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96E591-F411-4C91-9384-40EAE73DD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5930431"/>
            <a:ext cx="6546503" cy="686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E31F25-EA5F-403E-8D7B-144C14B0B5C8}"/>
              </a:ext>
            </a:extLst>
          </p:cNvPr>
          <p:cNvSpPr txBox="1"/>
          <p:nvPr/>
        </p:nvSpPr>
        <p:spPr>
          <a:xfrm>
            <a:off x="971600" y="5536697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Или так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DCD635-8769-4AC3-B67D-ED338944B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0" y="1849787"/>
            <a:ext cx="3040643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462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CDE43-DA2B-4BEB-9652-6B641164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Возвращение результатов из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C12013-18EA-42D4-8DBB-F4A45476C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4"/>
          </a:xfrm>
        </p:spPr>
        <p:txBody>
          <a:bodyPr/>
          <a:lstStyle/>
          <a:p>
            <a:r>
              <a:rPr lang="ru-RU" dirty="0"/>
              <a:t>Используется обобщенный класс </a:t>
            </a:r>
            <a:r>
              <a:rPr lang="en-US" dirty="0"/>
              <a:t>Task&lt;T&gt;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2898F4-5903-491A-8B9A-08434157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7428"/>
            <a:ext cx="5060352" cy="43539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2FF97D-BC8A-4ED3-81BB-BA31E53DE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2564904"/>
            <a:ext cx="340621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53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B73AC-0589-4C59-94E6-9C217244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выполнение задач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6BFB330-9C0B-4A5E-83DE-1AD3EBC50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4718" y="1628800"/>
            <a:ext cx="6032567" cy="452596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C5BCDC-8F34-4096-875C-E9E2C55AE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060848"/>
            <a:ext cx="2818656" cy="19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96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B73AC-0589-4C59-94E6-9C217244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выполнение задач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84EDAF9-181B-42F2-AC80-3743A5C5C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504" y="1439892"/>
            <a:ext cx="7467102" cy="4525963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8FE68AC-029B-4F41-A999-8E8FD299B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666" y="2177033"/>
            <a:ext cx="2615880" cy="24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103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C6EFF-C0B9-464C-956D-F92F3500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выполнение задач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58FEE64D-DAF3-4217-98BA-F3FA5E66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560" y="1539076"/>
            <a:ext cx="6957663" cy="1889924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45AD6C-FF03-43F1-A3A0-7B6CFB829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3429000"/>
            <a:ext cx="1867062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912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E5490-A92C-4B7E-91B2-2DF828B8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программирование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DFA59-8592-472D-BBEF-4CC030DC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Программа может выполнять такие операции, которые могут занять продолжительное время, например, обращение к сетевым ресурсам, чтение-запись файлов, обращение к базе данных и т.д. </a:t>
            </a:r>
          </a:p>
          <a:p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Асинхронность 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позволяет вынести отдельные задачи из основного потока в специальные </a:t>
            </a:r>
            <a:r>
              <a:rPr lang="ru-RU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асинхронные методы. 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Главный поток освобождается от выполнения длительных операций, позволяя основной программе продолжать свою работу. 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Асинхронная операция выполняется в фоновом режиме. </a:t>
            </a:r>
          </a:p>
        </p:txBody>
      </p:sp>
    </p:spTree>
    <p:extLst>
      <p:ext uri="{BB962C8B-B14F-4D97-AF65-F5344CB8AC3E}">
        <p14:creationId xmlns:p14="http://schemas.microsoft.com/office/powerpoint/2010/main" val="689003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A32F86-9A8A-4FED-A681-B1C3D6D4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программирование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0E01B-9AAC-4C7E-A429-060CBA8A5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700" dirty="0"/>
              <a:t>В заголовке метода используется модификатор </a:t>
            </a:r>
            <a:r>
              <a:rPr lang="ru-RU" sz="2700" dirty="0" err="1"/>
              <a:t>async</a:t>
            </a:r>
            <a:endParaRPr lang="ru-RU" sz="2700" dirty="0"/>
          </a:p>
          <a:p>
            <a:r>
              <a:rPr lang="ru-RU" sz="2700" dirty="0"/>
              <a:t>Метод содержит одно или несколько выражений </a:t>
            </a:r>
            <a:r>
              <a:rPr lang="ru-RU" sz="2700" dirty="0" err="1"/>
              <a:t>await</a:t>
            </a:r>
            <a:endParaRPr lang="ru-RU" sz="2700" dirty="0"/>
          </a:p>
          <a:p>
            <a:r>
              <a:rPr lang="ru-RU" sz="2700" dirty="0"/>
              <a:t>Метод возвращает:</a:t>
            </a:r>
          </a:p>
          <a:p>
            <a:pPr lvl="1"/>
            <a:r>
              <a:rPr lang="en-US" sz="2700" dirty="0"/>
              <a:t>void</a:t>
            </a:r>
          </a:p>
          <a:p>
            <a:pPr lvl="1"/>
            <a:r>
              <a:rPr lang="en-US" sz="2700" dirty="0"/>
              <a:t>Task</a:t>
            </a:r>
          </a:p>
          <a:p>
            <a:pPr lvl="1"/>
            <a:r>
              <a:rPr lang="en-US" sz="2700" dirty="0"/>
              <a:t>Task&lt;T&gt;</a:t>
            </a:r>
          </a:p>
          <a:p>
            <a:pPr lvl="1"/>
            <a:r>
              <a:rPr lang="en-US" sz="2700" dirty="0" err="1"/>
              <a:t>ValueTask</a:t>
            </a:r>
            <a:r>
              <a:rPr lang="en-US" sz="2700" dirty="0"/>
              <a:t>&lt;T&gt;</a:t>
            </a:r>
          </a:p>
          <a:p>
            <a:r>
              <a:rPr lang="ru-RU" sz="2700" dirty="0"/>
              <a:t>Асинхронный метод не может определять параметры с модификаторами </a:t>
            </a:r>
            <a:r>
              <a:rPr lang="ru-RU" sz="2700" dirty="0" err="1"/>
              <a:t>out</a:t>
            </a:r>
            <a:r>
              <a:rPr lang="ru-RU" sz="2700" dirty="0"/>
              <a:t>, </a:t>
            </a:r>
            <a:r>
              <a:rPr lang="ru-RU" sz="2700" dirty="0" err="1"/>
              <a:t>ref</a:t>
            </a:r>
            <a:r>
              <a:rPr lang="ru-RU" sz="2700" dirty="0"/>
              <a:t> и </a:t>
            </a:r>
            <a:r>
              <a:rPr lang="ru-RU" sz="2700" dirty="0" err="1"/>
              <a:t>in</a:t>
            </a:r>
            <a:r>
              <a:rPr lang="ru-RU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403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82C6-A722-4CE5-A446-779E1200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программирование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8AD50C5-9671-405E-8CEF-4B57EC9A4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17638"/>
            <a:ext cx="7247248" cy="3619814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B648D97-6296-4325-A709-2A46F4F25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1" y="1928401"/>
            <a:ext cx="3360186" cy="2281917"/>
          </a:xfrm>
          <a:prstGeom prst="rect">
            <a:avLst/>
          </a:prstGeom>
        </p:spPr>
      </p:pic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EA00DDB1-8AED-4D42-A7C7-57E3ACCB9962}"/>
              </a:ext>
            </a:extLst>
          </p:cNvPr>
          <p:cNvSpPr/>
          <p:nvPr/>
        </p:nvSpPr>
        <p:spPr>
          <a:xfrm>
            <a:off x="6236599" y="1156749"/>
            <a:ext cx="2450201" cy="449637"/>
          </a:xfrm>
          <a:prstGeom prst="wedgeRectCallout">
            <a:avLst>
              <a:gd name="adj1" fmla="val -120485"/>
              <a:gd name="adj2" fmla="val -5007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Суффикс </a:t>
            </a:r>
            <a:r>
              <a:rPr lang="en-US" dirty="0"/>
              <a:t>Async</a:t>
            </a:r>
            <a:endParaRPr lang="ru-RU" dirty="0"/>
          </a:p>
        </p:txBody>
      </p:sp>
      <p:sp>
        <p:nvSpPr>
          <p:cNvPr id="13" name="Облачко с текстом: прямоугольное 12">
            <a:extLst>
              <a:ext uri="{FF2B5EF4-FFF2-40B4-BE49-F238E27FC236}">
                <a16:creationId xmlns:a16="http://schemas.microsoft.com/office/drawing/2014/main" id="{91BE3DC5-1465-4178-8A3A-C78B8458FE12}"/>
              </a:ext>
            </a:extLst>
          </p:cNvPr>
          <p:cNvSpPr/>
          <p:nvPr/>
        </p:nvSpPr>
        <p:spPr>
          <a:xfrm>
            <a:off x="6743727" y="2024166"/>
            <a:ext cx="2148753" cy="766544"/>
          </a:xfrm>
          <a:prstGeom prst="wedgeRectCallout">
            <a:avLst>
              <a:gd name="adj1" fmla="val -100001"/>
              <a:gd name="adj2" fmla="val -14841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Задержка 3с</a:t>
            </a:r>
            <a:r>
              <a:rPr lang="en-US" dirty="0"/>
              <a:t> </a:t>
            </a:r>
            <a:r>
              <a:rPr lang="ru-RU" dirty="0"/>
              <a:t>при выводе каждого имени</a:t>
            </a:r>
          </a:p>
        </p:txBody>
      </p:sp>
    </p:spTree>
    <p:extLst>
      <p:ext uri="{BB962C8B-B14F-4D97-AF65-F5344CB8AC3E}">
        <p14:creationId xmlns:p14="http://schemas.microsoft.com/office/powerpoint/2010/main" val="1277658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456EA-7B93-41BC-9A53-89BAE780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программирование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FDA449E-4AEB-428A-A4C8-E171E1BB1A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7250" y="1600200"/>
            <a:ext cx="4038600" cy="2535179"/>
          </a:xfrm>
        </p:spPr>
      </p:pic>
      <p:pic>
        <p:nvPicPr>
          <p:cNvPr id="12" name="Объект 11" descr="Изображение выглядит как текст, диаграмма, линия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478091AE-B538-4378-A7BD-C7439F30E0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540230" y="1417638"/>
            <a:ext cx="4038600" cy="319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43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47E725B1-64D4-4734-BBBB-85453E2FC5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5280" y="1417638"/>
            <a:ext cx="4038600" cy="228854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4E808-1152-47B4-9021-5827ABFA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программирование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1CC3BB0C-AA3D-417A-83C4-A3AD0AFE8A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2415842"/>
            <a:ext cx="4038600" cy="2894678"/>
          </a:xfrm>
        </p:spPr>
      </p:pic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36CEC403-3753-4B2F-AA62-EB212E766760}"/>
              </a:ext>
            </a:extLst>
          </p:cNvPr>
          <p:cNvSpPr/>
          <p:nvPr/>
        </p:nvSpPr>
        <p:spPr>
          <a:xfrm>
            <a:off x="4211960" y="1417638"/>
            <a:ext cx="2148753" cy="766544"/>
          </a:xfrm>
          <a:prstGeom prst="wedgeRectCallout">
            <a:avLst>
              <a:gd name="adj1" fmla="val -100001"/>
              <a:gd name="adj2" fmla="val -14841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Задачи запускаются при определении</a:t>
            </a:r>
          </a:p>
        </p:txBody>
      </p:sp>
    </p:spTree>
    <p:extLst>
      <p:ext uri="{BB962C8B-B14F-4D97-AF65-F5344CB8AC3E}">
        <p14:creationId xmlns:p14="http://schemas.microsoft.com/office/powerpoint/2010/main" val="2307864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22540-0B25-4267-8D51-673CF5E4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Возвращение результата</a:t>
            </a:r>
          </a:p>
        </p:txBody>
      </p:sp>
      <p:pic>
        <p:nvPicPr>
          <p:cNvPr id="4" name="Объект 8">
            <a:extLst>
              <a:ext uri="{FF2B5EF4-FFF2-40B4-BE49-F238E27FC236}">
                <a16:creationId xmlns:a16="http://schemas.microsoft.com/office/drawing/2014/main" id="{7362ED7D-12D7-4005-BF78-A542CC826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8376" y="2276872"/>
            <a:ext cx="7247248" cy="3619814"/>
          </a:xfrm>
        </p:spPr>
      </p:pic>
      <p:sp>
        <p:nvSpPr>
          <p:cNvPr id="3" name="Облачко с текстом: прямоугольное 2">
            <a:extLst>
              <a:ext uri="{FF2B5EF4-FFF2-40B4-BE49-F238E27FC236}">
                <a16:creationId xmlns:a16="http://schemas.microsoft.com/office/drawing/2014/main" id="{C963DF08-B887-439D-B12E-0EB2A3C841FD}"/>
              </a:ext>
            </a:extLst>
          </p:cNvPr>
          <p:cNvSpPr/>
          <p:nvPr/>
        </p:nvSpPr>
        <p:spPr>
          <a:xfrm>
            <a:off x="5220072" y="1201614"/>
            <a:ext cx="2304256" cy="787226"/>
          </a:xfrm>
          <a:prstGeom prst="wedgeRectCallout">
            <a:avLst>
              <a:gd name="adj1" fmla="val -162590"/>
              <a:gd name="adj2" fmla="val 7005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Нет </a:t>
            </a:r>
            <a:r>
              <a:rPr lang="en-US" dirty="0"/>
              <a:t>return, </a:t>
            </a:r>
            <a:r>
              <a:rPr lang="ru-RU" dirty="0"/>
              <a:t>т.к. возвращаем </a:t>
            </a:r>
            <a:r>
              <a:rPr lang="en-US" dirty="0"/>
              <a:t>Task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37309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4C7F3-BF01-4CEC-95AC-B5886703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Возвращение результата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77761F-7217-45D0-A94E-F985E249A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166018"/>
            <a:ext cx="6124840" cy="528731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0B0F75-69C9-4033-87A2-453625151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2708920"/>
            <a:ext cx="3474912" cy="209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719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79E4A-4C51-4B4A-9C0E-344B1875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Возвращение результата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2B8A36-7D6F-4D7D-9107-285D8D8CA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4565" y="1721776"/>
            <a:ext cx="7254869" cy="4282811"/>
          </a:xfrm>
        </p:spPr>
      </p:pic>
    </p:spTree>
    <p:extLst>
      <p:ext uri="{BB962C8B-B14F-4D97-AF65-F5344CB8AC3E}">
        <p14:creationId xmlns:p14="http://schemas.microsoft.com/office/powerpoint/2010/main" val="942956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FE8AE-92FA-452F-BC8F-014407D3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91E775-4E11-42CC-9D67-29EF91D9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Найти сумму элементов строк двумерного массива. Каждая строка массива обрабатывается в отдельном потоке.</a:t>
            </a:r>
          </a:p>
          <a:p>
            <a:r>
              <a:rPr lang="ru-RU" dirty="0"/>
              <a:t>1) использовать </a:t>
            </a:r>
            <a:r>
              <a:rPr lang="en-US" dirty="0"/>
              <a:t>Thread</a:t>
            </a:r>
          </a:p>
          <a:p>
            <a:r>
              <a:rPr lang="en-US" dirty="0"/>
              <a:t>2)</a:t>
            </a:r>
            <a:r>
              <a:rPr lang="ru-RU" dirty="0"/>
              <a:t> использовать </a:t>
            </a:r>
            <a:r>
              <a:rPr lang="en-US" dirty="0"/>
              <a:t>Task</a:t>
            </a:r>
          </a:p>
          <a:p>
            <a:r>
              <a:rPr lang="en-US" dirty="0"/>
              <a:t>3) </a:t>
            </a:r>
            <a:r>
              <a:rPr lang="ru-RU" dirty="0"/>
              <a:t>использовать параллельные процессы</a:t>
            </a:r>
          </a:p>
          <a:p>
            <a:r>
              <a:rPr lang="ru-RU" dirty="0"/>
              <a:t>Матрицу представим в виде </a:t>
            </a:r>
          </a:p>
          <a:p>
            <a:r>
              <a:rPr lang="en-US" dirty="0"/>
              <a:t>List&lt;List&lt;int&gt;&gt; collection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19388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C37B0-B3B4-4ACE-90ED-504DAE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Использовать </a:t>
            </a:r>
            <a:r>
              <a:rPr lang="en-US" dirty="0"/>
              <a:t>Thread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6268D0A-7464-48D9-A44B-7E3DB7F9A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844" y="1452151"/>
            <a:ext cx="8229600" cy="2737076"/>
          </a:xfrm>
          <a:prstGeom prst="rect">
            <a:avLst/>
          </a:prstGeom>
        </p:spPr>
      </p:pic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4D8E8305-6626-432D-B4C5-6F4C47D4AFCD}"/>
              </a:ext>
            </a:extLst>
          </p:cNvPr>
          <p:cNvSpPr/>
          <p:nvPr/>
        </p:nvSpPr>
        <p:spPr>
          <a:xfrm>
            <a:off x="5508104" y="2564904"/>
            <a:ext cx="2952328" cy="1728192"/>
          </a:xfrm>
          <a:prstGeom prst="wedgeRectCallout">
            <a:avLst>
              <a:gd name="adj1" fmla="val -38228"/>
              <a:gd name="adj2" fmla="val -926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Вычисление суммы строки с номером </a:t>
            </a:r>
            <a:r>
              <a:rPr lang="en-US" dirty="0"/>
              <a:t>number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63387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40DF851-A6B7-4FF4-9EF3-2E069E2BF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666" y="241875"/>
            <a:ext cx="8101058" cy="6374249"/>
          </a:xfrm>
        </p:spPr>
      </p:pic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4D8E8305-6626-432D-B4C5-6F4C47D4AFCD}"/>
              </a:ext>
            </a:extLst>
          </p:cNvPr>
          <p:cNvSpPr/>
          <p:nvPr/>
        </p:nvSpPr>
        <p:spPr>
          <a:xfrm>
            <a:off x="5794649" y="2348880"/>
            <a:ext cx="3168352" cy="1440160"/>
          </a:xfrm>
          <a:prstGeom prst="wedgeRectCallout">
            <a:avLst>
              <a:gd name="adj1" fmla="val -163696"/>
              <a:gd name="adj2" fmla="val -11127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Запомнить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в отдельной переменной, т.к. 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ru-RU" dirty="0"/>
              <a:t>может измениться после запуска функции, но до ее фактического выполнения</a:t>
            </a:r>
          </a:p>
        </p:txBody>
      </p:sp>
      <p:sp>
        <p:nvSpPr>
          <p:cNvPr id="15" name="Облачко с текстом: прямоугольное 14">
            <a:extLst>
              <a:ext uri="{FF2B5EF4-FFF2-40B4-BE49-F238E27FC236}">
                <a16:creationId xmlns:a16="http://schemas.microsoft.com/office/drawing/2014/main" id="{C4D0D2ED-0192-4C29-B51E-1AA599D9F173}"/>
              </a:ext>
            </a:extLst>
          </p:cNvPr>
          <p:cNvSpPr/>
          <p:nvPr/>
        </p:nvSpPr>
        <p:spPr>
          <a:xfrm>
            <a:off x="5724128" y="4869160"/>
            <a:ext cx="2952328" cy="792088"/>
          </a:xfrm>
          <a:prstGeom prst="wedgeRectCallout">
            <a:avLst>
              <a:gd name="adj1" fmla="val -140419"/>
              <a:gd name="adj2" fmla="val -4807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Дискард</a:t>
            </a:r>
            <a:r>
              <a:rPr lang="ru-RU" dirty="0"/>
              <a:t>-символ, вместо результата вычислений</a:t>
            </a:r>
          </a:p>
        </p:txBody>
      </p:sp>
    </p:spTree>
    <p:extLst>
      <p:ext uri="{BB962C8B-B14F-4D97-AF65-F5344CB8AC3E}">
        <p14:creationId xmlns:p14="http://schemas.microsoft.com/office/powerpoint/2010/main" val="36843313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C37B0-B3B4-4ACE-90ED-504DAE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Использовать </a:t>
            </a:r>
            <a:r>
              <a:rPr lang="en-US" dirty="0"/>
              <a:t>Task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6268D0A-7464-48D9-A44B-7E3DB7F9A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844" y="1452151"/>
            <a:ext cx="8229600" cy="2737076"/>
          </a:xfrm>
          <a:prstGeom prst="rect">
            <a:avLst/>
          </a:prstGeom>
        </p:spPr>
      </p:pic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4D8E8305-6626-432D-B4C5-6F4C47D4AFCD}"/>
              </a:ext>
            </a:extLst>
          </p:cNvPr>
          <p:cNvSpPr/>
          <p:nvPr/>
        </p:nvSpPr>
        <p:spPr>
          <a:xfrm>
            <a:off x="5508104" y="2564904"/>
            <a:ext cx="2952328" cy="1728192"/>
          </a:xfrm>
          <a:prstGeom prst="wedgeRectCallout">
            <a:avLst>
              <a:gd name="adj1" fmla="val -38228"/>
              <a:gd name="adj2" fmla="val -926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Вычисление суммы строки с номером </a:t>
            </a:r>
            <a:r>
              <a:rPr lang="en-US" dirty="0"/>
              <a:t>number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0822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0F55131-04AF-4B7F-ACBF-D54D865C5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2783" y="1707264"/>
            <a:ext cx="8229600" cy="2873864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AE865AA-F383-4371-A2C2-C6273F6F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dirty="0"/>
              <a:t>Использовать </a:t>
            </a:r>
            <a:r>
              <a:rPr lang="en-US" dirty="0"/>
              <a:t>Task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00B640-56D4-4CA0-852C-66C836E47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83" y="4581128"/>
            <a:ext cx="8478433" cy="2162477"/>
          </a:xfrm>
          <a:prstGeom prst="rect">
            <a:avLst/>
          </a:prstGeom>
        </p:spPr>
      </p:pic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4D8E8305-6626-432D-B4C5-6F4C47D4AFCD}"/>
              </a:ext>
            </a:extLst>
          </p:cNvPr>
          <p:cNvSpPr/>
          <p:nvPr/>
        </p:nvSpPr>
        <p:spPr>
          <a:xfrm>
            <a:off x="5665034" y="4291502"/>
            <a:ext cx="3168352" cy="1512168"/>
          </a:xfrm>
          <a:prstGeom prst="wedgeRectCallout">
            <a:avLst>
              <a:gd name="adj1" fmla="val -126015"/>
              <a:gd name="adj2" fmla="val -15181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Запомнить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в отдельной переменной, т.к. 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ru-RU" dirty="0"/>
              <a:t>может измениться после запуска функции, но до ее фактического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35976584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FFD7C-E34B-415E-84BC-F45EB2CC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Использовать параллельные процессы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0A2C12C-45BC-49D4-8345-BCBCC8FA5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556792"/>
            <a:ext cx="4677428" cy="2800741"/>
          </a:xfrm>
        </p:spPr>
      </p:pic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6FD955F5-1E09-41BC-BEDA-ED6939A63BA2}"/>
              </a:ext>
            </a:extLst>
          </p:cNvPr>
          <p:cNvSpPr/>
          <p:nvPr/>
        </p:nvSpPr>
        <p:spPr>
          <a:xfrm>
            <a:off x="5508104" y="2564904"/>
            <a:ext cx="2952328" cy="1728192"/>
          </a:xfrm>
          <a:prstGeom prst="wedgeRectCallout">
            <a:avLst>
              <a:gd name="adj1" fmla="val -38228"/>
              <a:gd name="adj2" fmla="val -926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Вычисление суммы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338817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>
            <a:extLst>
              <a:ext uri="{FF2B5EF4-FFF2-40B4-BE49-F238E27FC236}">
                <a16:creationId xmlns:a16="http://schemas.microsoft.com/office/drawing/2014/main" id="{A6C825C6-EFE2-4FA1-83B5-AADC74E40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88640"/>
            <a:ext cx="7781316" cy="4525963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0BAD142-DEE2-431E-92A1-04F756D6C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9160"/>
            <a:ext cx="9144000" cy="163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521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5463</TotalTime>
  <Words>5740</Words>
  <Application>Microsoft Office PowerPoint</Application>
  <PresentationFormat>Экран (4:3)</PresentationFormat>
  <Paragraphs>559</Paragraphs>
  <Slides>79</Slides>
  <Notes>52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90" baseType="lpstr">
      <vt:lpstr>-apple-system</vt:lpstr>
      <vt:lpstr>Arial</vt:lpstr>
      <vt:lpstr>Calibri</vt:lpstr>
      <vt:lpstr>Cascadia Mono</vt:lpstr>
      <vt:lpstr>Consolas</vt:lpstr>
      <vt:lpstr>OpenSansRegular</vt:lpstr>
      <vt:lpstr>quote-cjk-patch</vt:lpstr>
      <vt:lpstr>Roboto</vt:lpstr>
      <vt:lpstr>SB Sans Text</vt:lpstr>
      <vt:lpstr>verdana</vt:lpstr>
      <vt:lpstr>Тема Office</vt:lpstr>
      <vt:lpstr>Многопоточное программирование</vt:lpstr>
      <vt:lpstr>Многопоточная программа</vt:lpstr>
      <vt:lpstr>Процесс</vt:lpstr>
      <vt:lpstr>Потоки и процессы</vt:lpstr>
      <vt:lpstr>Выполнение однопоточной программы</vt:lpstr>
      <vt:lpstr>Конкуренция и параллелизм</vt:lpstr>
      <vt:lpstr>Класс Thread</vt:lpstr>
      <vt:lpstr>Методы и свойства класса Thread</vt:lpstr>
      <vt:lpstr>Методы и свойства класса Thread</vt:lpstr>
      <vt:lpstr>Методы и свойства класса Thread</vt:lpstr>
      <vt:lpstr>Состояние потока</vt:lpstr>
      <vt:lpstr>Создание главного потока и получение информации</vt:lpstr>
      <vt:lpstr>Создание второго потока в функции main()</vt:lpstr>
      <vt:lpstr>Создание второго потока в функции main()</vt:lpstr>
      <vt:lpstr>Создание второго потока в функции main()</vt:lpstr>
      <vt:lpstr>Создание второго потока в функции main()</vt:lpstr>
      <vt:lpstr>Создание второго потока в функции main()</vt:lpstr>
      <vt:lpstr>Создание потока с помощью делегата</vt:lpstr>
      <vt:lpstr>Алгоритм создания потоков</vt:lpstr>
      <vt:lpstr>Проблемы многопоточности</vt:lpstr>
      <vt:lpstr>Синхронизация</vt:lpstr>
      <vt:lpstr>Синхронизация</vt:lpstr>
      <vt:lpstr>Синхронизация</vt:lpstr>
      <vt:lpstr>Пример гонки</vt:lpstr>
      <vt:lpstr>Пример гонки</vt:lpstr>
      <vt:lpstr>Пример гонки</vt:lpstr>
      <vt:lpstr>Синхронизация</vt:lpstr>
      <vt:lpstr>Синхронизация</vt:lpstr>
      <vt:lpstr>Синхронизация</vt:lpstr>
      <vt:lpstr>Взаимоблокировки </vt:lpstr>
      <vt:lpstr>Взаимоблокировка</vt:lpstr>
      <vt:lpstr>Взаимоблокировка</vt:lpstr>
      <vt:lpstr>Как избежать взаимоблокировки</vt:lpstr>
      <vt:lpstr>Пример блокировки</vt:lpstr>
      <vt:lpstr>Блокировка с помощью lock</vt:lpstr>
      <vt:lpstr>Класс Monitor</vt:lpstr>
      <vt:lpstr>Класс Monitor</vt:lpstr>
      <vt:lpstr>Класс Monitor</vt:lpstr>
      <vt:lpstr>Класс Mutex</vt:lpstr>
      <vt:lpstr>Блокировка с помощью класса Mutex</vt:lpstr>
      <vt:lpstr>Видимость изменений</vt:lpstr>
      <vt:lpstr>Ключевое слово volatile в C#</vt:lpstr>
      <vt:lpstr>Использование volatile</vt:lpstr>
      <vt:lpstr>Interlocked</vt:lpstr>
      <vt:lpstr>Пример</vt:lpstr>
      <vt:lpstr>Пример</vt:lpstr>
      <vt:lpstr>Пример</vt:lpstr>
      <vt:lpstr>Класс Semaphore</vt:lpstr>
      <vt:lpstr>Класс Semaphore</vt:lpstr>
      <vt:lpstr>Семафор</vt:lpstr>
      <vt:lpstr>Синхронизация с помощью семафора</vt:lpstr>
      <vt:lpstr>Синхронизация с помощью семафора</vt:lpstr>
      <vt:lpstr>Простейшие методы блокировки</vt:lpstr>
      <vt:lpstr>Пул потоков</vt:lpstr>
      <vt:lpstr>Пул потоков</vt:lpstr>
      <vt:lpstr>Класс Task</vt:lpstr>
      <vt:lpstr>Способы создания объектов Task</vt:lpstr>
      <vt:lpstr>Основные свойства класса Task</vt:lpstr>
      <vt:lpstr>Пример</vt:lpstr>
      <vt:lpstr>Пример </vt:lpstr>
      <vt:lpstr>Возвращение результатов из задач</vt:lpstr>
      <vt:lpstr>Параллельное выполнение задач</vt:lpstr>
      <vt:lpstr>Параллельное выполнение задач</vt:lpstr>
      <vt:lpstr>Параллельное выполнение задач</vt:lpstr>
      <vt:lpstr>Асинхронное программирование</vt:lpstr>
      <vt:lpstr>Асинхронное программирование</vt:lpstr>
      <vt:lpstr>Асинхронное программирование</vt:lpstr>
      <vt:lpstr>Асинхронное программирование</vt:lpstr>
      <vt:lpstr>Асинхронное программирование</vt:lpstr>
      <vt:lpstr>Возвращение результата</vt:lpstr>
      <vt:lpstr>Возвращение результата</vt:lpstr>
      <vt:lpstr>Возвращение результата</vt:lpstr>
      <vt:lpstr>Пример</vt:lpstr>
      <vt:lpstr>Использовать Thread</vt:lpstr>
      <vt:lpstr>Презентация PowerPoint</vt:lpstr>
      <vt:lpstr>Использовать Task</vt:lpstr>
      <vt:lpstr>Использовать Task</vt:lpstr>
      <vt:lpstr>Использовать параллельные процессы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Многопоточное программирование</dc:title>
  <dc:creator>VikentyevaOL</dc:creator>
  <cp:lastModifiedBy>Olga Vikenteva</cp:lastModifiedBy>
  <cp:revision>23</cp:revision>
  <dcterms:created xsi:type="dcterms:W3CDTF">2015-10-13T12:39:38Z</dcterms:created>
  <dcterms:modified xsi:type="dcterms:W3CDTF">2026-03-20T19:44:23Z</dcterms:modified>
</cp:coreProperties>
</file>